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9"/>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arykate" charset="1" panose="00000000000000000000"/>
      <p:regular r:id="rId15"/>
    </p:embeddedFont>
    <p:embeddedFont>
      <p:font typeface="Nunito" charset="1" panose="00000000000000000000"/>
      <p:regular r:id="rId16"/>
    </p:embeddedFont>
    <p:embeddedFont>
      <p:font typeface="Arial Bold" charset="1" panose="020B0704020202020204"/>
      <p:regular r:id="rId17"/>
    </p:embeddedFont>
    <p:embeddedFont>
      <p:font typeface="Arial" charset="1" panose="020B0604020202020204"/>
      <p:regular r:id="rId18"/>
    </p:embeddedFont>
    <p:embeddedFont>
      <p:font typeface="Arial Italics" charset="1" panose="020B0604020202090204"/>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notesMasters/notesMaster1.xml" Type="http://schemas.openxmlformats.org/officeDocument/2006/relationships/notesMaster"/><Relationship Id="rId2" Target="presProps.xml" Type="http://schemas.openxmlformats.org/officeDocument/2006/relationships/presProps"/><Relationship Id="rId20" Target="theme/theme2.xml" Type="http://schemas.openxmlformats.org/officeDocument/2006/relationships/theme"/><Relationship Id="rId21" Target="notesSlides/notesSlide1.xml" Type="http://schemas.openxmlformats.org/officeDocument/2006/relationships/notesSlide"/><Relationship Id="rId22" Target="fonts/font22.fntdata" Type="http://schemas.openxmlformats.org/officeDocument/2006/relationships/font"/><Relationship Id="rId23" Target="notesSlides/notesSlide2.xml" Type="http://schemas.openxmlformats.org/officeDocument/2006/relationships/notesSlide"/><Relationship Id="rId24" Target="notesSlides/notesSlide3.xml" Type="http://schemas.openxmlformats.org/officeDocument/2006/relationships/notesSlide"/><Relationship Id="rId25" Target="notesSlides/notesSlide4.xml" Type="http://schemas.openxmlformats.org/officeDocument/2006/relationships/notesSlide"/><Relationship Id="rId26" Target="notesSlides/notesSlide5.xml" Type="http://schemas.openxmlformats.org/officeDocument/2006/relationships/notesSlide"/><Relationship Id="rId27" Target="notesSlides/notesSlide6.xml" Type="http://schemas.openxmlformats.org/officeDocument/2006/relationships/notesSlide"/><Relationship Id="rId28" Target="notesSlides/notesSlide7.xml" Type="http://schemas.openxmlformats.org/officeDocument/2006/relationships/notesSlide"/><Relationship Id="rId29" Target="notesSlides/notesSlide8.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Core problem: no single autonomous system takes a merchant from lead to a growing, credit-backed business. Everything today is manual, in English and after the fact. The irony is that UPI already generates the data needed to help them, and nobody acts on it for the merchant.</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Walk the journey left to right. Stress three ideas: every agent follows the same six-step loop; they share one memory, so what Pulse learns about customers helps Grower, and Grower's cash-gap signal triggers Capital; and humans only step in when a guardrail fires. The GitHub link has the full running prototype.</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live demo in one slide. One voice note triggers six real outcomes across four agents and all three partner technologies. The only human action is the ops approval, because the credit amount crossed our ₹25k guardrail. We can run this live for the judges.</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This is the architecture as implemented. Every WhatsApp message or voice note comes in through n8n. The router turns voice into text and intents with Sarvam, and the Commander plans the day. The three agent groups share one intelligence layer: Cognee for context memory plus an exact SQLite ledger for money and stock, an LLM gateway that falls back from Sarvam to Gemini, Groq, OpenRouter, OpenAI and finally offline rules, Sarvam voice, and n8n for every action. Humans come in only through WhatsApp approvals.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table is the whole pitch: chatbots answer, CRMs record, field teams do the work by hand. CommerceOS does the work, across the full lifecycle, in the merchant's language, with one memory, and it degrades gracefully instead of breaking.</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Impact comes in three layers. Merchants get money back (udhaar), avoid lost sales (stock-outs) and get timely credit. Their customers get service. Paytm gets lower acquisition and operations cost and a bigger, healthier merchant base. The numbers are design targets we would validate in a 1,000-merchant pilot.</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don't need a new distribution channel. CommerceOS rides on Paytm's existing 1.57 crore subscription merchants. Three revenue streams plus a cost-saving story. The chart is an illustrative scenario at modest adoption, not a forecast, and even that is about ₹500 crore a year. Go-to-market: a 1,000-merchant pilot in Mumbai, then metros, then every Soundbox merchant.</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Close on the vision, then offer the live demo: Run live demo in the dashboard, or a real voice note on WhatsApp.</a:t>
            </a:r>
          </a:p>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png" Type="http://schemas.openxmlformats.org/officeDocument/2006/relationships/image"/><Relationship Id="rId16" Target="../media/image15.jpe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5.jpeg" Type="http://schemas.openxmlformats.org/officeDocument/2006/relationships/image"/><Relationship Id="rId4" Target="../media/image16.png" Type="http://schemas.openxmlformats.org/officeDocument/2006/relationships/image"/><Relationship Id="rId5" Target="../media/image17.pn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4.png" Type="http://schemas.openxmlformats.org/officeDocument/2006/relationships/image"/><Relationship Id="rId11" Target="../media/image25.png" Type="http://schemas.openxmlformats.org/officeDocument/2006/relationships/image"/><Relationship Id="rId12" Target="../media/image26.png" Type="http://schemas.openxmlformats.org/officeDocument/2006/relationships/image"/><Relationship Id="rId13" Target="../media/image27.png" Type="http://schemas.openxmlformats.org/officeDocument/2006/relationships/image"/><Relationship Id="rId14" Target="../media/image28.png" Type="http://schemas.openxmlformats.org/officeDocument/2006/relationships/image"/><Relationship Id="rId15" Target="../media/image29.png" Type="http://schemas.openxmlformats.org/officeDocument/2006/relationships/image"/><Relationship Id="rId16" Target="../media/image30.png" Type="http://schemas.openxmlformats.org/officeDocument/2006/relationships/image"/><Relationship Id="rId17" Target="../media/image31.png" Type="http://schemas.openxmlformats.org/officeDocument/2006/relationships/image"/><Relationship Id="rId18" Target="https://github.com/AryanPandey17/paytm-ai-hackathon" TargetMode="External" Type="http://schemas.openxmlformats.org/officeDocument/2006/relationships/hyperlink"/><Relationship Id="rId19" Target="../media/image14.png" Type="http://schemas.openxmlformats.org/officeDocument/2006/relationships/image"/><Relationship Id="rId2" Target="../notesSlides/notesSlide2.xml" Type="http://schemas.openxmlformats.org/officeDocument/2006/relationships/notesSlide"/><Relationship Id="rId3" Target="../media/image15.jpeg" Type="http://schemas.openxmlformats.org/officeDocument/2006/relationships/image"/><Relationship Id="rId4" Target="../media/image20.png" Type="http://schemas.openxmlformats.org/officeDocument/2006/relationships/image"/><Relationship Id="rId5" Target="../media/image21.png" Type="http://schemas.openxmlformats.org/officeDocument/2006/relationships/image"/><Relationship Id="rId6" Target="../media/image16.png" Type="http://schemas.openxmlformats.org/officeDocument/2006/relationships/image"/><Relationship Id="rId7" Target="../media/image17.png" Type="http://schemas.openxmlformats.org/officeDocument/2006/relationships/image"/><Relationship Id="rId8" Target="../media/image22.png" Type="http://schemas.openxmlformats.org/officeDocument/2006/relationships/image"/><Relationship Id="rId9" Target="../media/image2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15.jpeg" Type="http://schemas.openxmlformats.org/officeDocument/2006/relationships/image"/><Relationship Id="rId4" Target="../media/image32.png" Type="http://schemas.openxmlformats.org/officeDocument/2006/relationships/image"/><Relationship Id="rId5" Target="https://github.com/AryanPandey17/paytm-ai-hackathon" TargetMode="External" Type="http://schemas.openxmlformats.org/officeDocument/2006/relationships/hyperlink"/><Relationship Id="rId6" Target="../media/image14.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5.jpeg" Type="http://schemas.openxmlformats.org/officeDocument/2006/relationships/image"/><Relationship Id="rId4" Target="../media/image33.png" Type="http://schemas.openxmlformats.org/officeDocument/2006/relationships/image"/><Relationship Id="rId5"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5.jpeg" Type="http://schemas.openxmlformats.org/officeDocument/2006/relationships/image"/><Relationship Id="rId4" Target="../media/image28.png" Type="http://schemas.openxmlformats.org/officeDocument/2006/relationships/image"/><Relationship Id="rId5" Target="../media/image27.png" Type="http://schemas.openxmlformats.org/officeDocument/2006/relationships/image"/><Relationship Id="rId6" Target="../media/image34.png" Type="http://schemas.openxmlformats.org/officeDocument/2006/relationships/image"/><Relationship Id="rId7" Target="../media/image1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5.jpeg" Type="http://schemas.openxmlformats.org/officeDocument/2006/relationships/image"/><Relationship Id="rId4" Target="../media/image35.png" Type="http://schemas.openxmlformats.org/officeDocument/2006/relationships/image"/><Relationship Id="rId5" Target="../media/image36.png" Type="http://schemas.openxmlformats.org/officeDocument/2006/relationships/image"/><Relationship Id="rId6" Target="../media/image37.png" Type="http://schemas.openxmlformats.org/officeDocument/2006/relationships/image"/><Relationship Id="rId7"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5.jpeg" Type="http://schemas.openxmlformats.org/officeDocument/2006/relationships/image"/><Relationship Id="rId4" Target="../media/image38.png" Type="http://schemas.openxmlformats.org/officeDocument/2006/relationships/image"/><Relationship Id="rId5" Target="../media/image23.png" Type="http://schemas.openxmlformats.org/officeDocument/2006/relationships/image"/><Relationship Id="rId6" Target="../media/image39.png" Type="http://schemas.openxmlformats.org/officeDocument/2006/relationships/image"/><Relationship Id="rId7" Target="../media/image40.png" Type="http://schemas.openxmlformats.org/officeDocument/2006/relationships/image"/><Relationship Id="rId8" Target="../media/image41.png" Type="http://schemas.openxmlformats.org/officeDocument/2006/relationships/image"/><Relationship Id="rId9" Target="../media/image14.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4.png" Type="http://schemas.openxmlformats.org/officeDocument/2006/relationships/image"/><Relationship Id="rId4" Target="../media/image15.jpeg" Type="http://schemas.openxmlformats.org/officeDocument/2006/relationships/image"/><Relationship Id="rId5" Target="../media/image42.png" Type="http://schemas.openxmlformats.org/officeDocument/2006/relationships/image"/><Relationship Id="rId6" Target="https://github.com/AryanPandey17/paytm-ai-hackathon"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sp>
        <p:nvSpPr>
          <p:cNvPr name="Freeform 2" id="2"/>
          <p:cNvSpPr/>
          <p:nvPr/>
        </p:nvSpPr>
        <p:spPr>
          <a:xfrm flipH="false" flipV="false" rot="1040516">
            <a:off x="-2644451" y="5108850"/>
            <a:ext cx="3463884" cy="4309654"/>
          </a:xfrm>
          <a:custGeom>
            <a:avLst/>
            <a:gdLst/>
            <a:ahLst/>
            <a:cxnLst/>
            <a:rect r="r" b="b" t="t" l="l"/>
            <a:pathLst>
              <a:path h="4309654" w="3463884">
                <a:moveTo>
                  <a:pt x="0" y="0"/>
                </a:moveTo>
                <a:lnTo>
                  <a:pt x="3463884" y="0"/>
                </a:lnTo>
                <a:lnTo>
                  <a:pt x="3463884" y="4309653"/>
                </a:lnTo>
                <a:lnTo>
                  <a:pt x="0" y="4309653"/>
                </a:lnTo>
                <a:lnTo>
                  <a:pt x="0" y="0"/>
                </a:lnTo>
                <a:close/>
              </a:path>
            </a:pathLst>
          </a:custGeom>
          <a:blipFill>
            <a:blip r:embed="rId2"/>
            <a:stretch>
              <a:fillRect l="0" t="0" r="0" b="0"/>
            </a:stretch>
          </a:blipFill>
        </p:spPr>
      </p:sp>
      <p:grpSp>
        <p:nvGrpSpPr>
          <p:cNvPr name="Group 3" id="3"/>
          <p:cNvGrpSpPr/>
          <p:nvPr/>
        </p:nvGrpSpPr>
        <p:grpSpPr>
          <a:xfrm rot="0">
            <a:off x="-224622" y="0"/>
            <a:ext cx="20504819" cy="10287000"/>
            <a:chOff x="0" y="0"/>
            <a:chExt cx="27339759" cy="13716000"/>
          </a:xfrm>
        </p:grpSpPr>
        <p:sp>
          <p:nvSpPr>
            <p:cNvPr name="Freeform 4" id="4"/>
            <p:cNvSpPr/>
            <p:nvPr/>
          </p:nvSpPr>
          <p:spPr>
            <a:xfrm flipH="false" flipV="false" rot="0">
              <a:off x="0" y="0"/>
              <a:ext cx="13716000" cy="13716000"/>
            </a:xfrm>
            <a:custGeom>
              <a:avLst/>
              <a:gdLst/>
              <a:ahLst/>
              <a:cxnLst/>
              <a:rect r="r" b="b" t="t" l="l"/>
              <a:pathLst>
                <a:path h="13716000" w="13716000">
                  <a:moveTo>
                    <a:pt x="0" y="0"/>
                  </a:moveTo>
                  <a:lnTo>
                    <a:pt x="13716000" y="0"/>
                  </a:lnTo>
                  <a:lnTo>
                    <a:pt x="13716000" y="13716000"/>
                  </a:lnTo>
                  <a:lnTo>
                    <a:pt x="0" y="13716000"/>
                  </a:lnTo>
                  <a:lnTo>
                    <a:pt x="0" y="0"/>
                  </a:lnTo>
                  <a:close/>
                </a:path>
              </a:pathLst>
            </a:custGeom>
            <a:blipFill>
              <a:blip r:embed="rId3">
                <a:alphaModFix amt="9999"/>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0">
              <a:off x="13690600" y="36200"/>
              <a:ext cx="13649159" cy="13679800"/>
            </a:xfrm>
            <a:custGeom>
              <a:avLst/>
              <a:gdLst/>
              <a:ahLst/>
              <a:cxnLst/>
              <a:rect r="r" b="b" t="t" l="l"/>
              <a:pathLst>
                <a:path h="13679800" w="13649159">
                  <a:moveTo>
                    <a:pt x="0" y="0"/>
                  </a:moveTo>
                  <a:lnTo>
                    <a:pt x="13649159" y="0"/>
                  </a:lnTo>
                  <a:lnTo>
                    <a:pt x="13649159" y="13679800"/>
                  </a:lnTo>
                  <a:lnTo>
                    <a:pt x="0" y="13679800"/>
                  </a:lnTo>
                  <a:lnTo>
                    <a:pt x="0" y="0"/>
                  </a:lnTo>
                  <a:close/>
                </a:path>
              </a:pathLst>
            </a:custGeom>
            <a:blipFill>
              <a:blip r:embed="rId3">
                <a:alphaModFix amt="9999"/>
                <a:extLst>
                  <a:ext uri="{96DAC541-7B7A-43D3-8B79-37D633B846F1}">
                    <asvg:svgBlip xmlns:asvg="http://schemas.microsoft.com/office/drawing/2016/SVG/main" r:embed="rId4"/>
                  </a:ext>
                </a:extLst>
              </a:blip>
              <a:stretch>
                <a:fillRect l="-489" t="-264" r="0" b="0"/>
              </a:stretch>
            </a:blipFill>
          </p:spPr>
        </p:sp>
      </p:grpSp>
      <p:sp>
        <p:nvSpPr>
          <p:cNvPr name="Freeform 6" id="6"/>
          <p:cNvSpPr/>
          <p:nvPr/>
        </p:nvSpPr>
        <p:spPr>
          <a:xfrm flipH="false" flipV="false" rot="-1130149">
            <a:off x="11316716" y="4248928"/>
            <a:ext cx="3313002" cy="3110080"/>
          </a:xfrm>
          <a:custGeom>
            <a:avLst/>
            <a:gdLst/>
            <a:ahLst/>
            <a:cxnLst/>
            <a:rect r="r" b="b" t="t" l="l"/>
            <a:pathLst>
              <a:path h="3110080" w="3313002">
                <a:moveTo>
                  <a:pt x="0" y="0"/>
                </a:moveTo>
                <a:lnTo>
                  <a:pt x="3313001" y="0"/>
                </a:lnTo>
                <a:lnTo>
                  <a:pt x="3313001" y="3110080"/>
                </a:lnTo>
                <a:lnTo>
                  <a:pt x="0" y="3110080"/>
                </a:lnTo>
                <a:lnTo>
                  <a:pt x="0" y="0"/>
                </a:lnTo>
                <a:close/>
              </a:path>
            </a:pathLst>
          </a:custGeom>
          <a:blipFill>
            <a:blip r:embed="rId5"/>
            <a:stretch>
              <a:fillRect l="0" t="0" r="0" b="0"/>
            </a:stretch>
          </a:blipFill>
        </p:spPr>
      </p:sp>
      <p:sp>
        <p:nvSpPr>
          <p:cNvPr name="Freeform 7" id="7"/>
          <p:cNvSpPr/>
          <p:nvPr/>
        </p:nvSpPr>
        <p:spPr>
          <a:xfrm flipH="false" flipV="false" rot="-852818">
            <a:off x="3604586" y="7500474"/>
            <a:ext cx="2924388" cy="2931717"/>
          </a:xfrm>
          <a:custGeom>
            <a:avLst/>
            <a:gdLst/>
            <a:ahLst/>
            <a:cxnLst/>
            <a:rect r="r" b="b" t="t" l="l"/>
            <a:pathLst>
              <a:path h="2931717" w="2924388">
                <a:moveTo>
                  <a:pt x="0" y="0"/>
                </a:moveTo>
                <a:lnTo>
                  <a:pt x="2924388" y="0"/>
                </a:lnTo>
                <a:lnTo>
                  <a:pt x="2924388" y="2931717"/>
                </a:lnTo>
                <a:lnTo>
                  <a:pt x="0" y="2931717"/>
                </a:lnTo>
                <a:lnTo>
                  <a:pt x="0" y="0"/>
                </a:lnTo>
                <a:close/>
              </a:path>
            </a:pathLst>
          </a:custGeom>
          <a:blipFill>
            <a:blip r:embed="rId6"/>
            <a:stretch>
              <a:fillRect l="0" t="0" r="0" b="0"/>
            </a:stretch>
          </a:blipFill>
        </p:spPr>
      </p:sp>
      <p:sp>
        <p:nvSpPr>
          <p:cNvPr name="Freeform 8" id="8"/>
          <p:cNvSpPr/>
          <p:nvPr/>
        </p:nvSpPr>
        <p:spPr>
          <a:xfrm flipH="false" flipV="false" rot="-1131107">
            <a:off x="9724014" y="6818788"/>
            <a:ext cx="4246769" cy="4295088"/>
          </a:xfrm>
          <a:custGeom>
            <a:avLst/>
            <a:gdLst/>
            <a:ahLst/>
            <a:cxnLst/>
            <a:rect r="r" b="b" t="t" l="l"/>
            <a:pathLst>
              <a:path h="4295088" w="4246769">
                <a:moveTo>
                  <a:pt x="0" y="0"/>
                </a:moveTo>
                <a:lnTo>
                  <a:pt x="4246768" y="0"/>
                </a:lnTo>
                <a:lnTo>
                  <a:pt x="4246768" y="4295089"/>
                </a:lnTo>
                <a:lnTo>
                  <a:pt x="0" y="4295089"/>
                </a:lnTo>
                <a:lnTo>
                  <a:pt x="0" y="0"/>
                </a:lnTo>
                <a:close/>
              </a:path>
            </a:pathLst>
          </a:custGeom>
          <a:blipFill>
            <a:blip r:embed="rId7"/>
            <a:stretch>
              <a:fillRect l="0" t="0" r="0" b="0"/>
            </a:stretch>
          </a:blipFill>
        </p:spPr>
      </p:sp>
      <p:sp>
        <p:nvSpPr>
          <p:cNvPr name="Freeform 9" id="9"/>
          <p:cNvSpPr/>
          <p:nvPr/>
        </p:nvSpPr>
        <p:spPr>
          <a:xfrm flipH="false" flipV="false" rot="0">
            <a:off x="-347453" y="7526320"/>
            <a:ext cx="4264716" cy="3704972"/>
          </a:xfrm>
          <a:custGeom>
            <a:avLst/>
            <a:gdLst/>
            <a:ahLst/>
            <a:cxnLst/>
            <a:rect r="r" b="b" t="t" l="l"/>
            <a:pathLst>
              <a:path h="3704972" w="4264716">
                <a:moveTo>
                  <a:pt x="0" y="0"/>
                </a:moveTo>
                <a:lnTo>
                  <a:pt x="4264716" y="0"/>
                </a:lnTo>
                <a:lnTo>
                  <a:pt x="4264716" y="3704973"/>
                </a:lnTo>
                <a:lnTo>
                  <a:pt x="0" y="3704973"/>
                </a:lnTo>
                <a:lnTo>
                  <a:pt x="0" y="0"/>
                </a:lnTo>
                <a:close/>
              </a:path>
            </a:pathLst>
          </a:custGeom>
          <a:blipFill>
            <a:blip r:embed="rId8"/>
            <a:stretch>
              <a:fillRect l="0" t="0" r="0" b="0"/>
            </a:stretch>
          </a:blipFill>
        </p:spPr>
      </p:sp>
      <p:sp>
        <p:nvSpPr>
          <p:cNvPr name="Freeform 10" id="10"/>
          <p:cNvSpPr/>
          <p:nvPr/>
        </p:nvSpPr>
        <p:spPr>
          <a:xfrm flipH="false" flipV="false" rot="-2291519">
            <a:off x="15097888" y="1869115"/>
            <a:ext cx="3463884" cy="4309654"/>
          </a:xfrm>
          <a:custGeom>
            <a:avLst/>
            <a:gdLst/>
            <a:ahLst/>
            <a:cxnLst/>
            <a:rect r="r" b="b" t="t" l="l"/>
            <a:pathLst>
              <a:path h="4309654" w="3463884">
                <a:moveTo>
                  <a:pt x="0" y="0"/>
                </a:moveTo>
                <a:lnTo>
                  <a:pt x="3463884" y="0"/>
                </a:lnTo>
                <a:lnTo>
                  <a:pt x="3463884" y="4309654"/>
                </a:lnTo>
                <a:lnTo>
                  <a:pt x="0" y="4309654"/>
                </a:lnTo>
                <a:lnTo>
                  <a:pt x="0" y="0"/>
                </a:lnTo>
                <a:close/>
              </a:path>
            </a:pathLst>
          </a:custGeom>
          <a:blipFill>
            <a:blip r:embed="rId2"/>
            <a:stretch>
              <a:fillRect l="0" t="0" r="0" b="0"/>
            </a:stretch>
          </a:blipFill>
        </p:spPr>
      </p:sp>
      <p:sp>
        <p:nvSpPr>
          <p:cNvPr name="Freeform 11" id="11"/>
          <p:cNvSpPr/>
          <p:nvPr/>
        </p:nvSpPr>
        <p:spPr>
          <a:xfrm flipH="false" flipV="false" rot="-834156">
            <a:off x="13906349" y="6038638"/>
            <a:ext cx="4820690" cy="4682096"/>
          </a:xfrm>
          <a:custGeom>
            <a:avLst/>
            <a:gdLst/>
            <a:ahLst/>
            <a:cxnLst/>
            <a:rect r="r" b="b" t="t" l="l"/>
            <a:pathLst>
              <a:path h="4682096" w="4820690">
                <a:moveTo>
                  <a:pt x="0" y="0"/>
                </a:moveTo>
                <a:lnTo>
                  <a:pt x="4820691" y="0"/>
                </a:lnTo>
                <a:lnTo>
                  <a:pt x="4820691" y="4682095"/>
                </a:lnTo>
                <a:lnTo>
                  <a:pt x="0" y="4682095"/>
                </a:lnTo>
                <a:lnTo>
                  <a:pt x="0" y="0"/>
                </a:lnTo>
                <a:close/>
              </a:path>
            </a:pathLst>
          </a:custGeom>
          <a:blipFill>
            <a:blip r:embed="rId9"/>
            <a:stretch>
              <a:fillRect l="0" t="0" r="0" b="0"/>
            </a:stretch>
          </a:blipFill>
        </p:spPr>
      </p:sp>
      <p:sp>
        <p:nvSpPr>
          <p:cNvPr name="Freeform 12" id="12"/>
          <p:cNvSpPr/>
          <p:nvPr/>
        </p:nvSpPr>
        <p:spPr>
          <a:xfrm flipH="false" flipV="false" rot="0">
            <a:off x="13414470" y="192560"/>
            <a:ext cx="1452005" cy="1452005"/>
          </a:xfrm>
          <a:custGeom>
            <a:avLst/>
            <a:gdLst/>
            <a:ahLst/>
            <a:cxnLst/>
            <a:rect r="r" b="b" t="t" l="l"/>
            <a:pathLst>
              <a:path h="1452005" w="1452005">
                <a:moveTo>
                  <a:pt x="0" y="0"/>
                </a:moveTo>
                <a:lnTo>
                  <a:pt x="1452005" y="0"/>
                </a:lnTo>
                <a:lnTo>
                  <a:pt x="1452005" y="1452005"/>
                </a:lnTo>
                <a:lnTo>
                  <a:pt x="0" y="14520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3" id="13"/>
          <p:cNvSpPr/>
          <p:nvPr/>
        </p:nvSpPr>
        <p:spPr>
          <a:xfrm flipH="false" flipV="false" rot="0">
            <a:off x="359007" y="3617497"/>
            <a:ext cx="1023994" cy="1023994"/>
          </a:xfrm>
          <a:custGeom>
            <a:avLst/>
            <a:gdLst/>
            <a:ahLst/>
            <a:cxnLst/>
            <a:rect r="r" b="b" t="t" l="l"/>
            <a:pathLst>
              <a:path h="1023994" w="1023994">
                <a:moveTo>
                  <a:pt x="0" y="0"/>
                </a:moveTo>
                <a:lnTo>
                  <a:pt x="1023995" y="0"/>
                </a:lnTo>
                <a:lnTo>
                  <a:pt x="1023995" y="1023994"/>
                </a:lnTo>
                <a:lnTo>
                  <a:pt x="0" y="102399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4" id="14"/>
          <p:cNvSpPr/>
          <p:nvPr/>
        </p:nvSpPr>
        <p:spPr>
          <a:xfrm flipH="false" flipV="false" rot="0">
            <a:off x="-741893" y="629663"/>
            <a:ext cx="2431118" cy="1330484"/>
          </a:xfrm>
          <a:custGeom>
            <a:avLst/>
            <a:gdLst/>
            <a:ahLst/>
            <a:cxnLst/>
            <a:rect r="r" b="b" t="t" l="l"/>
            <a:pathLst>
              <a:path h="1330484" w="2431118">
                <a:moveTo>
                  <a:pt x="0" y="0"/>
                </a:moveTo>
                <a:lnTo>
                  <a:pt x="2431118" y="0"/>
                </a:lnTo>
                <a:lnTo>
                  <a:pt x="2431118" y="1330484"/>
                </a:lnTo>
                <a:lnTo>
                  <a:pt x="0" y="1330484"/>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5" id="15"/>
          <p:cNvSpPr/>
          <p:nvPr/>
        </p:nvSpPr>
        <p:spPr>
          <a:xfrm flipH="false" flipV="false" rot="-5400000">
            <a:off x="1524766" y="6598434"/>
            <a:ext cx="2431118" cy="1330484"/>
          </a:xfrm>
          <a:custGeom>
            <a:avLst/>
            <a:gdLst/>
            <a:ahLst/>
            <a:cxnLst/>
            <a:rect r="r" b="b" t="t" l="l"/>
            <a:pathLst>
              <a:path h="1330484" w="2431118">
                <a:moveTo>
                  <a:pt x="0" y="0"/>
                </a:moveTo>
                <a:lnTo>
                  <a:pt x="2431118" y="0"/>
                </a:lnTo>
                <a:lnTo>
                  <a:pt x="2431118" y="1330485"/>
                </a:lnTo>
                <a:lnTo>
                  <a:pt x="0" y="133048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6" id="16"/>
          <p:cNvSpPr/>
          <p:nvPr/>
        </p:nvSpPr>
        <p:spPr>
          <a:xfrm flipH="false" flipV="false" rot="-988078">
            <a:off x="5681039" y="7867231"/>
            <a:ext cx="3980556" cy="3159567"/>
          </a:xfrm>
          <a:custGeom>
            <a:avLst/>
            <a:gdLst/>
            <a:ahLst/>
            <a:cxnLst/>
            <a:rect r="r" b="b" t="t" l="l"/>
            <a:pathLst>
              <a:path h="3159567" w="3980556">
                <a:moveTo>
                  <a:pt x="0" y="0"/>
                </a:moveTo>
                <a:lnTo>
                  <a:pt x="3980557" y="0"/>
                </a:lnTo>
                <a:lnTo>
                  <a:pt x="3980557" y="3159566"/>
                </a:lnTo>
                <a:lnTo>
                  <a:pt x="0" y="3159566"/>
                </a:lnTo>
                <a:lnTo>
                  <a:pt x="0" y="0"/>
                </a:lnTo>
                <a:close/>
              </a:path>
            </a:pathLst>
          </a:custGeom>
          <a:blipFill>
            <a:blip r:embed="rId14"/>
            <a:stretch>
              <a:fillRect l="0" t="0" r="0" b="0"/>
            </a:stretch>
          </a:blipFill>
        </p:spPr>
      </p:sp>
      <p:sp>
        <p:nvSpPr>
          <p:cNvPr name="TextBox 17" id="17"/>
          <p:cNvSpPr txBox="true"/>
          <p:nvPr/>
        </p:nvSpPr>
        <p:spPr>
          <a:xfrm rot="0">
            <a:off x="871004" y="283747"/>
            <a:ext cx="12940804" cy="3333750"/>
          </a:xfrm>
          <a:prstGeom prst="rect">
            <a:avLst/>
          </a:prstGeom>
        </p:spPr>
        <p:txBody>
          <a:bodyPr anchor="t" rtlCol="false" tIns="0" lIns="0" bIns="0" rIns="0">
            <a:spAutoFit/>
          </a:bodyPr>
          <a:lstStyle/>
          <a:p>
            <a:pPr algn="ctr">
              <a:lnSpc>
                <a:spcPts val="26160"/>
              </a:lnSpc>
              <a:spcBef>
                <a:spcPct val="0"/>
              </a:spcBef>
            </a:pPr>
            <a:r>
              <a:rPr lang="en-US" sz="21800">
                <a:solidFill>
                  <a:srgbClr val="FFFFFF"/>
                </a:solidFill>
                <a:latin typeface="Marykate"/>
                <a:ea typeface="Marykate"/>
                <a:cs typeface="Marykate"/>
                <a:sym typeface="Marykate"/>
              </a:rPr>
              <a:t>Commerce OS</a:t>
            </a:r>
          </a:p>
        </p:txBody>
      </p:sp>
      <p:grpSp>
        <p:nvGrpSpPr>
          <p:cNvPr name="Group 18" id="18"/>
          <p:cNvGrpSpPr/>
          <p:nvPr/>
        </p:nvGrpSpPr>
        <p:grpSpPr>
          <a:xfrm rot="0">
            <a:off x="3289423" y="5093308"/>
            <a:ext cx="8704047" cy="1154569"/>
            <a:chOff x="0" y="0"/>
            <a:chExt cx="11605396" cy="1539425"/>
          </a:xfrm>
        </p:grpSpPr>
        <p:grpSp>
          <p:nvGrpSpPr>
            <p:cNvPr name="Group 19" id="19"/>
            <p:cNvGrpSpPr/>
            <p:nvPr/>
          </p:nvGrpSpPr>
          <p:grpSpPr>
            <a:xfrm rot="0">
              <a:off x="1711191" y="0"/>
              <a:ext cx="8213529" cy="1539425"/>
              <a:chOff x="0" y="0"/>
              <a:chExt cx="1702720" cy="319133"/>
            </a:xfrm>
          </p:grpSpPr>
          <p:sp>
            <p:nvSpPr>
              <p:cNvPr name="Freeform 20" id="20"/>
              <p:cNvSpPr/>
              <p:nvPr/>
            </p:nvSpPr>
            <p:spPr>
              <a:xfrm flipH="false" flipV="false" rot="0">
                <a:off x="0" y="0"/>
                <a:ext cx="1702720" cy="319133"/>
              </a:xfrm>
              <a:custGeom>
                <a:avLst/>
                <a:gdLst/>
                <a:ahLst/>
                <a:cxnLst/>
                <a:rect r="r" b="b" t="t" l="l"/>
                <a:pathLst>
                  <a:path h="319133" w="1702720">
                    <a:moveTo>
                      <a:pt x="125678" y="0"/>
                    </a:moveTo>
                    <a:lnTo>
                      <a:pt x="1577042" y="0"/>
                    </a:lnTo>
                    <a:cubicBezTo>
                      <a:pt x="1610374" y="0"/>
                      <a:pt x="1642340" y="13241"/>
                      <a:pt x="1665910" y="36810"/>
                    </a:cubicBezTo>
                    <a:cubicBezTo>
                      <a:pt x="1689479" y="60379"/>
                      <a:pt x="1702720" y="92346"/>
                      <a:pt x="1702720" y="125678"/>
                    </a:cubicBezTo>
                    <a:lnTo>
                      <a:pt x="1702720" y="193456"/>
                    </a:lnTo>
                    <a:cubicBezTo>
                      <a:pt x="1702720" y="226787"/>
                      <a:pt x="1689479" y="258754"/>
                      <a:pt x="1665910" y="282323"/>
                    </a:cubicBezTo>
                    <a:cubicBezTo>
                      <a:pt x="1642340" y="305892"/>
                      <a:pt x="1610374" y="319133"/>
                      <a:pt x="1577042" y="319133"/>
                    </a:cubicBezTo>
                    <a:lnTo>
                      <a:pt x="125678" y="319133"/>
                    </a:lnTo>
                    <a:cubicBezTo>
                      <a:pt x="92346" y="319133"/>
                      <a:pt x="60379" y="305892"/>
                      <a:pt x="36810" y="282323"/>
                    </a:cubicBezTo>
                    <a:cubicBezTo>
                      <a:pt x="13241" y="258754"/>
                      <a:pt x="0" y="226787"/>
                      <a:pt x="0" y="193456"/>
                    </a:cubicBezTo>
                    <a:lnTo>
                      <a:pt x="0" y="125678"/>
                    </a:lnTo>
                    <a:cubicBezTo>
                      <a:pt x="0" y="92346"/>
                      <a:pt x="13241" y="60379"/>
                      <a:pt x="36810" y="36810"/>
                    </a:cubicBezTo>
                    <a:cubicBezTo>
                      <a:pt x="60379" y="13241"/>
                      <a:pt x="92346" y="0"/>
                      <a:pt x="125678" y="0"/>
                    </a:cubicBezTo>
                    <a:close/>
                  </a:path>
                </a:pathLst>
              </a:custGeom>
              <a:solidFill>
                <a:srgbClr val="004AAD"/>
              </a:solidFill>
              <a:ln w="57150" cap="rnd">
                <a:solidFill>
                  <a:srgbClr val="FFFFFF"/>
                </a:solidFill>
                <a:prstDash val="solid"/>
                <a:round/>
              </a:ln>
            </p:spPr>
          </p:sp>
          <p:sp>
            <p:nvSpPr>
              <p:cNvPr name="TextBox 21" id="21"/>
              <p:cNvSpPr txBox="true"/>
              <p:nvPr/>
            </p:nvSpPr>
            <p:spPr>
              <a:xfrm>
                <a:off x="0" y="-38100"/>
                <a:ext cx="1702720" cy="357233"/>
              </a:xfrm>
              <a:prstGeom prst="rect">
                <a:avLst/>
              </a:prstGeom>
            </p:spPr>
            <p:txBody>
              <a:bodyPr anchor="ctr" rtlCol="false" tIns="50800" lIns="50800" bIns="50800" rIns="50800"/>
              <a:lstStyle/>
              <a:p>
                <a:pPr algn="ctr">
                  <a:lnSpc>
                    <a:spcPts val="2659"/>
                  </a:lnSpc>
                  <a:spcBef>
                    <a:spcPct val="0"/>
                  </a:spcBef>
                </a:pPr>
              </a:p>
            </p:txBody>
          </p:sp>
        </p:grpSp>
        <p:sp>
          <p:nvSpPr>
            <p:cNvPr name="TextBox 22" id="22"/>
            <p:cNvSpPr txBox="true"/>
            <p:nvPr/>
          </p:nvSpPr>
          <p:spPr>
            <a:xfrm rot="0">
              <a:off x="0" y="277347"/>
              <a:ext cx="11605396" cy="984732"/>
            </a:xfrm>
            <a:prstGeom prst="rect">
              <a:avLst/>
            </a:prstGeom>
          </p:spPr>
          <p:txBody>
            <a:bodyPr anchor="t" rtlCol="false" tIns="0" lIns="0" bIns="0" rIns="0">
              <a:spAutoFit/>
            </a:bodyPr>
            <a:lstStyle/>
            <a:p>
              <a:pPr algn="ctr">
                <a:lnSpc>
                  <a:spcPts val="5815"/>
                </a:lnSpc>
                <a:spcBef>
                  <a:spcPct val="0"/>
                </a:spcBef>
              </a:pPr>
              <a:r>
                <a:rPr lang="en-US" sz="4846">
                  <a:solidFill>
                    <a:srgbClr val="FFFFFF"/>
                  </a:solidFill>
                  <a:latin typeface="Nunito"/>
                  <a:ea typeface="Nunito"/>
                  <a:cs typeface="Nunito"/>
                  <a:sym typeface="Nunito"/>
                </a:rPr>
                <a:t>Team : Paytm Premi</a:t>
              </a:r>
            </a:p>
          </p:txBody>
        </p:sp>
      </p:grpSp>
      <p:grpSp>
        <p:nvGrpSpPr>
          <p:cNvPr name="Group 23" id="23"/>
          <p:cNvGrpSpPr/>
          <p:nvPr/>
        </p:nvGrpSpPr>
        <p:grpSpPr>
          <a:xfrm rot="0">
            <a:off x="15713571" y="192560"/>
            <a:ext cx="2232517" cy="874205"/>
            <a:chOff x="0" y="0"/>
            <a:chExt cx="2976690" cy="1165606"/>
          </a:xfrm>
        </p:grpSpPr>
        <p:sp>
          <p:nvSpPr>
            <p:cNvPr name="Freeform 24" id="24"/>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25" id="25"/>
          <p:cNvGrpSpPr/>
          <p:nvPr/>
        </p:nvGrpSpPr>
        <p:grpSpPr>
          <a:xfrm rot="0">
            <a:off x="15999797" y="369059"/>
            <a:ext cx="1660065" cy="521208"/>
            <a:chOff x="0" y="0"/>
            <a:chExt cx="2213420" cy="694944"/>
          </a:xfrm>
        </p:grpSpPr>
        <p:sp>
          <p:nvSpPr>
            <p:cNvPr name="Freeform 26" id="26"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15"/>
              <a:stretch>
                <a:fillRect l="0" t="0" r="-2" b="0"/>
              </a:stretch>
            </a:blipFill>
          </p:spPr>
        </p:sp>
      </p:grpSp>
      <p:grpSp>
        <p:nvGrpSpPr>
          <p:cNvPr name="Group 27" id="27"/>
          <p:cNvGrpSpPr/>
          <p:nvPr/>
        </p:nvGrpSpPr>
        <p:grpSpPr>
          <a:xfrm rot="0">
            <a:off x="2694775" y="605692"/>
            <a:ext cx="9601200" cy="653820"/>
            <a:chOff x="0" y="0"/>
            <a:chExt cx="12801600" cy="871761"/>
          </a:xfrm>
        </p:grpSpPr>
        <p:sp>
          <p:nvSpPr>
            <p:cNvPr name="Freeform 28" id="28"/>
            <p:cNvSpPr/>
            <p:nvPr/>
          </p:nvSpPr>
          <p:spPr>
            <a:xfrm flipH="false" flipV="false" rot="0">
              <a:off x="0" y="0"/>
              <a:ext cx="12801600" cy="871761"/>
            </a:xfrm>
            <a:custGeom>
              <a:avLst/>
              <a:gdLst/>
              <a:ahLst/>
              <a:cxnLst/>
              <a:rect r="r" b="b" t="t" l="l"/>
              <a:pathLst>
                <a:path h="871761" w="12801600">
                  <a:moveTo>
                    <a:pt x="0" y="0"/>
                  </a:moveTo>
                  <a:lnTo>
                    <a:pt x="12801600" y="0"/>
                  </a:lnTo>
                  <a:lnTo>
                    <a:pt x="12801600" y="871761"/>
                  </a:lnTo>
                  <a:lnTo>
                    <a:pt x="0" y="871761"/>
                  </a:lnTo>
                  <a:close/>
                </a:path>
              </a:pathLst>
            </a:custGeom>
            <a:blipFill>
              <a:blip r:embed="rId16">
                <a:alphaModFix amt="0"/>
              </a:blip>
              <a:stretch>
                <a:fillRect l="0" t="-254665" r="0" b="-217600"/>
              </a:stretch>
            </a:blipFill>
          </p:spPr>
        </p:sp>
        <p:sp>
          <p:nvSpPr>
            <p:cNvPr name="TextBox 29" id="29"/>
            <p:cNvSpPr txBox="true"/>
            <p:nvPr/>
          </p:nvSpPr>
          <p:spPr>
            <a:xfrm>
              <a:off x="0" y="0"/>
              <a:ext cx="12801600" cy="871761"/>
            </a:xfrm>
            <a:prstGeom prst="rect">
              <a:avLst/>
            </a:prstGeom>
          </p:spPr>
          <p:txBody>
            <a:bodyPr anchor="ctr" rtlCol="false" tIns="0" lIns="0" bIns="0" rIns="0"/>
            <a:lstStyle/>
            <a:p>
              <a:pPr algn="l">
                <a:lnSpc>
                  <a:spcPts val="2399"/>
                </a:lnSpc>
              </a:pPr>
              <a:r>
                <a:rPr lang="en-US" b="true" sz="1999" spc="499">
                  <a:solidFill>
                    <a:srgbClr val="FFFFFF"/>
                  </a:solidFill>
                  <a:latin typeface="Arial Bold"/>
                  <a:ea typeface="Arial Bold"/>
                  <a:cs typeface="Arial Bold"/>
                  <a:sym typeface="Arial Bold"/>
                </a:rPr>
                <a:t>PAYTM BUILD FOR INDIA · AI HACKATHON · TRACK 3</a:t>
              </a:r>
            </a:p>
          </p:txBody>
        </p:sp>
      </p:grpSp>
      <p:sp>
        <p:nvSpPr>
          <p:cNvPr name="TextBox 30" id="30"/>
          <p:cNvSpPr txBox="true"/>
          <p:nvPr/>
        </p:nvSpPr>
        <p:spPr>
          <a:xfrm rot="0">
            <a:off x="3512654" y="3521166"/>
            <a:ext cx="8493988" cy="523875"/>
          </a:xfrm>
          <a:prstGeom prst="rect">
            <a:avLst/>
          </a:prstGeom>
        </p:spPr>
        <p:txBody>
          <a:bodyPr anchor="t" rtlCol="false" tIns="0" lIns="0" bIns="0" rIns="0">
            <a:spAutoFit/>
          </a:bodyPr>
          <a:lstStyle/>
          <a:p>
            <a:pPr algn="l">
              <a:lnSpc>
                <a:spcPts val="3960"/>
              </a:lnSpc>
            </a:pPr>
            <a:r>
              <a:rPr lang="en-US" sz="3300">
                <a:solidFill>
                  <a:srgbClr val="FFFFFF"/>
                </a:solidFill>
                <a:latin typeface="Arial"/>
                <a:ea typeface="Arial"/>
                <a:cs typeface="Arial"/>
                <a:sym typeface="Arial"/>
              </a:rPr>
              <a:t>AI teammates that don't just respond but Act.</a:t>
            </a:r>
          </a:p>
        </p:txBody>
      </p:sp>
      <p:sp>
        <p:nvSpPr>
          <p:cNvPr name="TextBox 31" id="31"/>
          <p:cNvSpPr txBox="true"/>
          <p:nvPr/>
        </p:nvSpPr>
        <p:spPr>
          <a:xfrm rot="0">
            <a:off x="4485478" y="6514843"/>
            <a:ext cx="6019793" cy="523875"/>
          </a:xfrm>
          <a:prstGeom prst="rect">
            <a:avLst/>
          </a:prstGeom>
        </p:spPr>
        <p:txBody>
          <a:bodyPr anchor="t" rtlCol="false" tIns="0" lIns="0" bIns="0" rIns="0">
            <a:spAutoFit/>
          </a:bodyPr>
          <a:lstStyle/>
          <a:p>
            <a:pPr algn="l">
              <a:lnSpc>
                <a:spcPts val="3960"/>
              </a:lnSpc>
            </a:pPr>
            <a:r>
              <a:rPr lang="en-US" sz="3300">
                <a:solidFill>
                  <a:srgbClr val="FFFFFF"/>
                </a:solidFill>
                <a:latin typeface="Arial"/>
                <a:ea typeface="Arial"/>
                <a:cs typeface="Arial"/>
                <a:sym typeface="Arial"/>
              </a:rPr>
              <a:t>Shiwansh Singh • Aryan Pandey</a:t>
            </a:r>
          </a:p>
        </p:txBody>
      </p:sp>
      <p:grpSp>
        <p:nvGrpSpPr>
          <p:cNvPr name="Group 32" id="32"/>
          <p:cNvGrpSpPr/>
          <p:nvPr/>
        </p:nvGrpSpPr>
        <p:grpSpPr>
          <a:xfrm rot="0">
            <a:off x="4661421" y="4288783"/>
            <a:ext cx="6918729" cy="471150"/>
            <a:chOff x="0" y="0"/>
            <a:chExt cx="12801600" cy="871761"/>
          </a:xfrm>
        </p:grpSpPr>
        <p:sp>
          <p:nvSpPr>
            <p:cNvPr name="Freeform 33" id="33"/>
            <p:cNvSpPr/>
            <p:nvPr/>
          </p:nvSpPr>
          <p:spPr>
            <a:xfrm flipH="false" flipV="false" rot="0">
              <a:off x="0" y="0"/>
              <a:ext cx="12801600" cy="871761"/>
            </a:xfrm>
            <a:custGeom>
              <a:avLst/>
              <a:gdLst/>
              <a:ahLst/>
              <a:cxnLst/>
              <a:rect r="r" b="b" t="t" l="l"/>
              <a:pathLst>
                <a:path h="871761" w="12801600">
                  <a:moveTo>
                    <a:pt x="0" y="0"/>
                  </a:moveTo>
                  <a:lnTo>
                    <a:pt x="12801600" y="0"/>
                  </a:lnTo>
                  <a:lnTo>
                    <a:pt x="12801600" y="871761"/>
                  </a:lnTo>
                  <a:lnTo>
                    <a:pt x="0" y="871761"/>
                  </a:lnTo>
                  <a:close/>
                </a:path>
              </a:pathLst>
            </a:custGeom>
            <a:blipFill>
              <a:blip r:embed="rId16">
                <a:alphaModFix amt="0"/>
              </a:blip>
              <a:stretch>
                <a:fillRect l="0" t="-254665" r="0" b="-217600"/>
              </a:stretch>
            </a:blipFill>
          </p:spPr>
        </p:sp>
        <p:sp>
          <p:nvSpPr>
            <p:cNvPr name="TextBox 34" id="34"/>
            <p:cNvSpPr txBox="true"/>
            <p:nvPr/>
          </p:nvSpPr>
          <p:spPr>
            <a:xfrm>
              <a:off x="0" y="0"/>
              <a:ext cx="12801600" cy="871761"/>
            </a:xfrm>
            <a:prstGeom prst="rect">
              <a:avLst/>
            </a:prstGeom>
          </p:spPr>
          <p:txBody>
            <a:bodyPr anchor="ctr" rtlCol="false" tIns="0" lIns="0" bIns="0" rIns="0"/>
            <a:lstStyle/>
            <a:p>
              <a:pPr algn="l">
                <a:lnSpc>
                  <a:spcPts val="2399"/>
                </a:lnSpc>
              </a:pPr>
              <a:r>
                <a:rPr lang="en-US" b="true" sz="1999" spc="499">
                  <a:solidFill>
                    <a:srgbClr val="FFFFFF"/>
                  </a:solidFill>
                  <a:latin typeface="Arial Bold"/>
                  <a:ea typeface="Arial Bold"/>
                  <a:cs typeface="Arial Bold"/>
                  <a:sym typeface="Arial Bold"/>
                </a:rPr>
                <a:t>Built With Sarvam • Cognee • n8n</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01 · PROBLEM STATEMENT</a:t>
              </a:r>
            </a:p>
          </p:txBody>
        </p:sp>
      </p:grpSp>
      <p:sp>
        <p:nvSpPr>
          <p:cNvPr name="TextBox 5" id="5"/>
          <p:cNvSpPr txBox="true"/>
          <p:nvPr/>
        </p:nvSpPr>
        <p:spPr>
          <a:xfrm rot="0">
            <a:off x="822960" y="968502"/>
            <a:ext cx="16733520" cy="1253490"/>
          </a:xfrm>
          <a:prstGeom prst="rect">
            <a:avLst/>
          </a:prstGeom>
        </p:spPr>
        <p:txBody>
          <a:bodyPr anchor="t" rtlCol="false" tIns="0" lIns="0" bIns="0" rIns="0">
            <a:spAutoFit/>
          </a:bodyPr>
          <a:lstStyle/>
          <a:p>
            <a:pPr algn="l">
              <a:lnSpc>
                <a:spcPts val="5759"/>
              </a:lnSpc>
            </a:pPr>
            <a:r>
              <a:rPr lang="en-US" sz="4800" b="true">
                <a:solidFill>
                  <a:srgbClr val="141414"/>
                </a:solidFill>
                <a:latin typeface="Arial Bold"/>
                <a:ea typeface="Arial Bold"/>
                <a:cs typeface="Arial Bold"/>
                <a:sym typeface="Arial Bold"/>
              </a:rPr>
              <a:t>INDIA'S SHOPKEEPERS RUN ON INSTINCT.</a:t>
            </a:r>
          </a:p>
          <a:p>
            <a:pPr algn="l">
              <a:lnSpc>
                <a:spcPts val="5759"/>
              </a:lnSpc>
            </a:pPr>
            <a:r>
              <a:rPr lang="en-US" sz="4800" b="true">
                <a:solidFill>
                  <a:srgbClr val="141414"/>
                </a:solidFill>
                <a:latin typeface="Arial Bold"/>
                <a:ea typeface="Arial Bold"/>
                <a:cs typeface="Arial Bold"/>
                <a:sym typeface="Arial Bold"/>
              </a:rPr>
              <a:t>PAYTM'S GROWTH RUNS ON PEOPLE.</a:t>
            </a:r>
          </a:p>
        </p:txBody>
      </p:sp>
      <p:grpSp>
        <p:nvGrpSpPr>
          <p:cNvPr name="Group 6" id="6"/>
          <p:cNvGrpSpPr/>
          <p:nvPr/>
        </p:nvGrpSpPr>
        <p:grpSpPr>
          <a:xfrm rot="0">
            <a:off x="808672" y="3071812"/>
            <a:ext cx="5652135" cy="6132195"/>
            <a:chOff x="0" y="0"/>
            <a:chExt cx="7536180" cy="8176260"/>
          </a:xfrm>
        </p:grpSpPr>
        <p:sp>
          <p:nvSpPr>
            <p:cNvPr name="Freeform 7" id="7"/>
            <p:cNvSpPr/>
            <p:nvPr/>
          </p:nvSpPr>
          <p:spPr>
            <a:xfrm flipH="false" flipV="false" rot="0">
              <a:off x="0" y="0"/>
              <a:ext cx="7536180" cy="8176260"/>
            </a:xfrm>
            <a:custGeom>
              <a:avLst/>
              <a:gdLst/>
              <a:ahLst/>
              <a:cxnLst/>
              <a:rect r="r" b="b" t="t" l="l"/>
              <a:pathLst>
                <a:path h="8176260" w="7536180">
                  <a:moveTo>
                    <a:pt x="0" y="147066"/>
                  </a:moveTo>
                  <a:cubicBezTo>
                    <a:pt x="0" y="65786"/>
                    <a:pt x="65786" y="0"/>
                    <a:pt x="147066" y="0"/>
                  </a:cubicBezTo>
                  <a:lnTo>
                    <a:pt x="7389114" y="0"/>
                  </a:lnTo>
                  <a:cubicBezTo>
                    <a:pt x="7470267" y="0"/>
                    <a:pt x="7536180" y="65786"/>
                    <a:pt x="7536180" y="147066"/>
                  </a:cubicBezTo>
                  <a:lnTo>
                    <a:pt x="7536180" y="8029194"/>
                  </a:lnTo>
                  <a:cubicBezTo>
                    <a:pt x="7536180" y="8110347"/>
                    <a:pt x="7470394" y="8176260"/>
                    <a:pt x="7389114" y="8176260"/>
                  </a:cubicBezTo>
                  <a:lnTo>
                    <a:pt x="147066" y="8176260"/>
                  </a:lnTo>
                  <a:cubicBezTo>
                    <a:pt x="65786" y="8176260"/>
                    <a:pt x="0" y="8110474"/>
                    <a:pt x="0" y="8029194"/>
                  </a:cubicBezTo>
                  <a:close/>
                </a:path>
              </a:pathLst>
            </a:custGeom>
            <a:solidFill>
              <a:srgbClr val="F6ADA3"/>
            </a:solidFill>
            <a:ln w="28575" cap="sq">
              <a:solidFill>
                <a:srgbClr val="141414"/>
              </a:solidFill>
              <a:prstDash val="solid"/>
              <a:miter/>
            </a:ln>
          </p:spPr>
        </p:sp>
      </p:grpSp>
      <p:grpSp>
        <p:nvGrpSpPr>
          <p:cNvPr name="Group 8" id="8"/>
          <p:cNvGrpSpPr/>
          <p:nvPr/>
        </p:nvGrpSpPr>
        <p:grpSpPr>
          <a:xfrm rot="0">
            <a:off x="1234440" y="3429000"/>
            <a:ext cx="4937760" cy="822960"/>
            <a:chOff x="0" y="0"/>
            <a:chExt cx="6583680" cy="1097280"/>
          </a:xfrm>
        </p:grpSpPr>
        <p:sp>
          <p:nvSpPr>
            <p:cNvPr name="Freeform 9" id="9"/>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10" id="10"/>
            <p:cNvSpPr txBox="true"/>
            <p:nvPr/>
          </p:nvSpPr>
          <p:spPr>
            <a:xfrm>
              <a:off x="0" y="-28575"/>
              <a:ext cx="6583680" cy="1125855"/>
            </a:xfrm>
            <a:prstGeom prst="rect">
              <a:avLst/>
            </a:prstGeom>
          </p:spPr>
          <p:txBody>
            <a:bodyPr anchor="ctr" rtlCol="false" tIns="0" lIns="0" bIns="0" rIns="0"/>
            <a:lstStyle/>
            <a:p>
              <a:pPr algn="l">
                <a:lnSpc>
                  <a:spcPts val="6120"/>
                </a:lnSpc>
              </a:pPr>
              <a:r>
                <a:rPr lang="en-US" sz="5100" b="true">
                  <a:solidFill>
                    <a:srgbClr val="141414"/>
                  </a:solidFill>
                  <a:latin typeface="Arial Bold"/>
                  <a:ea typeface="Arial Bold"/>
                  <a:cs typeface="Arial Bold"/>
                  <a:sym typeface="Arial Bold"/>
                </a:rPr>
                <a:t>~1.3 Cr</a:t>
              </a:r>
            </a:p>
          </p:txBody>
        </p:sp>
      </p:grpSp>
      <p:sp>
        <p:nvSpPr>
          <p:cNvPr name="TextBox 11" id="11"/>
          <p:cNvSpPr txBox="true"/>
          <p:nvPr/>
        </p:nvSpPr>
        <p:spPr>
          <a:xfrm rot="0">
            <a:off x="1234440" y="4260342"/>
            <a:ext cx="4869180" cy="869442"/>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kirana stores. Just over 90% of India's FMCG sales still flow through them</a:t>
            </a:r>
          </a:p>
        </p:txBody>
      </p:sp>
      <p:grpSp>
        <p:nvGrpSpPr>
          <p:cNvPr name="Group 12" id="12"/>
          <p:cNvGrpSpPr/>
          <p:nvPr/>
        </p:nvGrpSpPr>
        <p:grpSpPr>
          <a:xfrm rot="0">
            <a:off x="1234440" y="5321808"/>
            <a:ext cx="4937760" cy="822960"/>
            <a:chOff x="0" y="0"/>
            <a:chExt cx="6583680" cy="1097280"/>
          </a:xfrm>
        </p:grpSpPr>
        <p:sp>
          <p:nvSpPr>
            <p:cNvPr name="Freeform 13" id="13"/>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14" id="14"/>
            <p:cNvSpPr txBox="true"/>
            <p:nvPr/>
          </p:nvSpPr>
          <p:spPr>
            <a:xfrm>
              <a:off x="0" y="-28575"/>
              <a:ext cx="6583680" cy="1125855"/>
            </a:xfrm>
            <a:prstGeom prst="rect">
              <a:avLst/>
            </a:prstGeom>
          </p:spPr>
          <p:txBody>
            <a:bodyPr anchor="ctr" rtlCol="false" tIns="0" lIns="0" bIns="0" rIns="0"/>
            <a:lstStyle/>
            <a:p>
              <a:pPr algn="l">
                <a:lnSpc>
                  <a:spcPts val="6120"/>
                </a:lnSpc>
              </a:pPr>
              <a:r>
                <a:rPr lang="en-US" sz="5100" b="true">
                  <a:solidFill>
                    <a:srgbClr val="141414"/>
                  </a:solidFill>
                  <a:latin typeface="Arial Bold"/>
                  <a:ea typeface="Arial Bold"/>
                  <a:cs typeface="Arial Bold"/>
                  <a:sym typeface="Arial Bold"/>
                </a:rPr>
                <a:t>₹30 L Cr</a:t>
              </a:r>
            </a:p>
          </p:txBody>
        </p:sp>
      </p:grpSp>
      <p:sp>
        <p:nvSpPr>
          <p:cNvPr name="TextBox 15" id="15"/>
          <p:cNvSpPr txBox="true"/>
          <p:nvPr/>
        </p:nvSpPr>
        <p:spPr>
          <a:xfrm rot="0">
            <a:off x="1234440" y="6153150"/>
            <a:ext cx="4869180" cy="869442"/>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MSME credit gap, about 24% of demand (SIDBI)</a:t>
            </a:r>
          </a:p>
        </p:txBody>
      </p:sp>
      <p:grpSp>
        <p:nvGrpSpPr>
          <p:cNvPr name="Group 16" id="16"/>
          <p:cNvGrpSpPr/>
          <p:nvPr/>
        </p:nvGrpSpPr>
        <p:grpSpPr>
          <a:xfrm rot="0">
            <a:off x="1234440" y="7214616"/>
            <a:ext cx="4937760" cy="822960"/>
            <a:chOff x="0" y="0"/>
            <a:chExt cx="6583680" cy="1097280"/>
          </a:xfrm>
        </p:grpSpPr>
        <p:sp>
          <p:nvSpPr>
            <p:cNvPr name="Freeform 17" id="17"/>
            <p:cNvSpPr/>
            <p:nvPr/>
          </p:nvSpPr>
          <p:spPr>
            <a:xfrm flipH="false" flipV="false" rot="0">
              <a:off x="0" y="0"/>
              <a:ext cx="6583680" cy="1097280"/>
            </a:xfrm>
            <a:custGeom>
              <a:avLst/>
              <a:gdLst/>
              <a:ahLst/>
              <a:cxnLst/>
              <a:rect r="r" b="b" t="t" l="l"/>
              <a:pathLst>
                <a:path h="1097280" w="6583680">
                  <a:moveTo>
                    <a:pt x="0" y="0"/>
                  </a:moveTo>
                  <a:lnTo>
                    <a:pt x="6583680" y="0"/>
                  </a:lnTo>
                  <a:lnTo>
                    <a:pt x="6583680" y="1097280"/>
                  </a:lnTo>
                  <a:lnTo>
                    <a:pt x="0" y="1097280"/>
                  </a:lnTo>
                  <a:close/>
                </a:path>
              </a:pathLst>
            </a:custGeom>
            <a:blipFill>
              <a:blip r:embed="rId3">
                <a:alphaModFix amt="0"/>
              </a:blip>
              <a:stretch>
                <a:fillRect l="0" t="-66910" r="0" b="-66910"/>
              </a:stretch>
            </a:blipFill>
          </p:spPr>
        </p:sp>
        <p:sp>
          <p:nvSpPr>
            <p:cNvPr name="TextBox 18" id="18"/>
            <p:cNvSpPr txBox="true"/>
            <p:nvPr/>
          </p:nvSpPr>
          <p:spPr>
            <a:xfrm>
              <a:off x="0" y="-28575"/>
              <a:ext cx="6583680" cy="1125855"/>
            </a:xfrm>
            <a:prstGeom prst="rect">
              <a:avLst/>
            </a:prstGeom>
          </p:spPr>
          <p:txBody>
            <a:bodyPr anchor="ctr" rtlCol="false" tIns="0" lIns="0" bIns="0" rIns="0"/>
            <a:lstStyle/>
            <a:p>
              <a:pPr algn="l">
                <a:lnSpc>
                  <a:spcPts val="6120"/>
                </a:lnSpc>
              </a:pPr>
              <a:r>
                <a:rPr lang="en-US" sz="5100" b="true">
                  <a:solidFill>
                    <a:srgbClr val="141414"/>
                  </a:solidFill>
                  <a:latin typeface="Arial Bold"/>
                  <a:ea typeface="Arial Bold"/>
                  <a:cs typeface="Arial Bold"/>
                  <a:sym typeface="Arial Bold"/>
                </a:rPr>
                <a:t>24.5 bn</a:t>
              </a:r>
            </a:p>
          </p:txBody>
        </p:sp>
      </p:grpSp>
      <p:sp>
        <p:nvSpPr>
          <p:cNvPr name="TextBox 19" id="19"/>
          <p:cNvSpPr txBox="true"/>
          <p:nvPr/>
        </p:nvSpPr>
        <p:spPr>
          <a:xfrm rot="0">
            <a:off x="1234440" y="8045958"/>
            <a:ext cx="4869180" cy="869442"/>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UPI transactions in Aug 2026. The data exists, but it isn't used for the merchant</a:t>
            </a:r>
          </a:p>
        </p:txBody>
      </p:sp>
      <p:grpSp>
        <p:nvGrpSpPr>
          <p:cNvPr name="Group 20" id="20"/>
          <p:cNvGrpSpPr/>
          <p:nvPr/>
        </p:nvGrpSpPr>
        <p:grpSpPr>
          <a:xfrm rot="0">
            <a:off x="6912293" y="3071812"/>
            <a:ext cx="5103495" cy="2908935"/>
            <a:chOff x="0" y="0"/>
            <a:chExt cx="6804660" cy="3878580"/>
          </a:xfrm>
        </p:grpSpPr>
        <p:sp>
          <p:nvSpPr>
            <p:cNvPr name="Freeform 21" id="21"/>
            <p:cNvSpPr/>
            <p:nvPr/>
          </p:nvSpPr>
          <p:spPr>
            <a:xfrm flipH="false" flipV="false" rot="0">
              <a:off x="0" y="0"/>
              <a:ext cx="6804660" cy="3878580"/>
            </a:xfrm>
            <a:custGeom>
              <a:avLst/>
              <a:gdLst/>
              <a:ahLst/>
              <a:cxnLst/>
              <a:rect r="r" b="b" t="t" l="l"/>
              <a:pathLst>
                <a:path h="3878580" w="6804660">
                  <a:moveTo>
                    <a:pt x="0" y="147828"/>
                  </a:moveTo>
                  <a:cubicBezTo>
                    <a:pt x="0" y="66167"/>
                    <a:pt x="66167" y="0"/>
                    <a:pt x="147828" y="0"/>
                  </a:cubicBezTo>
                  <a:lnTo>
                    <a:pt x="6656832" y="0"/>
                  </a:lnTo>
                  <a:cubicBezTo>
                    <a:pt x="6738493" y="0"/>
                    <a:pt x="6804660" y="66167"/>
                    <a:pt x="6804660" y="147828"/>
                  </a:cubicBezTo>
                  <a:lnTo>
                    <a:pt x="6804660" y="3730752"/>
                  </a:lnTo>
                  <a:cubicBezTo>
                    <a:pt x="6804660" y="3812413"/>
                    <a:pt x="6738493" y="3878580"/>
                    <a:pt x="6656832" y="3878580"/>
                  </a:cubicBezTo>
                  <a:lnTo>
                    <a:pt x="147828" y="3878580"/>
                  </a:lnTo>
                  <a:cubicBezTo>
                    <a:pt x="66167" y="3878580"/>
                    <a:pt x="0" y="3812413"/>
                    <a:pt x="0" y="3730752"/>
                  </a:cubicBezTo>
                  <a:close/>
                </a:path>
              </a:pathLst>
            </a:custGeom>
            <a:solidFill>
              <a:srgbClr val="FFFFFF"/>
            </a:solidFill>
            <a:ln w="28575" cap="sq">
              <a:solidFill>
                <a:srgbClr val="141414"/>
              </a:solidFill>
              <a:prstDash val="solid"/>
              <a:miter/>
            </a:ln>
          </p:spPr>
        </p:sp>
      </p:grpSp>
      <p:grpSp>
        <p:nvGrpSpPr>
          <p:cNvPr name="Group 22" id="22"/>
          <p:cNvGrpSpPr/>
          <p:nvPr/>
        </p:nvGrpSpPr>
        <p:grpSpPr>
          <a:xfrm rot="0">
            <a:off x="7257574" y="3417094"/>
            <a:ext cx="778193" cy="778193"/>
            <a:chOff x="0" y="0"/>
            <a:chExt cx="1037590" cy="1037590"/>
          </a:xfrm>
        </p:grpSpPr>
        <p:sp>
          <p:nvSpPr>
            <p:cNvPr name="Freeform 23" id="2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FFF1A8"/>
            </a:solidFill>
            <a:ln w="23812" cap="sq">
              <a:solidFill>
                <a:srgbClr val="141414"/>
              </a:solidFill>
              <a:prstDash val="solid"/>
              <a:miter/>
            </a:ln>
          </p:spPr>
        </p:sp>
      </p:grpSp>
      <p:grpSp>
        <p:nvGrpSpPr>
          <p:cNvPr name="Group 24" id="24"/>
          <p:cNvGrpSpPr/>
          <p:nvPr/>
        </p:nvGrpSpPr>
        <p:grpSpPr>
          <a:xfrm rot="0">
            <a:off x="7435444" y="3594964"/>
            <a:ext cx="422453" cy="422453"/>
            <a:chOff x="0" y="0"/>
            <a:chExt cx="563270" cy="563270"/>
          </a:xfrm>
        </p:grpSpPr>
        <p:sp>
          <p:nvSpPr>
            <p:cNvPr name="Freeform 25" id="2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4"/>
              <a:stretch>
                <a:fillRect l="0" t="0" r="-4" b="-4"/>
              </a:stretch>
            </a:blipFill>
          </p:spPr>
        </p:sp>
      </p:grpSp>
      <p:grpSp>
        <p:nvGrpSpPr>
          <p:cNvPr name="Group 26" id="26"/>
          <p:cNvGrpSpPr/>
          <p:nvPr/>
        </p:nvGrpSpPr>
        <p:grpSpPr>
          <a:xfrm rot="0">
            <a:off x="8229600" y="3429000"/>
            <a:ext cx="3566160" cy="754380"/>
            <a:chOff x="0" y="0"/>
            <a:chExt cx="4754880" cy="1005840"/>
          </a:xfrm>
        </p:grpSpPr>
        <p:sp>
          <p:nvSpPr>
            <p:cNvPr name="Freeform 27" id="27"/>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28" id="28"/>
            <p:cNvSpPr txBox="true"/>
            <p:nvPr/>
          </p:nvSpPr>
          <p:spPr>
            <a:xfrm>
              <a:off x="0" y="-9525"/>
              <a:ext cx="4754880" cy="101536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Acquisition is slow &amp; leaky</a:t>
              </a:r>
            </a:p>
          </p:txBody>
        </p:sp>
      </p:grpSp>
      <p:sp>
        <p:nvSpPr>
          <p:cNvPr name="TextBox 29" id="29"/>
          <p:cNvSpPr txBox="true"/>
          <p:nvPr/>
        </p:nvSpPr>
        <p:spPr>
          <a:xfrm rot="0">
            <a:off x="7269480" y="4370070"/>
            <a:ext cx="4457700" cy="1459230"/>
          </a:xfrm>
          <a:prstGeom prst="rect">
            <a:avLst/>
          </a:prstGeom>
        </p:spPr>
        <p:txBody>
          <a:bodyPr anchor="t" rtlCol="false" tIns="0" lIns="0" bIns="0" rIns="0">
            <a:spAutoFit/>
          </a:bodyPr>
          <a:lstStyle/>
          <a:p>
            <a:pPr algn="l">
              <a:lnSpc>
                <a:spcPts val="2070"/>
              </a:lnSpc>
            </a:pPr>
            <a:r>
              <a:rPr lang="en-US" sz="1725">
                <a:solidFill>
                  <a:srgbClr val="4A4A4A"/>
                </a:solidFill>
                <a:latin typeface="Arial"/>
                <a:ea typeface="Arial"/>
                <a:cs typeface="Arial"/>
                <a:sym typeface="Arial"/>
              </a:rPr>
              <a:t>Lead scoring, KYC, bank, device and legal run one after another and depend on people. Merchants drop off halfway.</a:t>
            </a:r>
          </a:p>
        </p:txBody>
      </p:sp>
      <p:grpSp>
        <p:nvGrpSpPr>
          <p:cNvPr name="Group 30" id="30"/>
          <p:cNvGrpSpPr/>
          <p:nvPr/>
        </p:nvGrpSpPr>
        <p:grpSpPr>
          <a:xfrm rot="0">
            <a:off x="12330112" y="3071812"/>
            <a:ext cx="5103495" cy="2908935"/>
            <a:chOff x="0" y="0"/>
            <a:chExt cx="6804660" cy="3878580"/>
          </a:xfrm>
        </p:grpSpPr>
        <p:sp>
          <p:nvSpPr>
            <p:cNvPr name="Freeform 31" id="31"/>
            <p:cNvSpPr/>
            <p:nvPr/>
          </p:nvSpPr>
          <p:spPr>
            <a:xfrm flipH="false" flipV="false" rot="0">
              <a:off x="0" y="0"/>
              <a:ext cx="6804660" cy="3878580"/>
            </a:xfrm>
            <a:custGeom>
              <a:avLst/>
              <a:gdLst/>
              <a:ahLst/>
              <a:cxnLst/>
              <a:rect r="r" b="b" t="t" l="l"/>
              <a:pathLst>
                <a:path h="3878580" w="6804660">
                  <a:moveTo>
                    <a:pt x="0" y="147828"/>
                  </a:moveTo>
                  <a:cubicBezTo>
                    <a:pt x="0" y="66167"/>
                    <a:pt x="66167" y="0"/>
                    <a:pt x="147828" y="0"/>
                  </a:cubicBezTo>
                  <a:lnTo>
                    <a:pt x="6656832" y="0"/>
                  </a:lnTo>
                  <a:cubicBezTo>
                    <a:pt x="6738493" y="0"/>
                    <a:pt x="6804660" y="66167"/>
                    <a:pt x="6804660" y="147828"/>
                  </a:cubicBezTo>
                  <a:lnTo>
                    <a:pt x="6804660" y="3730752"/>
                  </a:lnTo>
                  <a:cubicBezTo>
                    <a:pt x="6804660" y="3812413"/>
                    <a:pt x="6738493" y="3878580"/>
                    <a:pt x="6656832" y="3878580"/>
                  </a:cubicBezTo>
                  <a:lnTo>
                    <a:pt x="147828" y="3878580"/>
                  </a:lnTo>
                  <a:cubicBezTo>
                    <a:pt x="66167" y="3878580"/>
                    <a:pt x="0" y="3812413"/>
                    <a:pt x="0" y="3730752"/>
                  </a:cubicBezTo>
                  <a:close/>
                </a:path>
              </a:pathLst>
            </a:custGeom>
            <a:solidFill>
              <a:srgbClr val="FFFFFF"/>
            </a:solidFill>
            <a:ln w="28575" cap="sq">
              <a:solidFill>
                <a:srgbClr val="141414"/>
              </a:solidFill>
              <a:prstDash val="solid"/>
              <a:miter/>
            </a:ln>
          </p:spPr>
        </p:sp>
      </p:grpSp>
      <p:grpSp>
        <p:nvGrpSpPr>
          <p:cNvPr name="Group 32" id="32"/>
          <p:cNvGrpSpPr/>
          <p:nvPr/>
        </p:nvGrpSpPr>
        <p:grpSpPr>
          <a:xfrm rot="0">
            <a:off x="12675394" y="3417094"/>
            <a:ext cx="778193" cy="778193"/>
            <a:chOff x="0" y="0"/>
            <a:chExt cx="1037590" cy="1037590"/>
          </a:xfrm>
        </p:grpSpPr>
        <p:sp>
          <p:nvSpPr>
            <p:cNvPr name="Freeform 33" id="3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BFEBD3"/>
            </a:solidFill>
            <a:ln w="23812" cap="sq">
              <a:solidFill>
                <a:srgbClr val="141414"/>
              </a:solidFill>
              <a:prstDash val="solid"/>
              <a:miter/>
            </a:ln>
          </p:spPr>
        </p:sp>
      </p:grpSp>
      <p:grpSp>
        <p:nvGrpSpPr>
          <p:cNvPr name="Group 34" id="34"/>
          <p:cNvGrpSpPr/>
          <p:nvPr/>
        </p:nvGrpSpPr>
        <p:grpSpPr>
          <a:xfrm rot="0">
            <a:off x="12853264" y="3594964"/>
            <a:ext cx="422453" cy="422453"/>
            <a:chOff x="0" y="0"/>
            <a:chExt cx="563270" cy="563270"/>
          </a:xfrm>
        </p:grpSpPr>
        <p:sp>
          <p:nvSpPr>
            <p:cNvPr name="Freeform 35" id="3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5"/>
              <a:stretch>
                <a:fillRect l="0" t="0" r="-4" b="-4"/>
              </a:stretch>
            </a:blipFill>
          </p:spPr>
        </p:sp>
      </p:grpSp>
      <p:grpSp>
        <p:nvGrpSpPr>
          <p:cNvPr name="Group 36" id="36"/>
          <p:cNvGrpSpPr/>
          <p:nvPr/>
        </p:nvGrpSpPr>
        <p:grpSpPr>
          <a:xfrm rot="0">
            <a:off x="13647420" y="3429000"/>
            <a:ext cx="3566160" cy="754380"/>
            <a:chOff x="0" y="0"/>
            <a:chExt cx="4754880" cy="1005840"/>
          </a:xfrm>
        </p:grpSpPr>
        <p:sp>
          <p:nvSpPr>
            <p:cNvPr name="Freeform 37" id="37"/>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38" id="38"/>
            <p:cNvSpPr txBox="true"/>
            <p:nvPr/>
          </p:nvSpPr>
          <p:spPr>
            <a:xfrm>
              <a:off x="0" y="-9525"/>
              <a:ext cx="4754880" cy="101536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Delivered ≠ active</a:t>
              </a:r>
            </a:p>
          </p:txBody>
        </p:sp>
      </p:grpSp>
      <p:sp>
        <p:nvSpPr>
          <p:cNvPr name="TextBox 39" id="39"/>
          <p:cNvSpPr txBox="true"/>
          <p:nvPr/>
        </p:nvSpPr>
        <p:spPr>
          <a:xfrm rot="0">
            <a:off x="12687300" y="4370070"/>
            <a:ext cx="4457700" cy="1459230"/>
          </a:xfrm>
          <a:prstGeom prst="rect">
            <a:avLst/>
          </a:prstGeom>
        </p:spPr>
        <p:txBody>
          <a:bodyPr anchor="t" rtlCol="false" tIns="0" lIns="0" bIns="0" rIns="0">
            <a:spAutoFit/>
          </a:bodyPr>
          <a:lstStyle/>
          <a:p>
            <a:pPr algn="l">
              <a:lnSpc>
                <a:spcPts val="2070"/>
              </a:lnSpc>
            </a:pPr>
            <a:r>
              <a:rPr lang="en-US" sz="1725">
                <a:solidFill>
                  <a:srgbClr val="4A4A4A"/>
                </a:solidFill>
                <a:latin typeface="Arial"/>
                <a:ea typeface="Arial"/>
                <a:cs typeface="Arial"/>
                <a:sym typeface="Arial"/>
              </a:rPr>
              <a:t>A Soundbox can sit unused. Nobody steps in when the merchant is stuck before the first payment.</a:t>
            </a:r>
          </a:p>
        </p:txBody>
      </p:sp>
      <p:grpSp>
        <p:nvGrpSpPr>
          <p:cNvPr name="Group 40" id="40"/>
          <p:cNvGrpSpPr/>
          <p:nvPr/>
        </p:nvGrpSpPr>
        <p:grpSpPr>
          <a:xfrm rot="0">
            <a:off x="6912293" y="6226492"/>
            <a:ext cx="5103495" cy="2908935"/>
            <a:chOff x="0" y="0"/>
            <a:chExt cx="6804660" cy="3878580"/>
          </a:xfrm>
        </p:grpSpPr>
        <p:sp>
          <p:nvSpPr>
            <p:cNvPr name="Freeform 41" id="41"/>
            <p:cNvSpPr/>
            <p:nvPr/>
          </p:nvSpPr>
          <p:spPr>
            <a:xfrm flipH="false" flipV="false" rot="0">
              <a:off x="0" y="0"/>
              <a:ext cx="6804660" cy="3878580"/>
            </a:xfrm>
            <a:custGeom>
              <a:avLst/>
              <a:gdLst/>
              <a:ahLst/>
              <a:cxnLst/>
              <a:rect r="r" b="b" t="t" l="l"/>
              <a:pathLst>
                <a:path h="3878580" w="6804660">
                  <a:moveTo>
                    <a:pt x="0" y="147828"/>
                  </a:moveTo>
                  <a:cubicBezTo>
                    <a:pt x="0" y="66167"/>
                    <a:pt x="66167" y="0"/>
                    <a:pt x="147828" y="0"/>
                  </a:cubicBezTo>
                  <a:lnTo>
                    <a:pt x="6656832" y="0"/>
                  </a:lnTo>
                  <a:cubicBezTo>
                    <a:pt x="6738493" y="0"/>
                    <a:pt x="6804660" y="66167"/>
                    <a:pt x="6804660" y="147828"/>
                  </a:cubicBezTo>
                  <a:lnTo>
                    <a:pt x="6804660" y="3730752"/>
                  </a:lnTo>
                  <a:cubicBezTo>
                    <a:pt x="6804660" y="3812413"/>
                    <a:pt x="6738493" y="3878580"/>
                    <a:pt x="6656832" y="3878580"/>
                  </a:cubicBezTo>
                  <a:lnTo>
                    <a:pt x="147828" y="3878580"/>
                  </a:lnTo>
                  <a:cubicBezTo>
                    <a:pt x="66167" y="3878580"/>
                    <a:pt x="0" y="3812413"/>
                    <a:pt x="0" y="3730752"/>
                  </a:cubicBezTo>
                  <a:close/>
                </a:path>
              </a:pathLst>
            </a:custGeom>
            <a:solidFill>
              <a:srgbClr val="FFFFFF"/>
            </a:solidFill>
            <a:ln w="28575" cap="sq">
              <a:solidFill>
                <a:srgbClr val="141414"/>
              </a:solidFill>
              <a:prstDash val="solid"/>
              <a:miter/>
            </a:ln>
          </p:spPr>
        </p:sp>
      </p:grpSp>
      <p:grpSp>
        <p:nvGrpSpPr>
          <p:cNvPr name="Group 42" id="42"/>
          <p:cNvGrpSpPr/>
          <p:nvPr/>
        </p:nvGrpSpPr>
        <p:grpSpPr>
          <a:xfrm rot="0">
            <a:off x="7257574" y="6571774"/>
            <a:ext cx="778193" cy="778193"/>
            <a:chOff x="0" y="0"/>
            <a:chExt cx="1037590" cy="1037590"/>
          </a:xfrm>
        </p:grpSpPr>
        <p:sp>
          <p:nvSpPr>
            <p:cNvPr name="Freeform 43" id="4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E4DFFC"/>
            </a:solidFill>
            <a:ln w="23812" cap="sq">
              <a:solidFill>
                <a:srgbClr val="141414"/>
              </a:solidFill>
              <a:prstDash val="solid"/>
              <a:miter/>
            </a:ln>
          </p:spPr>
        </p:sp>
      </p:grpSp>
      <p:grpSp>
        <p:nvGrpSpPr>
          <p:cNvPr name="Group 44" id="44"/>
          <p:cNvGrpSpPr/>
          <p:nvPr/>
        </p:nvGrpSpPr>
        <p:grpSpPr>
          <a:xfrm rot="0">
            <a:off x="7435444" y="6749644"/>
            <a:ext cx="422453" cy="422453"/>
            <a:chOff x="0" y="0"/>
            <a:chExt cx="563270" cy="563270"/>
          </a:xfrm>
        </p:grpSpPr>
        <p:sp>
          <p:nvSpPr>
            <p:cNvPr name="Freeform 45" id="4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6"/>
              <a:stretch>
                <a:fillRect l="0" t="0" r="-4" b="-4"/>
              </a:stretch>
            </a:blipFill>
          </p:spPr>
        </p:sp>
      </p:grpSp>
      <p:grpSp>
        <p:nvGrpSpPr>
          <p:cNvPr name="Group 46" id="46"/>
          <p:cNvGrpSpPr/>
          <p:nvPr/>
        </p:nvGrpSpPr>
        <p:grpSpPr>
          <a:xfrm rot="0">
            <a:off x="8229600" y="6583680"/>
            <a:ext cx="3566160" cy="754380"/>
            <a:chOff x="0" y="0"/>
            <a:chExt cx="4754880" cy="1005840"/>
          </a:xfrm>
        </p:grpSpPr>
        <p:sp>
          <p:nvSpPr>
            <p:cNvPr name="Freeform 47" id="47"/>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48" id="48"/>
            <p:cNvSpPr txBox="true"/>
            <p:nvPr/>
          </p:nvSpPr>
          <p:spPr>
            <a:xfrm>
              <a:off x="0" y="-9525"/>
              <a:ext cx="4754880" cy="101536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Udhaar, stock-outs, cash gaps</a:t>
              </a:r>
            </a:p>
          </p:txBody>
        </p:sp>
      </p:grpSp>
      <p:sp>
        <p:nvSpPr>
          <p:cNvPr name="TextBox 49" id="49"/>
          <p:cNvSpPr txBox="true"/>
          <p:nvPr/>
        </p:nvSpPr>
        <p:spPr>
          <a:xfrm rot="0">
            <a:off x="7269480" y="7524750"/>
            <a:ext cx="4457700" cy="1459230"/>
          </a:xfrm>
          <a:prstGeom prst="rect">
            <a:avLst/>
          </a:prstGeom>
        </p:spPr>
        <p:txBody>
          <a:bodyPr anchor="t" rtlCol="false" tIns="0" lIns="0" bIns="0" rIns="0">
            <a:spAutoFit/>
          </a:bodyPr>
          <a:lstStyle/>
          <a:p>
            <a:pPr algn="l">
              <a:lnSpc>
                <a:spcPts val="2070"/>
              </a:lnSpc>
            </a:pPr>
            <a:r>
              <a:rPr lang="en-US" sz="1725">
                <a:solidFill>
                  <a:srgbClr val="4A4A4A"/>
                </a:solidFill>
                <a:latin typeface="Arial"/>
                <a:ea typeface="Arial"/>
                <a:cs typeface="Arial"/>
                <a:sym typeface="Arial"/>
              </a:rPr>
              <a:t>Informal credit goes unrecovered, festive stock runs out, and loans arrive after the moment has passed.</a:t>
            </a:r>
          </a:p>
        </p:txBody>
      </p:sp>
      <p:grpSp>
        <p:nvGrpSpPr>
          <p:cNvPr name="Group 50" id="50"/>
          <p:cNvGrpSpPr/>
          <p:nvPr/>
        </p:nvGrpSpPr>
        <p:grpSpPr>
          <a:xfrm rot="0">
            <a:off x="12330112" y="6226492"/>
            <a:ext cx="5103495" cy="2908935"/>
            <a:chOff x="0" y="0"/>
            <a:chExt cx="6804660" cy="3878580"/>
          </a:xfrm>
        </p:grpSpPr>
        <p:sp>
          <p:nvSpPr>
            <p:cNvPr name="Freeform 51" id="51"/>
            <p:cNvSpPr/>
            <p:nvPr/>
          </p:nvSpPr>
          <p:spPr>
            <a:xfrm flipH="false" flipV="false" rot="0">
              <a:off x="0" y="0"/>
              <a:ext cx="6804660" cy="3878580"/>
            </a:xfrm>
            <a:custGeom>
              <a:avLst/>
              <a:gdLst/>
              <a:ahLst/>
              <a:cxnLst/>
              <a:rect r="r" b="b" t="t" l="l"/>
              <a:pathLst>
                <a:path h="3878580" w="6804660">
                  <a:moveTo>
                    <a:pt x="0" y="147828"/>
                  </a:moveTo>
                  <a:cubicBezTo>
                    <a:pt x="0" y="66167"/>
                    <a:pt x="66167" y="0"/>
                    <a:pt x="147828" y="0"/>
                  </a:cubicBezTo>
                  <a:lnTo>
                    <a:pt x="6656832" y="0"/>
                  </a:lnTo>
                  <a:cubicBezTo>
                    <a:pt x="6738493" y="0"/>
                    <a:pt x="6804660" y="66167"/>
                    <a:pt x="6804660" y="147828"/>
                  </a:cubicBezTo>
                  <a:lnTo>
                    <a:pt x="6804660" y="3730752"/>
                  </a:lnTo>
                  <a:cubicBezTo>
                    <a:pt x="6804660" y="3812413"/>
                    <a:pt x="6738493" y="3878580"/>
                    <a:pt x="6656832" y="3878580"/>
                  </a:cubicBezTo>
                  <a:lnTo>
                    <a:pt x="147828" y="3878580"/>
                  </a:lnTo>
                  <a:cubicBezTo>
                    <a:pt x="66167" y="3878580"/>
                    <a:pt x="0" y="3812413"/>
                    <a:pt x="0" y="3730752"/>
                  </a:cubicBezTo>
                  <a:close/>
                </a:path>
              </a:pathLst>
            </a:custGeom>
            <a:solidFill>
              <a:srgbClr val="FFFFFF"/>
            </a:solidFill>
            <a:ln w="28575" cap="sq">
              <a:solidFill>
                <a:srgbClr val="141414"/>
              </a:solidFill>
              <a:prstDash val="solid"/>
              <a:miter/>
            </a:ln>
          </p:spPr>
        </p:sp>
      </p:grpSp>
      <p:grpSp>
        <p:nvGrpSpPr>
          <p:cNvPr name="Group 52" id="52"/>
          <p:cNvGrpSpPr/>
          <p:nvPr/>
        </p:nvGrpSpPr>
        <p:grpSpPr>
          <a:xfrm rot="0">
            <a:off x="12675394" y="6571774"/>
            <a:ext cx="778193" cy="778193"/>
            <a:chOff x="0" y="0"/>
            <a:chExt cx="1037590" cy="1037590"/>
          </a:xfrm>
        </p:grpSpPr>
        <p:sp>
          <p:nvSpPr>
            <p:cNvPr name="Freeform 53" id="5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BFE9FB"/>
            </a:solidFill>
            <a:ln w="23812" cap="sq">
              <a:solidFill>
                <a:srgbClr val="141414"/>
              </a:solidFill>
              <a:prstDash val="solid"/>
              <a:miter/>
            </a:ln>
          </p:spPr>
        </p:sp>
      </p:grpSp>
      <p:grpSp>
        <p:nvGrpSpPr>
          <p:cNvPr name="Group 54" id="54"/>
          <p:cNvGrpSpPr/>
          <p:nvPr/>
        </p:nvGrpSpPr>
        <p:grpSpPr>
          <a:xfrm rot="0">
            <a:off x="12853264" y="6749644"/>
            <a:ext cx="422453" cy="422453"/>
            <a:chOff x="0" y="0"/>
            <a:chExt cx="563270" cy="563270"/>
          </a:xfrm>
        </p:grpSpPr>
        <p:sp>
          <p:nvSpPr>
            <p:cNvPr name="Freeform 55" id="5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7"/>
              <a:stretch>
                <a:fillRect l="0" t="0" r="-4" b="-4"/>
              </a:stretch>
            </a:blipFill>
          </p:spPr>
        </p:sp>
      </p:grpSp>
      <p:grpSp>
        <p:nvGrpSpPr>
          <p:cNvPr name="Group 56" id="56"/>
          <p:cNvGrpSpPr/>
          <p:nvPr/>
        </p:nvGrpSpPr>
        <p:grpSpPr>
          <a:xfrm rot="0">
            <a:off x="13647420" y="6583680"/>
            <a:ext cx="3566160" cy="754380"/>
            <a:chOff x="0" y="0"/>
            <a:chExt cx="4754880" cy="1005840"/>
          </a:xfrm>
        </p:grpSpPr>
        <p:sp>
          <p:nvSpPr>
            <p:cNvPr name="Freeform 57" id="57"/>
            <p:cNvSpPr/>
            <p:nvPr/>
          </p:nvSpPr>
          <p:spPr>
            <a:xfrm flipH="false" flipV="false" rot="0">
              <a:off x="0" y="0"/>
              <a:ext cx="4754880" cy="1005840"/>
            </a:xfrm>
            <a:custGeom>
              <a:avLst/>
              <a:gdLst/>
              <a:ahLst/>
              <a:cxnLst/>
              <a:rect r="r" b="b" t="t" l="l"/>
              <a:pathLst>
                <a:path h="1005840" w="4754880">
                  <a:moveTo>
                    <a:pt x="0" y="0"/>
                  </a:moveTo>
                  <a:lnTo>
                    <a:pt x="4754880" y="0"/>
                  </a:lnTo>
                  <a:lnTo>
                    <a:pt x="4754880" y="1005840"/>
                  </a:lnTo>
                  <a:lnTo>
                    <a:pt x="0" y="1005840"/>
                  </a:lnTo>
                  <a:close/>
                </a:path>
              </a:pathLst>
            </a:custGeom>
            <a:blipFill>
              <a:blip r:embed="rId3">
                <a:alphaModFix amt="0"/>
              </a:blip>
              <a:stretch>
                <a:fillRect l="0" t="-42111" r="0" b="-42111"/>
              </a:stretch>
            </a:blipFill>
          </p:spPr>
        </p:sp>
        <p:sp>
          <p:nvSpPr>
            <p:cNvPr name="TextBox 58" id="58"/>
            <p:cNvSpPr txBox="true"/>
            <p:nvPr/>
          </p:nvSpPr>
          <p:spPr>
            <a:xfrm>
              <a:off x="0" y="-9525"/>
              <a:ext cx="4754880" cy="101536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Built for English &amp; desks</a:t>
              </a:r>
            </a:p>
          </p:txBody>
        </p:sp>
      </p:grpSp>
      <p:sp>
        <p:nvSpPr>
          <p:cNvPr name="TextBox 59" id="59"/>
          <p:cNvSpPr txBox="true"/>
          <p:nvPr/>
        </p:nvSpPr>
        <p:spPr>
          <a:xfrm rot="0">
            <a:off x="12687300" y="7524750"/>
            <a:ext cx="4457700" cy="1459230"/>
          </a:xfrm>
          <a:prstGeom prst="rect">
            <a:avLst/>
          </a:prstGeom>
        </p:spPr>
        <p:txBody>
          <a:bodyPr anchor="t" rtlCol="false" tIns="0" lIns="0" bIns="0" rIns="0">
            <a:spAutoFit/>
          </a:bodyPr>
          <a:lstStyle/>
          <a:p>
            <a:pPr algn="l">
              <a:lnSpc>
                <a:spcPts val="2070"/>
              </a:lnSpc>
            </a:pPr>
            <a:r>
              <a:rPr lang="en-US" sz="1725">
                <a:solidFill>
                  <a:srgbClr val="4A4A4A"/>
                </a:solidFill>
                <a:latin typeface="Arial"/>
                <a:ea typeface="Arial"/>
                <a:cs typeface="Arial"/>
                <a:sym typeface="Arial"/>
              </a:rPr>
              <a:t>Merchants speak many languages, live on WhatsApp and have patchy connectivity. Customer PII must stay safe.</a:t>
            </a:r>
          </a:p>
        </p:txBody>
      </p:sp>
      <p:grpSp>
        <p:nvGrpSpPr>
          <p:cNvPr name="Group 60" id="60"/>
          <p:cNvGrpSpPr/>
          <p:nvPr/>
        </p:nvGrpSpPr>
        <p:grpSpPr>
          <a:xfrm rot="0">
            <a:off x="6926580" y="9162288"/>
            <a:ext cx="10561320" cy="342900"/>
            <a:chOff x="0" y="0"/>
            <a:chExt cx="14081760" cy="457200"/>
          </a:xfrm>
        </p:grpSpPr>
        <p:sp>
          <p:nvSpPr>
            <p:cNvPr name="Freeform 61" id="61"/>
            <p:cNvSpPr/>
            <p:nvPr/>
          </p:nvSpPr>
          <p:spPr>
            <a:xfrm flipH="false" flipV="false" rot="0">
              <a:off x="0" y="0"/>
              <a:ext cx="14081761" cy="457200"/>
            </a:xfrm>
            <a:custGeom>
              <a:avLst/>
              <a:gdLst/>
              <a:ahLst/>
              <a:cxnLst/>
              <a:rect r="r" b="b" t="t" l="l"/>
              <a:pathLst>
                <a:path h="457200" w="14081761">
                  <a:moveTo>
                    <a:pt x="0" y="0"/>
                  </a:moveTo>
                  <a:lnTo>
                    <a:pt x="14081761" y="0"/>
                  </a:lnTo>
                  <a:lnTo>
                    <a:pt x="14081761" y="457200"/>
                  </a:lnTo>
                  <a:lnTo>
                    <a:pt x="0" y="457200"/>
                  </a:lnTo>
                  <a:close/>
                </a:path>
              </a:pathLst>
            </a:custGeom>
            <a:blipFill>
              <a:blip r:embed="rId3">
                <a:alphaModFix amt="0"/>
              </a:blip>
              <a:stretch>
                <a:fillRect l="0" t="-550139" r="0" b="-550139"/>
              </a:stretch>
            </a:blipFill>
          </p:spPr>
        </p:sp>
        <p:sp>
          <p:nvSpPr>
            <p:cNvPr name="TextBox 62" id="62"/>
            <p:cNvSpPr txBox="true"/>
            <p:nvPr/>
          </p:nvSpPr>
          <p:spPr>
            <a:xfrm>
              <a:off x="0" y="-19050"/>
              <a:ext cx="14081760" cy="476250"/>
            </a:xfrm>
            <a:prstGeom prst="rect">
              <a:avLst/>
            </a:prstGeom>
          </p:spPr>
          <p:txBody>
            <a:bodyPr anchor="ctr" rtlCol="false" tIns="0" lIns="0" bIns="0" rIns="0"/>
            <a:lstStyle/>
            <a:p>
              <a:pPr algn="l">
                <a:lnSpc>
                  <a:spcPts val="1530"/>
                </a:lnSpc>
              </a:pPr>
              <a:r>
                <a:rPr lang="en-US" sz="1275" i="true">
                  <a:solidFill>
                    <a:srgbClr val="4A4A4A"/>
                  </a:solidFill>
                  <a:latin typeface="Arial Italics"/>
                  <a:ea typeface="Arial Italics"/>
                  <a:cs typeface="Arial Italics"/>
                  <a:sym typeface="Arial Italics"/>
                </a:rPr>
                <a:t>Sources: Accenture/Nielsen via Cornell (2026); SIDBI MSME report (2025); NPCI data via Business Standard (Sep 2026).</a:t>
              </a:r>
            </a:p>
          </p:txBody>
        </p:sp>
      </p:grpSp>
      <p:grpSp>
        <p:nvGrpSpPr>
          <p:cNvPr name="Group 63" id="63"/>
          <p:cNvGrpSpPr/>
          <p:nvPr/>
        </p:nvGrpSpPr>
        <p:grpSpPr>
          <a:xfrm rot="0">
            <a:off x="15518292" y="427006"/>
            <a:ext cx="2232517" cy="874205"/>
            <a:chOff x="0" y="0"/>
            <a:chExt cx="2976690" cy="1165606"/>
          </a:xfrm>
        </p:grpSpPr>
        <p:sp>
          <p:nvSpPr>
            <p:cNvPr name="Freeform 64" id="64"/>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65" id="65"/>
          <p:cNvGrpSpPr/>
          <p:nvPr/>
        </p:nvGrpSpPr>
        <p:grpSpPr>
          <a:xfrm rot="0">
            <a:off x="15804518" y="603504"/>
            <a:ext cx="1660065" cy="521208"/>
            <a:chOff x="0" y="0"/>
            <a:chExt cx="2213420" cy="694944"/>
          </a:xfrm>
        </p:grpSpPr>
        <p:sp>
          <p:nvSpPr>
            <p:cNvPr name="Freeform 66" id="66"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8"/>
              <a:stretch>
                <a:fillRect l="0" t="0" r="-2" b="0"/>
              </a:stretch>
            </a:blipFill>
          </p:spPr>
        </p:sp>
      </p:grpSp>
      <p:grpSp>
        <p:nvGrpSpPr>
          <p:cNvPr name="Group 67" id="67"/>
          <p:cNvGrpSpPr/>
          <p:nvPr/>
        </p:nvGrpSpPr>
        <p:grpSpPr>
          <a:xfrm rot="0">
            <a:off x="822960" y="9628632"/>
            <a:ext cx="9601200" cy="384048"/>
            <a:chOff x="0" y="0"/>
            <a:chExt cx="12801600" cy="512064"/>
          </a:xfrm>
        </p:grpSpPr>
        <p:sp>
          <p:nvSpPr>
            <p:cNvPr name="Freeform 68" id="68"/>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69" id="69"/>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70" id="70"/>
          <p:cNvGrpSpPr/>
          <p:nvPr/>
        </p:nvGrpSpPr>
        <p:grpSpPr>
          <a:xfrm rot="0">
            <a:off x="16733520" y="9628632"/>
            <a:ext cx="754380" cy="384048"/>
            <a:chOff x="0" y="0"/>
            <a:chExt cx="1005840" cy="512064"/>
          </a:xfrm>
        </p:grpSpPr>
        <p:sp>
          <p:nvSpPr>
            <p:cNvPr name="Freeform 71" id="71"/>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72" id="72"/>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02</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02 · PROPOSED SOLUTION</a:t>
              </a:r>
            </a:p>
          </p:txBody>
        </p:sp>
      </p:grpSp>
      <p:sp>
        <p:nvSpPr>
          <p:cNvPr name="TextBox 5" id="5"/>
          <p:cNvSpPr txBox="true"/>
          <p:nvPr/>
        </p:nvSpPr>
        <p:spPr>
          <a:xfrm rot="0">
            <a:off x="822960" y="968502"/>
            <a:ext cx="16733520" cy="1253490"/>
          </a:xfrm>
          <a:prstGeom prst="rect">
            <a:avLst/>
          </a:prstGeom>
        </p:spPr>
        <p:txBody>
          <a:bodyPr anchor="t" rtlCol="false" tIns="0" lIns="0" bIns="0" rIns="0">
            <a:spAutoFit/>
          </a:bodyPr>
          <a:lstStyle/>
          <a:p>
            <a:pPr algn="l">
              <a:lnSpc>
                <a:spcPts val="5759"/>
              </a:lnSpc>
            </a:pPr>
            <a:r>
              <a:rPr lang="en-US" sz="4800" b="true">
                <a:solidFill>
                  <a:srgbClr val="141414"/>
                </a:solidFill>
                <a:latin typeface="Arial Bold"/>
                <a:ea typeface="Arial Bold"/>
                <a:cs typeface="Arial Bold"/>
                <a:sym typeface="Arial Bold"/>
              </a:rPr>
              <a:t>A TEAM OF AI AGENTS THAT RUNS THE</a:t>
            </a:r>
          </a:p>
          <a:p>
            <a:pPr algn="l">
              <a:lnSpc>
                <a:spcPts val="5759"/>
              </a:lnSpc>
            </a:pPr>
            <a:r>
              <a:rPr lang="en-US" sz="4800" b="true">
                <a:solidFill>
                  <a:srgbClr val="141414"/>
                </a:solidFill>
                <a:latin typeface="Arial Bold"/>
                <a:ea typeface="Arial Bold"/>
                <a:cs typeface="Arial Bold"/>
                <a:sym typeface="Arial Bold"/>
              </a:rPr>
              <a:t>WHOLE MERCHANT LIFECYCLE</a:t>
            </a:r>
          </a:p>
        </p:txBody>
      </p:sp>
      <p:grpSp>
        <p:nvGrpSpPr>
          <p:cNvPr name="Group 6" id="6"/>
          <p:cNvGrpSpPr/>
          <p:nvPr/>
        </p:nvGrpSpPr>
        <p:grpSpPr>
          <a:xfrm rot="0">
            <a:off x="808672" y="3003233"/>
            <a:ext cx="16666083" cy="988695"/>
            <a:chOff x="0" y="0"/>
            <a:chExt cx="22221444" cy="1318260"/>
          </a:xfrm>
        </p:grpSpPr>
        <p:sp>
          <p:nvSpPr>
            <p:cNvPr name="Freeform 7" id="7"/>
            <p:cNvSpPr/>
            <p:nvPr/>
          </p:nvSpPr>
          <p:spPr>
            <a:xfrm flipH="false" flipV="false" rot="0">
              <a:off x="0" y="0"/>
              <a:ext cx="22221444" cy="1318260"/>
            </a:xfrm>
            <a:custGeom>
              <a:avLst/>
              <a:gdLst/>
              <a:ahLst/>
              <a:cxnLst/>
              <a:rect r="r" b="b" t="t" l="l"/>
              <a:pathLst>
                <a:path h="1318260" w="22221444">
                  <a:moveTo>
                    <a:pt x="0" y="188341"/>
                  </a:moveTo>
                  <a:cubicBezTo>
                    <a:pt x="0" y="84328"/>
                    <a:pt x="84328" y="0"/>
                    <a:pt x="188341" y="0"/>
                  </a:cubicBezTo>
                  <a:lnTo>
                    <a:pt x="22033103" y="0"/>
                  </a:lnTo>
                  <a:cubicBezTo>
                    <a:pt x="22137117" y="0"/>
                    <a:pt x="22221444" y="84328"/>
                    <a:pt x="22221444" y="188341"/>
                  </a:cubicBezTo>
                  <a:lnTo>
                    <a:pt x="22221444" y="1129919"/>
                  </a:lnTo>
                  <a:cubicBezTo>
                    <a:pt x="22221444" y="1233932"/>
                    <a:pt x="22137117" y="1318260"/>
                    <a:pt x="22033103" y="1318260"/>
                  </a:cubicBezTo>
                  <a:lnTo>
                    <a:pt x="188341" y="1318260"/>
                  </a:lnTo>
                  <a:cubicBezTo>
                    <a:pt x="84328" y="1318260"/>
                    <a:pt x="0" y="1233932"/>
                    <a:pt x="0" y="1129919"/>
                  </a:cubicBezTo>
                  <a:close/>
                </a:path>
              </a:pathLst>
            </a:custGeom>
            <a:solidFill>
              <a:srgbClr val="A99CF5"/>
            </a:solidFill>
            <a:ln w="28575" cap="sq">
              <a:solidFill>
                <a:srgbClr val="141414"/>
              </a:solidFill>
              <a:prstDash val="solid"/>
              <a:miter/>
            </a:ln>
          </p:spPr>
        </p:sp>
      </p:grpSp>
      <p:grpSp>
        <p:nvGrpSpPr>
          <p:cNvPr name="Group 8" id="8"/>
          <p:cNvGrpSpPr/>
          <p:nvPr/>
        </p:nvGrpSpPr>
        <p:grpSpPr>
          <a:xfrm rot="0">
            <a:off x="1165860" y="3236976"/>
            <a:ext cx="521208" cy="521208"/>
            <a:chOff x="0" y="0"/>
            <a:chExt cx="694944" cy="694944"/>
          </a:xfrm>
        </p:grpSpPr>
        <p:sp>
          <p:nvSpPr>
            <p:cNvPr name="Freeform 9" id="9"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4"/>
              <a:stretch>
                <a:fillRect l="0" t="0" r="0" b="0"/>
              </a:stretch>
            </a:blipFill>
          </p:spPr>
        </p:sp>
      </p:grpSp>
      <p:grpSp>
        <p:nvGrpSpPr>
          <p:cNvPr name="Group 10" id="10"/>
          <p:cNvGrpSpPr/>
          <p:nvPr/>
        </p:nvGrpSpPr>
        <p:grpSpPr>
          <a:xfrm rot="0">
            <a:off x="1920240" y="3017520"/>
            <a:ext cx="15224760" cy="960120"/>
            <a:chOff x="0" y="0"/>
            <a:chExt cx="20299680" cy="1280160"/>
          </a:xfrm>
        </p:grpSpPr>
        <p:sp>
          <p:nvSpPr>
            <p:cNvPr name="Freeform 11" id="11"/>
            <p:cNvSpPr/>
            <p:nvPr/>
          </p:nvSpPr>
          <p:spPr>
            <a:xfrm flipH="false" flipV="false" rot="0">
              <a:off x="0" y="0"/>
              <a:ext cx="20299680" cy="1280160"/>
            </a:xfrm>
            <a:custGeom>
              <a:avLst/>
              <a:gdLst/>
              <a:ahLst/>
              <a:cxnLst/>
              <a:rect r="r" b="b" t="t" l="l"/>
              <a:pathLst>
                <a:path h="1280160" w="20299680">
                  <a:moveTo>
                    <a:pt x="0" y="0"/>
                  </a:moveTo>
                  <a:lnTo>
                    <a:pt x="20299680" y="0"/>
                  </a:lnTo>
                  <a:lnTo>
                    <a:pt x="20299680" y="1280160"/>
                  </a:lnTo>
                  <a:lnTo>
                    <a:pt x="0" y="1280160"/>
                  </a:lnTo>
                  <a:close/>
                </a:path>
              </a:pathLst>
            </a:custGeom>
            <a:blipFill>
              <a:blip r:embed="rId3">
                <a:alphaModFix amt="0"/>
              </a:blip>
              <a:stretch>
                <a:fillRect l="0" t="-258977" r="0" b="-258977"/>
              </a:stretch>
            </a:blipFill>
          </p:spPr>
        </p:sp>
        <p:sp>
          <p:nvSpPr>
            <p:cNvPr name="TextBox 12" id="12"/>
            <p:cNvSpPr txBox="true"/>
            <p:nvPr/>
          </p:nvSpPr>
          <p:spPr>
            <a:xfrm>
              <a:off x="0" y="-28575"/>
              <a:ext cx="20299680" cy="1308735"/>
            </a:xfrm>
            <a:prstGeom prst="rect">
              <a:avLst/>
            </a:prstGeom>
          </p:spPr>
          <p:txBody>
            <a:bodyPr anchor="ctr" rtlCol="false" tIns="0" lIns="0" bIns="0" rIns="0"/>
            <a:lstStyle/>
            <a:p>
              <a:pPr algn="l">
                <a:lnSpc>
                  <a:spcPts val="2250"/>
                </a:lnSpc>
              </a:pPr>
              <a:r>
                <a:rPr lang="en-US" sz="1875" b="true">
                  <a:solidFill>
                    <a:srgbClr val="141414"/>
                  </a:solidFill>
                  <a:latin typeface="Arial Bold"/>
                  <a:ea typeface="Arial Bold"/>
                  <a:cs typeface="Arial Bold"/>
                  <a:sym typeface="Arial Bold"/>
                </a:rPr>
                <a:t>RevOps Commander  </a:t>
              </a:r>
              <a:r>
                <a:rPr lang="en-US" sz="1875">
                  <a:solidFill>
                    <a:srgbClr val="141414"/>
                  </a:solidFill>
                  <a:latin typeface="Arial"/>
                  <a:ea typeface="Arial"/>
                  <a:cs typeface="Arial"/>
                  <a:sym typeface="Arial"/>
                </a:rPr>
                <a:t>plans every morning: moves field agents, devices and budget to balance GMV, CAC, time-to-first-txn and compliance</a:t>
              </a:r>
            </a:p>
          </p:txBody>
        </p:sp>
      </p:grpSp>
      <p:grpSp>
        <p:nvGrpSpPr>
          <p:cNvPr name="Group 13" id="13"/>
          <p:cNvGrpSpPr/>
          <p:nvPr/>
        </p:nvGrpSpPr>
        <p:grpSpPr>
          <a:xfrm rot="0">
            <a:off x="808672" y="4237672"/>
            <a:ext cx="2634615" cy="3114675"/>
            <a:chOff x="0" y="0"/>
            <a:chExt cx="3512820" cy="4152900"/>
          </a:xfrm>
        </p:grpSpPr>
        <p:sp>
          <p:nvSpPr>
            <p:cNvPr name="Freeform 14" id="14"/>
            <p:cNvSpPr/>
            <p:nvPr/>
          </p:nvSpPr>
          <p:spPr>
            <a:xfrm flipH="false" flipV="false" rot="0">
              <a:off x="0" y="0"/>
              <a:ext cx="3512820" cy="4152900"/>
            </a:xfrm>
            <a:custGeom>
              <a:avLst/>
              <a:gdLst/>
              <a:ahLst/>
              <a:cxnLst/>
              <a:rect r="r" b="b" t="t" l="l"/>
              <a:pathLst>
                <a:path h="4152900" w="3512820">
                  <a:moveTo>
                    <a:pt x="0" y="147955"/>
                  </a:moveTo>
                  <a:cubicBezTo>
                    <a:pt x="0" y="66167"/>
                    <a:pt x="66167" y="0"/>
                    <a:pt x="147955" y="0"/>
                  </a:cubicBezTo>
                  <a:lnTo>
                    <a:pt x="3364865" y="0"/>
                  </a:lnTo>
                  <a:cubicBezTo>
                    <a:pt x="3446526" y="0"/>
                    <a:pt x="3512820" y="66167"/>
                    <a:pt x="3512820" y="147955"/>
                  </a:cubicBezTo>
                  <a:lnTo>
                    <a:pt x="3512820" y="4004945"/>
                  </a:lnTo>
                  <a:cubicBezTo>
                    <a:pt x="3512820" y="4086606"/>
                    <a:pt x="3446653" y="4152900"/>
                    <a:pt x="3364865" y="4152900"/>
                  </a:cubicBezTo>
                  <a:lnTo>
                    <a:pt x="147955" y="4152900"/>
                  </a:lnTo>
                  <a:cubicBezTo>
                    <a:pt x="66167" y="4152900"/>
                    <a:pt x="0" y="4086733"/>
                    <a:pt x="0" y="4004945"/>
                  </a:cubicBezTo>
                  <a:close/>
                </a:path>
              </a:pathLst>
            </a:custGeom>
            <a:solidFill>
              <a:srgbClr val="FFF1A8"/>
            </a:solidFill>
            <a:ln w="28575" cap="sq">
              <a:solidFill>
                <a:srgbClr val="141414"/>
              </a:solidFill>
              <a:prstDash val="solid"/>
              <a:miter/>
            </a:ln>
          </p:spPr>
        </p:sp>
      </p:grpSp>
      <p:grpSp>
        <p:nvGrpSpPr>
          <p:cNvPr name="Group 15" id="15"/>
          <p:cNvGrpSpPr/>
          <p:nvPr/>
        </p:nvGrpSpPr>
        <p:grpSpPr>
          <a:xfrm rot="0">
            <a:off x="1087755" y="4516755"/>
            <a:ext cx="773430" cy="773430"/>
            <a:chOff x="0" y="0"/>
            <a:chExt cx="1031240" cy="1031240"/>
          </a:xfrm>
        </p:grpSpPr>
        <p:sp>
          <p:nvSpPr>
            <p:cNvPr name="Freeform 16" id="16"/>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FFFF"/>
            </a:solidFill>
            <a:ln w="19050" cap="sq">
              <a:solidFill>
                <a:srgbClr val="141414"/>
              </a:solidFill>
              <a:prstDash val="solid"/>
              <a:miter/>
            </a:ln>
          </p:spPr>
        </p:sp>
      </p:grpSp>
      <p:grpSp>
        <p:nvGrpSpPr>
          <p:cNvPr name="Group 17" id="17"/>
          <p:cNvGrpSpPr/>
          <p:nvPr/>
        </p:nvGrpSpPr>
        <p:grpSpPr>
          <a:xfrm rot="0">
            <a:off x="1275588" y="4704588"/>
            <a:ext cx="397764" cy="397764"/>
            <a:chOff x="0" y="0"/>
            <a:chExt cx="530352" cy="530352"/>
          </a:xfrm>
        </p:grpSpPr>
        <p:sp>
          <p:nvSpPr>
            <p:cNvPr name="Freeform 18" id="18" descr="preencoded.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5"/>
              <a:stretch>
                <a:fillRect l="0" t="0" r="0" b="0"/>
              </a:stretch>
            </a:blipFill>
          </p:spPr>
        </p:sp>
      </p:grpSp>
      <p:grpSp>
        <p:nvGrpSpPr>
          <p:cNvPr name="Group 19" id="19"/>
          <p:cNvGrpSpPr/>
          <p:nvPr/>
        </p:nvGrpSpPr>
        <p:grpSpPr>
          <a:xfrm rot="0">
            <a:off x="1988820" y="4526280"/>
            <a:ext cx="1371600" cy="754380"/>
            <a:chOff x="0" y="0"/>
            <a:chExt cx="1828800" cy="1005840"/>
          </a:xfrm>
        </p:grpSpPr>
        <p:sp>
          <p:nvSpPr>
            <p:cNvPr name="Freeform 20" id="20"/>
            <p:cNvSpPr/>
            <p:nvPr/>
          </p:nvSpPr>
          <p:spPr>
            <a:xfrm flipH="false" flipV="false" rot="0">
              <a:off x="0" y="0"/>
              <a:ext cx="1828800" cy="1005840"/>
            </a:xfrm>
            <a:custGeom>
              <a:avLst/>
              <a:gdLst/>
              <a:ahLst/>
              <a:cxnLst/>
              <a:rect r="r" b="b" t="t" l="l"/>
              <a:pathLst>
                <a:path h="1005840" w="1828800">
                  <a:moveTo>
                    <a:pt x="0" y="0"/>
                  </a:moveTo>
                  <a:lnTo>
                    <a:pt x="1828800" y="0"/>
                  </a:lnTo>
                  <a:lnTo>
                    <a:pt x="1828800" y="1005840"/>
                  </a:lnTo>
                  <a:lnTo>
                    <a:pt x="0" y="1005840"/>
                  </a:lnTo>
                  <a:close/>
                </a:path>
              </a:pathLst>
            </a:custGeom>
            <a:blipFill>
              <a:blip r:embed="rId3">
                <a:alphaModFix amt="0"/>
              </a:blip>
              <a:stretch>
                <a:fillRect l="-20566" t="0" r="-20566" b="0"/>
              </a:stretch>
            </a:blipFill>
          </p:spPr>
        </p:sp>
        <p:sp>
          <p:nvSpPr>
            <p:cNvPr name="TextBox 21" id="21"/>
            <p:cNvSpPr txBox="true"/>
            <p:nvPr/>
          </p:nvSpPr>
          <p:spPr>
            <a:xfrm>
              <a:off x="0" y="-19050"/>
              <a:ext cx="1828800" cy="1024890"/>
            </a:xfrm>
            <a:prstGeom prst="rect">
              <a:avLst/>
            </a:prstGeom>
          </p:spPr>
          <p:txBody>
            <a:bodyPr anchor="ctr" rtlCol="false" tIns="0" lIns="0" bIns="0" rIns="0"/>
            <a:lstStyle/>
            <a:p>
              <a:pPr algn="l">
                <a:lnSpc>
                  <a:spcPts val="2340"/>
                </a:lnSpc>
              </a:pPr>
              <a:r>
                <a:rPr lang="en-US" sz="1950" b="true">
                  <a:solidFill>
                    <a:srgbClr val="141414"/>
                  </a:solidFill>
                  <a:latin typeface="Arial Bold"/>
                  <a:ea typeface="Arial Bold"/>
                  <a:cs typeface="Arial Bold"/>
                  <a:sym typeface="Arial Bold"/>
                </a:rPr>
                <a:t>FIND</a:t>
              </a:r>
            </a:p>
          </p:txBody>
        </p:sp>
      </p:grpSp>
      <p:grpSp>
        <p:nvGrpSpPr>
          <p:cNvPr name="Group 22" id="22"/>
          <p:cNvGrpSpPr/>
          <p:nvPr/>
        </p:nvGrpSpPr>
        <p:grpSpPr>
          <a:xfrm rot="0">
            <a:off x="1097280" y="5417820"/>
            <a:ext cx="2194560" cy="411480"/>
            <a:chOff x="0" y="0"/>
            <a:chExt cx="2926080" cy="548640"/>
          </a:xfrm>
        </p:grpSpPr>
        <p:sp>
          <p:nvSpPr>
            <p:cNvPr name="Freeform 23" id="23"/>
            <p:cNvSpPr/>
            <p:nvPr/>
          </p:nvSpPr>
          <p:spPr>
            <a:xfrm flipH="false" flipV="false" rot="0">
              <a:off x="0" y="0"/>
              <a:ext cx="2926080" cy="548640"/>
            </a:xfrm>
            <a:custGeom>
              <a:avLst/>
              <a:gdLst/>
              <a:ahLst/>
              <a:cxnLst/>
              <a:rect r="r" b="b" t="t" l="l"/>
              <a:pathLst>
                <a:path h="548640" w="2926080">
                  <a:moveTo>
                    <a:pt x="0" y="0"/>
                  </a:moveTo>
                  <a:lnTo>
                    <a:pt x="2926080" y="0"/>
                  </a:lnTo>
                  <a:lnTo>
                    <a:pt x="2926080" y="548640"/>
                  </a:lnTo>
                  <a:lnTo>
                    <a:pt x="0" y="548640"/>
                  </a:lnTo>
                  <a:close/>
                </a:path>
              </a:pathLst>
            </a:custGeom>
            <a:blipFill>
              <a:blip r:embed="rId3">
                <a:alphaModFix amt="0"/>
              </a:blip>
              <a:stretch>
                <a:fillRect l="0" t="-53920" r="0" b="-53920"/>
              </a:stretch>
            </a:blipFill>
          </p:spPr>
        </p:sp>
        <p:sp>
          <p:nvSpPr>
            <p:cNvPr name="TextBox 24" id="24"/>
            <p:cNvSpPr txBox="true"/>
            <p:nvPr/>
          </p:nvSpPr>
          <p:spPr>
            <a:xfrm>
              <a:off x="0" y="-19050"/>
              <a:ext cx="2926080" cy="567690"/>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Hunter</a:t>
              </a:r>
            </a:p>
          </p:txBody>
        </p:sp>
      </p:grpSp>
      <p:sp>
        <p:nvSpPr>
          <p:cNvPr name="TextBox 25" id="25"/>
          <p:cNvSpPr txBox="true"/>
          <p:nvPr/>
        </p:nvSpPr>
        <p:spPr>
          <a:xfrm rot="0">
            <a:off x="1097280" y="5810250"/>
            <a:ext cx="2194560" cy="1390650"/>
          </a:xfrm>
          <a:prstGeom prst="rect">
            <a:avLst/>
          </a:prstGeom>
        </p:spPr>
        <p:txBody>
          <a:bodyPr anchor="t" rtlCol="false" tIns="0" lIns="0" bIns="0" rIns="0">
            <a:spAutoFit/>
          </a:bodyPr>
          <a:lstStyle/>
          <a:p>
            <a:pPr algn="l">
              <a:lnSpc>
                <a:spcPts val="1800"/>
              </a:lnSpc>
            </a:pPr>
            <a:r>
              <a:rPr lang="en-US" sz="1500">
                <a:solidFill>
                  <a:srgbClr val="141414"/>
                </a:solidFill>
                <a:latin typeface="Arial"/>
                <a:ea typeface="Arial"/>
                <a:cs typeface="Arial"/>
                <a:sym typeface="Arial"/>
              </a:rPr>
              <a:t>Scores leads without PII, picks the best outreach channel</a:t>
            </a:r>
          </a:p>
        </p:txBody>
      </p:sp>
      <p:grpSp>
        <p:nvGrpSpPr>
          <p:cNvPr name="Group 26" id="26"/>
          <p:cNvGrpSpPr/>
          <p:nvPr/>
        </p:nvGrpSpPr>
        <p:grpSpPr>
          <a:xfrm rot="0">
            <a:off x="3620453" y="4237672"/>
            <a:ext cx="2634615" cy="3114675"/>
            <a:chOff x="0" y="0"/>
            <a:chExt cx="3512820" cy="4152900"/>
          </a:xfrm>
        </p:grpSpPr>
        <p:sp>
          <p:nvSpPr>
            <p:cNvPr name="Freeform 27" id="27"/>
            <p:cNvSpPr/>
            <p:nvPr/>
          </p:nvSpPr>
          <p:spPr>
            <a:xfrm flipH="false" flipV="false" rot="0">
              <a:off x="0" y="0"/>
              <a:ext cx="3512820" cy="4152900"/>
            </a:xfrm>
            <a:custGeom>
              <a:avLst/>
              <a:gdLst/>
              <a:ahLst/>
              <a:cxnLst/>
              <a:rect r="r" b="b" t="t" l="l"/>
              <a:pathLst>
                <a:path h="4152900" w="3512820">
                  <a:moveTo>
                    <a:pt x="0" y="147955"/>
                  </a:moveTo>
                  <a:cubicBezTo>
                    <a:pt x="0" y="66167"/>
                    <a:pt x="66167" y="0"/>
                    <a:pt x="147955" y="0"/>
                  </a:cubicBezTo>
                  <a:lnTo>
                    <a:pt x="3364865" y="0"/>
                  </a:lnTo>
                  <a:cubicBezTo>
                    <a:pt x="3446526" y="0"/>
                    <a:pt x="3512820" y="66167"/>
                    <a:pt x="3512820" y="147955"/>
                  </a:cubicBezTo>
                  <a:lnTo>
                    <a:pt x="3512820" y="4004945"/>
                  </a:lnTo>
                  <a:cubicBezTo>
                    <a:pt x="3512820" y="4086606"/>
                    <a:pt x="3446653" y="4152900"/>
                    <a:pt x="3364865" y="4152900"/>
                  </a:cubicBezTo>
                  <a:lnTo>
                    <a:pt x="147955" y="4152900"/>
                  </a:lnTo>
                  <a:cubicBezTo>
                    <a:pt x="66167" y="4152900"/>
                    <a:pt x="0" y="4086733"/>
                    <a:pt x="0" y="4004945"/>
                  </a:cubicBezTo>
                  <a:close/>
                </a:path>
              </a:pathLst>
            </a:custGeom>
            <a:solidFill>
              <a:srgbClr val="BFEBD3"/>
            </a:solidFill>
            <a:ln w="28575" cap="sq">
              <a:solidFill>
                <a:srgbClr val="141414"/>
              </a:solidFill>
              <a:prstDash val="solid"/>
              <a:miter/>
            </a:ln>
          </p:spPr>
        </p:sp>
      </p:grpSp>
      <p:grpSp>
        <p:nvGrpSpPr>
          <p:cNvPr name="Group 28" id="28"/>
          <p:cNvGrpSpPr/>
          <p:nvPr/>
        </p:nvGrpSpPr>
        <p:grpSpPr>
          <a:xfrm rot="0">
            <a:off x="3899535" y="4516755"/>
            <a:ext cx="773430" cy="773430"/>
            <a:chOff x="0" y="0"/>
            <a:chExt cx="1031240" cy="1031240"/>
          </a:xfrm>
        </p:grpSpPr>
        <p:sp>
          <p:nvSpPr>
            <p:cNvPr name="Freeform 29" id="29"/>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FFFF"/>
            </a:solidFill>
            <a:ln w="19050" cap="sq">
              <a:solidFill>
                <a:srgbClr val="141414"/>
              </a:solidFill>
              <a:prstDash val="solid"/>
              <a:miter/>
            </a:ln>
          </p:spPr>
        </p:sp>
      </p:grpSp>
      <p:grpSp>
        <p:nvGrpSpPr>
          <p:cNvPr name="Group 30" id="30"/>
          <p:cNvGrpSpPr/>
          <p:nvPr/>
        </p:nvGrpSpPr>
        <p:grpSpPr>
          <a:xfrm rot="0">
            <a:off x="4087368" y="4704588"/>
            <a:ext cx="397764" cy="397764"/>
            <a:chOff x="0" y="0"/>
            <a:chExt cx="530352" cy="530352"/>
          </a:xfrm>
        </p:grpSpPr>
        <p:sp>
          <p:nvSpPr>
            <p:cNvPr name="Freeform 31" id="31" descr="preencoded.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6"/>
              <a:stretch>
                <a:fillRect l="0" t="0" r="0" b="0"/>
              </a:stretch>
            </a:blipFill>
          </p:spPr>
        </p:sp>
      </p:grpSp>
      <p:grpSp>
        <p:nvGrpSpPr>
          <p:cNvPr name="Group 32" id="32"/>
          <p:cNvGrpSpPr/>
          <p:nvPr/>
        </p:nvGrpSpPr>
        <p:grpSpPr>
          <a:xfrm rot="0">
            <a:off x="4800600" y="4526280"/>
            <a:ext cx="1371600" cy="754380"/>
            <a:chOff x="0" y="0"/>
            <a:chExt cx="1828800" cy="1005840"/>
          </a:xfrm>
        </p:grpSpPr>
        <p:sp>
          <p:nvSpPr>
            <p:cNvPr name="Freeform 33" id="33"/>
            <p:cNvSpPr/>
            <p:nvPr/>
          </p:nvSpPr>
          <p:spPr>
            <a:xfrm flipH="false" flipV="false" rot="0">
              <a:off x="0" y="0"/>
              <a:ext cx="1828800" cy="1005840"/>
            </a:xfrm>
            <a:custGeom>
              <a:avLst/>
              <a:gdLst/>
              <a:ahLst/>
              <a:cxnLst/>
              <a:rect r="r" b="b" t="t" l="l"/>
              <a:pathLst>
                <a:path h="1005840" w="1828800">
                  <a:moveTo>
                    <a:pt x="0" y="0"/>
                  </a:moveTo>
                  <a:lnTo>
                    <a:pt x="1828800" y="0"/>
                  </a:lnTo>
                  <a:lnTo>
                    <a:pt x="1828800" y="1005840"/>
                  </a:lnTo>
                  <a:lnTo>
                    <a:pt x="0" y="1005840"/>
                  </a:lnTo>
                  <a:close/>
                </a:path>
              </a:pathLst>
            </a:custGeom>
            <a:blipFill>
              <a:blip r:embed="rId3">
                <a:alphaModFix amt="0"/>
              </a:blip>
              <a:stretch>
                <a:fillRect l="-20566" t="0" r="-20566" b="0"/>
              </a:stretch>
            </a:blipFill>
          </p:spPr>
        </p:sp>
        <p:sp>
          <p:nvSpPr>
            <p:cNvPr name="TextBox 34" id="34"/>
            <p:cNvSpPr txBox="true"/>
            <p:nvPr/>
          </p:nvSpPr>
          <p:spPr>
            <a:xfrm>
              <a:off x="0" y="-19050"/>
              <a:ext cx="1828800" cy="1024890"/>
            </a:xfrm>
            <a:prstGeom prst="rect">
              <a:avLst/>
            </a:prstGeom>
          </p:spPr>
          <p:txBody>
            <a:bodyPr anchor="ctr" rtlCol="false" tIns="0" lIns="0" bIns="0" rIns="0"/>
            <a:lstStyle/>
            <a:p>
              <a:pPr algn="l">
                <a:lnSpc>
                  <a:spcPts val="2340"/>
                </a:lnSpc>
              </a:pPr>
              <a:r>
                <a:rPr lang="en-US" sz="1950" b="true">
                  <a:solidFill>
                    <a:srgbClr val="141414"/>
                  </a:solidFill>
                  <a:latin typeface="Arial Bold"/>
                  <a:ea typeface="Arial Bold"/>
                  <a:cs typeface="Arial Bold"/>
                  <a:sym typeface="Arial Bold"/>
                </a:rPr>
                <a:t>ONBOARD</a:t>
              </a:r>
            </a:p>
          </p:txBody>
        </p:sp>
      </p:grpSp>
      <p:grpSp>
        <p:nvGrpSpPr>
          <p:cNvPr name="Group 35" id="35"/>
          <p:cNvGrpSpPr/>
          <p:nvPr/>
        </p:nvGrpSpPr>
        <p:grpSpPr>
          <a:xfrm rot="0">
            <a:off x="3909060" y="5417820"/>
            <a:ext cx="2194560" cy="411480"/>
            <a:chOff x="0" y="0"/>
            <a:chExt cx="2926080" cy="548640"/>
          </a:xfrm>
        </p:grpSpPr>
        <p:sp>
          <p:nvSpPr>
            <p:cNvPr name="Freeform 36" id="36"/>
            <p:cNvSpPr/>
            <p:nvPr/>
          </p:nvSpPr>
          <p:spPr>
            <a:xfrm flipH="false" flipV="false" rot="0">
              <a:off x="0" y="0"/>
              <a:ext cx="2926080" cy="548640"/>
            </a:xfrm>
            <a:custGeom>
              <a:avLst/>
              <a:gdLst/>
              <a:ahLst/>
              <a:cxnLst/>
              <a:rect r="r" b="b" t="t" l="l"/>
              <a:pathLst>
                <a:path h="548640" w="2926080">
                  <a:moveTo>
                    <a:pt x="0" y="0"/>
                  </a:moveTo>
                  <a:lnTo>
                    <a:pt x="2926080" y="0"/>
                  </a:lnTo>
                  <a:lnTo>
                    <a:pt x="2926080" y="548640"/>
                  </a:lnTo>
                  <a:lnTo>
                    <a:pt x="0" y="548640"/>
                  </a:lnTo>
                  <a:close/>
                </a:path>
              </a:pathLst>
            </a:custGeom>
            <a:blipFill>
              <a:blip r:embed="rId3">
                <a:alphaModFix amt="0"/>
              </a:blip>
              <a:stretch>
                <a:fillRect l="0" t="-53920" r="0" b="-53920"/>
              </a:stretch>
            </a:blipFill>
          </p:spPr>
        </p:sp>
        <p:sp>
          <p:nvSpPr>
            <p:cNvPr name="TextBox 37" id="37"/>
            <p:cNvSpPr txBox="true"/>
            <p:nvPr/>
          </p:nvSpPr>
          <p:spPr>
            <a:xfrm>
              <a:off x="0" y="-19050"/>
              <a:ext cx="2926080" cy="567690"/>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Onboarder</a:t>
              </a:r>
            </a:p>
          </p:txBody>
        </p:sp>
      </p:grpSp>
      <p:sp>
        <p:nvSpPr>
          <p:cNvPr name="TextBox 38" id="38"/>
          <p:cNvSpPr txBox="true"/>
          <p:nvPr/>
        </p:nvSpPr>
        <p:spPr>
          <a:xfrm rot="0">
            <a:off x="3909060" y="5810250"/>
            <a:ext cx="2194560" cy="1390650"/>
          </a:xfrm>
          <a:prstGeom prst="rect">
            <a:avLst/>
          </a:prstGeom>
        </p:spPr>
        <p:txBody>
          <a:bodyPr anchor="t" rtlCol="false" tIns="0" lIns="0" bIns="0" rIns="0">
            <a:spAutoFit/>
          </a:bodyPr>
          <a:lstStyle/>
          <a:p>
            <a:pPr algn="l">
              <a:lnSpc>
                <a:spcPts val="1800"/>
              </a:lnSpc>
            </a:pPr>
            <a:r>
              <a:rPr lang="en-US" sz="1500">
                <a:solidFill>
                  <a:srgbClr val="141414"/>
                </a:solidFill>
                <a:latin typeface="Arial"/>
                <a:ea typeface="Arial"/>
                <a:cs typeface="Arial"/>
                <a:sym typeface="Arial"/>
              </a:rPr>
              <a:t>5 KYC tracks in parallel. Fixes most exceptions itself</a:t>
            </a:r>
          </a:p>
        </p:txBody>
      </p:sp>
      <p:grpSp>
        <p:nvGrpSpPr>
          <p:cNvPr name="Group 39" id="39"/>
          <p:cNvGrpSpPr/>
          <p:nvPr/>
        </p:nvGrpSpPr>
        <p:grpSpPr>
          <a:xfrm rot="0">
            <a:off x="6432232" y="4237672"/>
            <a:ext cx="2634615" cy="3114675"/>
            <a:chOff x="0" y="0"/>
            <a:chExt cx="3512820" cy="4152900"/>
          </a:xfrm>
        </p:grpSpPr>
        <p:sp>
          <p:nvSpPr>
            <p:cNvPr name="Freeform 40" id="40"/>
            <p:cNvSpPr/>
            <p:nvPr/>
          </p:nvSpPr>
          <p:spPr>
            <a:xfrm flipH="false" flipV="false" rot="0">
              <a:off x="0" y="0"/>
              <a:ext cx="3512820" cy="4152900"/>
            </a:xfrm>
            <a:custGeom>
              <a:avLst/>
              <a:gdLst/>
              <a:ahLst/>
              <a:cxnLst/>
              <a:rect r="r" b="b" t="t" l="l"/>
              <a:pathLst>
                <a:path h="4152900" w="3512820">
                  <a:moveTo>
                    <a:pt x="0" y="147955"/>
                  </a:moveTo>
                  <a:cubicBezTo>
                    <a:pt x="0" y="66167"/>
                    <a:pt x="66167" y="0"/>
                    <a:pt x="147955" y="0"/>
                  </a:cubicBezTo>
                  <a:lnTo>
                    <a:pt x="3364865" y="0"/>
                  </a:lnTo>
                  <a:cubicBezTo>
                    <a:pt x="3446526" y="0"/>
                    <a:pt x="3512820" y="66167"/>
                    <a:pt x="3512820" y="147955"/>
                  </a:cubicBezTo>
                  <a:lnTo>
                    <a:pt x="3512820" y="4004945"/>
                  </a:lnTo>
                  <a:cubicBezTo>
                    <a:pt x="3512820" y="4086606"/>
                    <a:pt x="3446653" y="4152900"/>
                    <a:pt x="3364865" y="4152900"/>
                  </a:cubicBezTo>
                  <a:lnTo>
                    <a:pt x="147955" y="4152900"/>
                  </a:lnTo>
                  <a:cubicBezTo>
                    <a:pt x="66167" y="4152900"/>
                    <a:pt x="0" y="4086733"/>
                    <a:pt x="0" y="4004945"/>
                  </a:cubicBezTo>
                  <a:close/>
                </a:path>
              </a:pathLst>
            </a:custGeom>
            <a:solidFill>
              <a:srgbClr val="F6ADA3"/>
            </a:solidFill>
            <a:ln w="28575" cap="sq">
              <a:solidFill>
                <a:srgbClr val="141414"/>
              </a:solidFill>
              <a:prstDash val="solid"/>
              <a:miter/>
            </a:ln>
          </p:spPr>
        </p:sp>
      </p:grpSp>
      <p:grpSp>
        <p:nvGrpSpPr>
          <p:cNvPr name="Group 41" id="41"/>
          <p:cNvGrpSpPr/>
          <p:nvPr/>
        </p:nvGrpSpPr>
        <p:grpSpPr>
          <a:xfrm rot="0">
            <a:off x="6711315" y="4516755"/>
            <a:ext cx="773430" cy="773430"/>
            <a:chOff x="0" y="0"/>
            <a:chExt cx="1031240" cy="1031240"/>
          </a:xfrm>
        </p:grpSpPr>
        <p:sp>
          <p:nvSpPr>
            <p:cNvPr name="Freeform 42" id="42"/>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FFFF"/>
            </a:solidFill>
            <a:ln w="19050" cap="sq">
              <a:solidFill>
                <a:srgbClr val="141414"/>
              </a:solidFill>
              <a:prstDash val="solid"/>
              <a:miter/>
            </a:ln>
          </p:spPr>
        </p:sp>
      </p:grpSp>
      <p:grpSp>
        <p:nvGrpSpPr>
          <p:cNvPr name="Group 43" id="43"/>
          <p:cNvGrpSpPr/>
          <p:nvPr/>
        </p:nvGrpSpPr>
        <p:grpSpPr>
          <a:xfrm rot="0">
            <a:off x="6899148" y="4704588"/>
            <a:ext cx="397764" cy="397764"/>
            <a:chOff x="0" y="0"/>
            <a:chExt cx="530352" cy="530352"/>
          </a:xfrm>
        </p:grpSpPr>
        <p:sp>
          <p:nvSpPr>
            <p:cNvPr name="Freeform 44" id="44" descr="preencoded.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7"/>
              <a:stretch>
                <a:fillRect l="0" t="0" r="0" b="0"/>
              </a:stretch>
            </a:blipFill>
          </p:spPr>
        </p:sp>
      </p:grpSp>
      <p:grpSp>
        <p:nvGrpSpPr>
          <p:cNvPr name="Group 45" id="45"/>
          <p:cNvGrpSpPr/>
          <p:nvPr/>
        </p:nvGrpSpPr>
        <p:grpSpPr>
          <a:xfrm rot="0">
            <a:off x="7612380" y="4526280"/>
            <a:ext cx="1371600" cy="754380"/>
            <a:chOff x="0" y="0"/>
            <a:chExt cx="1828800" cy="1005840"/>
          </a:xfrm>
        </p:grpSpPr>
        <p:sp>
          <p:nvSpPr>
            <p:cNvPr name="Freeform 46" id="46"/>
            <p:cNvSpPr/>
            <p:nvPr/>
          </p:nvSpPr>
          <p:spPr>
            <a:xfrm flipH="false" flipV="false" rot="0">
              <a:off x="0" y="0"/>
              <a:ext cx="1828800" cy="1005840"/>
            </a:xfrm>
            <a:custGeom>
              <a:avLst/>
              <a:gdLst/>
              <a:ahLst/>
              <a:cxnLst/>
              <a:rect r="r" b="b" t="t" l="l"/>
              <a:pathLst>
                <a:path h="1005840" w="1828800">
                  <a:moveTo>
                    <a:pt x="0" y="0"/>
                  </a:moveTo>
                  <a:lnTo>
                    <a:pt x="1828800" y="0"/>
                  </a:lnTo>
                  <a:lnTo>
                    <a:pt x="1828800" y="1005840"/>
                  </a:lnTo>
                  <a:lnTo>
                    <a:pt x="0" y="1005840"/>
                  </a:lnTo>
                  <a:close/>
                </a:path>
              </a:pathLst>
            </a:custGeom>
            <a:blipFill>
              <a:blip r:embed="rId3">
                <a:alphaModFix amt="0"/>
              </a:blip>
              <a:stretch>
                <a:fillRect l="-20566" t="0" r="-20566" b="0"/>
              </a:stretch>
            </a:blipFill>
          </p:spPr>
        </p:sp>
        <p:sp>
          <p:nvSpPr>
            <p:cNvPr name="TextBox 47" id="47"/>
            <p:cNvSpPr txBox="true"/>
            <p:nvPr/>
          </p:nvSpPr>
          <p:spPr>
            <a:xfrm>
              <a:off x="0" y="-19050"/>
              <a:ext cx="1828800" cy="1024890"/>
            </a:xfrm>
            <a:prstGeom prst="rect">
              <a:avLst/>
            </a:prstGeom>
          </p:spPr>
          <p:txBody>
            <a:bodyPr anchor="ctr" rtlCol="false" tIns="0" lIns="0" bIns="0" rIns="0"/>
            <a:lstStyle/>
            <a:p>
              <a:pPr algn="l">
                <a:lnSpc>
                  <a:spcPts val="2340"/>
                </a:lnSpc>
              </a:pPr>
              <a:r>
                <a:rPr lang="en-US" sz="1950" b="true">
                  <a:solidFill>
                    <a:srgbClr val="141414"/>
                  </a:solidFill>
                  <a:latin typeface="Arial Bold"/>
                  <a:ea typeface="Arial Bold"/>
                  <a:cs typeface="Arial Bold"/>
                  <a:sym typeface="Arial Bold"/>
                </a:rPr>
                <a:t>ACTIVATE</a:t>
              </a:r>
            </a:p>
          </p:txBody>
        </p:sp>
      </p:grpSp>
      <p:grpSp>
        <p:nvGrpSpPr>
          <p:cNvPr name="Group 48" id="48"/>
          <p:cNvGrpSpPr/>
          <p:nvPr/>
        </p:nvGrpSpPr>
        <p:grpSpPr>
          <a:xfrm rot="0">
            <a:off x="6720840" y="5417820"/>
            <a:ext cx="2194560" cy="411480"/>
            <a:chOff x="0" y="0"/>
            <a:chExt cx="2926080" cy="548640"/>
          </a:xfrm>
        </p:grpSpPr>
        <p:sp>
          <p:nvSpPr>
            <p:cNvPr name="Freeform 49" id="49"/>
            <p:cNvSpPr/>
            <p:nvPr/>
          </p:nvSpPr>
          <p:spPr>
            <a:xfrm flipH="false" flipV="false" rot="0">
              <a:off x="0" y="0"/>
              <a:ext cx="2926080" cy="548640"/>
            </a:xfrm>
            <a:custGeom>
              <a:avLst/>
              <a:gdLst/>
              <a:ahLst/>
              <a:cxnLst/>
              <a:rect r="r" b="b" t="t" l="l"/>
              <a:pathLst>
                <a:path h="548640" w="2926080">
                  <a:moveTo>
                    <a:pt x="0" y="0"/>
                  </a:moveTo>
                  <a:lnTo>
                    <a:pt x="2926080" y="0"/>
                  </a:lnTo>
                  <a:lnTo>
                    <a:pt x="2926080" y="548640"/>
                  </a:lnTo>
                  <a:lnTo>
                    <a:pt x="0" y="548640"/>
                  </a:lnTo>
                  <a:close/>
                </a:path>
              </a:pathLst>
            </a:custGeom>
            <a:blipFill>
              <a:blip r:embed="rId3">
                <a:alphaModFix amt="0"/>
              </a:blip>
              <a:stretch>
                <a:fillRect l="0" t="-53920" r="0" b="-53920"/>
              </a:stretch>
            </a:blipFill>
          </p:spPr>
        </p:sp>
        <p:sp>
          <p:nvSpPr>
            <p:cNvPr name="TextBox 50" id="50"/>
            <p:cNvSpPr txBox="true"/>
            <p:nvPr/>
          </p:nvSpPr>
          <p:spPr>
            <a:xfrm>
              <a:off x="0" y="-19050"/>
              <a:ext cx="2926080" cy="567690"/>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Activator</a:t>
              </a:r>
            </a:p>
          </p:txBody>
        </p:sp>
      </p:grpSp>
      <p:sp>
        <p:nvSpPr>
          <p:cNvPr name="TextBox 51" id="51"/>
          <p:cNvSpPr txBox="true"/>
          <p:nvPr/>
        </p:nvSpPr>
        <p:spPr>
          <a:xfrm rot="0">
            <a:off x="6720840" y="5810250"/>
            <a:ext cx="2194560" cy="1390650"/>
          </a:xfrm>
          <a:prstGeom prst="rect">
            <a:avLst/>
          </a:prstGeom>
        </p:spPr>
        <p:txBody>
          <a:bodyPr anchor="t" rtlCol="false" tIns="0" lIns="0" bIns="0" rIns="0">
            <a:spAutoFit/>
          </a:bodyPr>
          <a:lstStyle/>
          <a:p>
            <a:pPr algn="l">
              <a:lnSpc>
                <a:spcPts val="1800"/>
              </a:lnSpc>
            </a:pPr>
            <a:r>
              <a:rPr lang="en-US" sz="1500">
                <a:solidFill>
                  <a:srgbClr val="141414"/>
                </a:solidFill>
                <a:latin typeface="Arial"/>
                <a:ea typeface="Arial"/>
                <a:cs typeface="Arial"/>
                <a:sym typeface="Arial"/>
              </a:rPr>
              <a:t>Ships the device, unsticks merchants, gets the first real payment</a:t>
            </a:r>
          </a:p>
        </p:txBody>
      </p:sp>
      <p:grpSp>
        <p:nvGrpSpPr>
          <p:cNvPr name="Group 52" id="52"/>
          <p:cNvGrpSpPr/>
          <p:nvPr/>
        </p:nvGrpSpPr>
        <p:grpSpPr>
          <a:xfrm rot="0">
            <a:off x="9244012" y="4237672"/>
            <a:ext cx="2634615" cy="3114675"/>
            <a:chOff x="0" y="0"/>
            <a:chExt cx="3512820" cy="4152900"/>
          </a:xfrm>
        </p:grpSpPr>
        <p:sp>
          <p:nvSpPr>
            <p:cNvPr name="Freeform 53" id="53"/>
            <p:cNvSpPr/>
            <p:nvPr/>
          </p:nvSpPr>
          <p:spPr>
            <a:xfrm flipH="false" flipV="false" rot="0">
              <a:off x="0" y="0"/>
              <a:ext cx="3512820" cy="4152900"/>
            </a:xfrm>
            <a:custGeom>
              <a:avLst/>
              <a:gdLst/>
              <a:ahLst/>
              <a:cxnLst/>
              <a:rect r="r" b="b" t="t" l="l"/>
              <a:pathLst>
                <a:path h="4152900" w="3512820">
                  <a:moveTo>
                    <a:pt x="0" y="147955"/>
                  </a:moveTo>
                  <a:cubicBezTo>
                    <a:pt x="0" y="66167"/>
                    <a:pt x="66167" y="0"/>
                    <a:pt x="147955" y="0"/>
                  </a:cubicBezTo>
                  <a:lnTo>
                    <a:pt x="3364865" y="0"/>
                  </a:lnTo>
                  <a:cubicBezTo>
                    <a:pt x="3446526" y="0"/>
                    <a:pt x="3512820" y="66167"/>
                    <a:pt x="3512820" y="147955"/>
                  </a:cubicBezTo>
                  <a:lnTo>
                    <a:pt x="3512820" y="4004945"/>
                  </a:lnTo>
                  <a:cubicBezTo>
                    <a:pt x="3512820" y="4086606"/>
                    <a:pt x="3446653" y="4152900"/>
                    <a:pt x="3364865" y="4152900"/>
                  </a:cubicBezTo>
                  <a:lnTo>
                    <a:pt x="147955" y="4152900"/>
                  </a:lnTo>
                  <a:cubicBezTo>
                    <a:pt x="66167" y="4152900"/>
                    <a:pt x="0" y="4086733"/>
                    <a:pt x="0" y="4004945"/>
                  </a:cubicBezTo>
                  <a:close/>
                </a:path>
              </a:pathLst>
            </a:custGeom>
            <a:solidFill>
              <a:srgbClr val="BFE9FB"/>
            </a:solidFill>
            <a:ln w="28575" cap="sq">
              <a:solidFill>
                <a:srgbClr val="141414"/>
              </a:solidFill>
              <a:prstDash val="solid"/>
              <a:miter/>
            </a:ln>
          </p:spPr>
        </p:sp>
      </p:grpSp>
      <p:grpSp>
        <p:nvGrpSpPr>
          <p:cNvPr name="Group 54" id="54"/>
          <p:cNvGrpSpPr/>
          <p:nvPr/>
        </p:nvGrpSpPr>
        <p:grpSpPr>
          <a:xfrm rot="0">
            <a:off x="9523095" y="4516755"/>
            <a:ext cx="773430" cy="773430"/>
            <a:chOff x="0" y="0"/>
            <a:chExt cx="1031240" cy="1031240"/>
          </a:xfrm>
        </p:grpSpPr>
        <p:sp>
          <p:nvSpPr>
            <p:cNvPr name="Freeform 55" id="55"/>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FFFF"/>
            </a:solidFill>
            <a:ln w="19050" cap="sq">
              <a:solidFill>
                <a:srgbClr val="141414"/>
              </a:solidFill>
              <a:prstDash val="solid"/>
              <a:miter/>
            </a:ln>
          </p:spPr>
        </p:sp>
      </p:grpSp>
      <p:grpSp>
        <p:nvGrpSpPr>
          <p:cNvPr name="Group 56" id="56"/>
          <p:cNvGrpSpPr/>
          <p:nvPr/>
        </p:nvGrpSpPr>
        <p:grpSpPr>
          <a:xfrm rot="0">
            <a:off x="9710928" y="4704588"/>
            <a:ext cx="397764" cy="397764"/>
            <a:chOff x="0" y="0"/>
            <a:chExt cx="530352" cy="530352"/>
          </a:xfrm>
        </p:grpSpPr>
        <p:sp>
          <p:nvSpPr>
            <p:cNvPr name="Freeform 57" id="57" descr="preencoded.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8"/>
              <a:stretch>
                <a:fillRect l="0" t="0" r="0" b="0"/>
              </a:stretch>
            </a:blipFill>
          </p:spPr>
        </p:sp>
      </p:grpSp>
      <p:grpSp>
        <p:nvGrpSpPr>
          <p:cNvPr name="Group 58" id="58"/>
          <p:cNvGrpSpPr/>
          <p:nvPr/>
        </p:nvGrpSpPr>
        <p:grpSpPr>
          <a:xfrm rot="0">
            <a:off x="10424160" y="4526280"/>
            <a:ext cx="1371600" cy="754380"/>
            <a:chOff x="0" y="0"/>
            <a:chExt cx="1828800" cy="1005840"/>
          </a:xfrm>
        </p:grpSpPr>
        <p:sp>
          <p:nvSpPr>
            <p:cNvPr name="Freeform 59" id="59"/>
            <p:cNvSpPr/>
            <p:nvPr/>
          </p:nvSpPr>
          <p:spPr>
            <a:xfrm flipH="false" flipV="false" rot="0">
              <a:off x="0" y="0"/>
              <a:ext cx="1828800" cy="1005840"/>
            </a:xfrm>
            <a:custGeom>
              <a:avLst/>
              <a:gdLst/>
              <a:ahLst/>
              <a:cxnLst/>
              <a:rect r="r" b="b" t="t" l="l"/>
              <a:pathLst>
                <a:path h="1005840" w="1828800">
                  <a:moveTo>
                    <a:pt x="0" y="0"/>
                  </a:moveTo>
                  <a:lnTo>
                    <a:pt x="1828800" y="0"/>
                  </a:lnTo>
                  <a:lnTo>
                    <a:pt x="1828800" y="1005840"/>
                  </a:lnTo>
                  <a:lnTo>
                    <a:pt x="0" y="1005840"/>
                  </a:lnTo>
                  <a:close/>
                </a:path>
              </a:pathLst>
            </a:custGeom>
            <a:blipFill>
              <a:blip r:embed="rId3">
                <a:alphaModFix amt="0"/>
              </a:blip>
              <a:stretch>
                <a:fillRect l="-20566" t="0" r="-20566" b="0"/>
              </a:stretch>
            </a:blipFill>
          </p:spPr>
        </p:sp>
        <p:sp>
          <p:nvSpPr>
            <p:cNvPr name="TextBox 60" id="60"/>
            <p:cNvSpPr txBox="true"/>
            <p:nvPr/>
          </p:nvSpPr>
          <p:spPr>
            <a:xfrm>
              <a:off x="0" y="-19050"/>
              <a:ext cx="1828800" cy="1024890"/>
            </a:xfrm>
            <a:prstGeom prst="rect">
              <a:avLst/>
            </a:prstGeom>
          </p:spPr>
          <p:txBody>
            <a:bodyPr anchor="ctr" rtlCol="false" tIns="0" lIns="0" bIns="0" rIns="0"/>
            <a:lstStyle/>
            <a:p>
              <a:pPr algn="l">
                <a:lnSpc>
                  <a:spcPts val="2340"/>
                </a:lnSpc>
              </a:pPr>
              <a:r>
                <a:rPr lang="en-US" sz="1950" b="true">
                  <a:solidFill>
                    <a:srgbClr val="141414"/>
                  </a:solidFill>
                  <a:latin typeface="Arial Bold"/>
                  <a:ea typeface="Arial Bold"/>
                  <a:cs typeface="Arial Bold"/>
                  <a:sym typeface="Arial Bold"/>
                </a:rPr>
                <a:t>GROW</a:t>
              </a:r>
            </a:p>
          </p:txBody>
        </p:sp>
      </p:grpSp>
      <p:grpSp>
        <p:nvGrpSpPr>
          <p:cNvPr name="Group 61" id="61"/>
          <p:cNvGrpSpPr/>
          <p:nvPr/>
        </p:nvGrpSpPr>
        <p:grpSpPr>
          <a:xfrm rot="0">
            <a:off x="9532620" y="5417820"/>
            <a:ext cx="2194560" cy="411480"/>
            <a:chOff x="0" y="0"/>
            <a:chExt cx="2926080" cy="548640"/>
          </a:xfrm>
        </p:grpSpPr>
        <p:sp>
          <p:nvSpPr>
            <p:cNvPr name="Freeform 62" id="62"/>
            <p:cNvSpPr/>
            <p:nvPr/>
          </p:nvSpPr>
          <p:spPr>
            <a:xfrm flipH="false" flipV="false" rot="0">
              <a:off x="0" y="0"/>
              <a:ext cx="2926080" cy="548640"/>
            </a:xfrm>
            <a:custGeom>
              <a:avLst/>
              <a:gdLst/>
              <a:ahLst/>
              <a:cxnLst/>
              <a:rect r="r" b="b" t="t" l="l"/>
              <a:pathLst>
                <a:path h="548640" w="2926080">
                  <a:moveTo>
                    <a:pt x="0" y="0"/>
                  </a:moveTo>
                  <a:lnTo>
                    <a:pt x="2926080" y="0"/>
                  </a:lnTo>
                  <a:lnTo>
                    <a:pt x="2926080" y="548640"/>
                  </a:lnTo>
                  <a:lnTo>
                    <a:pt x="0" y="548640"/>
                  </a:lnTo>
                  <a:close/>
                </a:path>
              </a:pathLst>
            </a:custGeom>
            <a:blipFill>
              <a:blip r:embed="rId3">
                <a:alphaModFix amt="0"/>
              </a:blip>
              <a:stretch>
                <a:fillRect l="0" t="-53920" r="0" b="-53920"/>
              </a:stretch>
            </a:blipFill>
          </p:spPr>
        </p:sp>
        <p:sp>
          <p:nvSpPr>
            <p:cNvPr name="TextBox 63" id="63"/>
            <p:cNvSpPr txBox="true"/>
            <p:nvPr/>
          </p:nvSpPr>
          <p:spPr>
            <a:xfrm>
              <a:off x="0" y="-19050"/>
              <a:ext cx="2926080" cy="567690"/>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Grower + Bazaar</a:t>
              </a:r>
            </a:p>
          </p:txBody>
        </p:sp>
      </p:grpSp>
      <p:sp>
        <p:nvSpPr>
          <p:cNvPr name="TextBox 64" id="64"/>
          <p:cNvSpPr txBox="true"/>
          <p:nvPr/>
        </p:nvSpPr>
        <p:spPr>
          <a:xfrm rot="0">
            <a:off x="9532620" y="5810250"/>
            <a:ext cx="2194560" cy="1390650"/>
          </a:xfrm>
          <a:prstGeom prst="rect">
            <a:avLst/>
          </a:prstGeom>
        </p:spPr>
        <p:txBody>
          <a:bodyPr anchor="t" rtlCol="false" tIns="0" lIns="0" bIns="0" rIns="0">
            <a:spAutoFit/>
          </a:bodyPr>
          <a:lstStyle/>
          <a:p>
            <a:pPr algn="l">
              <a:lnSpc>
                <a:spcPts val="1800"/>
              </a:lnSpc>
            </a:pPr>
            <a:r>
              <a:rPr lang="en-US" sz="1500">
                <a:solidFill>
                  <a:srgbClr val="141414"/>
                </a:solidFill>
                <a:latin typeface="Arial"/>
                <a:ea typeface="Arial"/>
                <a:cs typeface="Arial"/>
                <a:sym typeface="Arial"/>
              </a:rPr>
              <a:t>Collects udhaar, wins back customers, restocks for festivals</a:t>
            </a:r>
          </a:p>
        </p:txBody>
      </p:sp>
      <p:grpSp>
        <p:nvGrpSpPr>
          <p:cNvPr name="Group 65" id="65"/>
          <p:cNvGrpSpPr/>
          <p:nvPr/>
        </p:nvGrpSpPr>
        <p:grpSpPr>
          <a:xfrm rot="0">
            <a:off x="12055793" y="4237672"/>
            <a:ext cx="2634615" cy="3114675"/>
            <a:chOff x="0" y="0"/>
            <a:chExt cx="3512820" cy="4152900"/>
          </a:xfrm>
        </p:grpSpPr>
        <p:sp>
          <p:nvSpPr>
            <p:cNvPr name="Freeform 66" id="66"/>
            <p:cNvSpPr/>
            <p:nvPr/>
          </p:nvSpPr>
          <p:spPr>
            <a:xfrm flipH="false" flipV="false" rot="0">
              <a:off x="0" y="0"/>
              <a:ext cx="3512820" cy="4152900"/>
            </a:xfrm>
            <a:custGeom>
              <a:avLst/>
              <a:gdLst/>
              <a:ahLst/>
              <a:cxnLst/>
              <a:rect r="r" b="b" t="t" l="l"/>
              <a:pathLst>
                <a:path h="4152900" w="3512820">
                  <a:moveTo>
                    <a:pt x="0" y="147955"/>
                  </a:moveTo>
                  <a:cubicBezTo>
                    <a:pt x="0" y="66167"/>
                    <a:pt x="66167" y="0"/>
                    <a:pt x="147955" y="0"/>
                  </a:cubicBezTo>
                  <a:lnTo>
                    <a:pt x="3364865" y="0"/>
                  </a:lnTo>
                  <a:cubicBezTo>
                    <a:pt x="3446526" y="0"/>
                    <a:pt x="3512820" y="66167"/>
                    <a:pt x="3512820" y="147955"/>
                  </a:cubicBezTo>
                  <a:lnTo>
                    <a:pt x="3512820" y="4004945"/>
                  </a:lnTo>
                  <a:cubicBezTo>
                    <a:pt x="3512820" y="4086606"/>
                    <a:pt x="3446653" y="4152900"/>
                    <a:pt x="3364865" y="4152900"/>
                  </a:cubicBezTo>
                  <a:lnTo>
                    <a:pt x="147955" y="4152900"/>
                  </a:lnTo>
                  <a:cubicBezTo>
                    <a:pt x="66167" y="4152900"/>
                    <a:pt x="0" y="4086733"/>
                    <a:pt x="0" y="4004945"/>
                  </a:cubicBezTo>
                  <a:close/>
                </a:path>
              </a:pathLst>
            </a:custGeom>
            <a:solidFill>
              <a:srgbClr val="E4DFFC"/>
            </a:solidFill>
            <a:ln w="28575" cap="sq">
              <a:solidFill>
                <a:srgbClr val="141414"/>
              </a:solidFill>
              <a:prstDash val="solid"/>
              <a:miter/>
            </a:ln>
          </p:spPr>
        </p:sp>
      </p:grpSp>
      <p:grpSp>
        <p:nvGrpSpPr>
          <p:cNvPr name="Group 67" id="67"/>
          <p:cNvGrpSpPr/>
          <p:nvPr/>
        </p:nvGrpSpPr>
        <p:grpSpPr>
          <a:xfrm rot="0">
            <a:off x="12334875" y="4516755"/>
            <a:ext cx="773430" cy="773430"/>
            <a:chOff x="0" y="0"/>
            <a:chExt cx="1031240" cy="1031240"/>
          </a:xfrm>
        </p:grpSpPr>
        <p:sp>
          <p:nvSpPr>
            <p:cNvPr name="Freeform 68" id="68"/>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FFFF"/>
            </a:solidFill>
            <a:ln w="19050" cap="sq">
              <a:solidFill>
                <a:srgbClr val="141414"/>
              </a:solidFill>
              <a:prstDash val="solid"/>
              <a:miter/>
            </a:ln>
          </p:spPr>
        </p:sp>
      </p:grpSp>
      <p:grpSp>
        <p:nvGrpSpPr>
          <p:cNvPr name="Group 69" id="69"/>
          <p:cNvGrpSpPr/>
          <p:nvPr/>
        </p:nvGrpSpPr>
        <p:grpSpPr>
          <a:xfrm rot="0">
            <a:off x="12522708" y="4704588"/>
            <a:ext cx="397764" cy="397764"/>
            <a:chOff x="0" y="0"/>
            <a:chExt cx="530352" cy="530352"/>
          </a:xfrm>
        </p:grpSpPr>
        <p:sp>
          <p:nvSpPr>
            <p:cNvPr name="Freeform 70" id="70" descr="preencoded.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9"/>
              <a:stretch>
                <a:fillRect l="0" t="0" r="0" b="0"/>
              </a:stretch>
            </a:blipFill>
          </p:spPr>
        </p:sp>
      </p:grpSp>
      <p:grpSp>
        <p:nvGrpSpPr>
          <p:cNvPr name="Group 71" id="71"/>
          <p:cNvGrpSpPr/>
          <p:nvPr/>
        </p:nvGrpSpPr>
        <p:grpSpPr>
          <a:xfrm rot="0">
            <a:off x="13235940" y="4526280"/>
            <a:ext cx="1371600" cy="754380"/>
            <a:chOff x="0" y="0"/>
            <a:chExt cx="1828800" cy="1005840"/>
          </a:xfrm>
        </p:grpSpPr>
        <p:sp>
          <p:nvSpPr>
            <p:cNvPr name="Freeform 72" id="72"/>
            <p:cNvSpPr/>
            <p:nvPr/>
          </p:nvSpPr>
          <p:spPr>
            <a:xfrm flipH="false" flipV="false" rot="0">
              <a:off x="0" y="0"/>
              <a:ext cx="1828800" cy="1005840"/>
            </a:xfrm>
            <a:custGeom>
              <a:avLst/>
              <a:gdLst/>
              <a:ahLst/>
              <a:cxnLst/>
              <a:rect r="r" b="b" t="t" l="l"/>
              <a:pathLst>
                <a:path h="1005840" w="1828800">
                  <a:moveTo>
                    <a:pt x="0" y="0"/>
                  </a:moveTo>
                  <a:lnTo>
                    <a:pt x="1828800" y="0"/>
                  </a:lnTo>
                  <a:lnTo>
                    <a:pt x="1828800" y="1005840"/>
                  </a:lnTo>
                  <a:lnTo>
                    <a:pt x="0" y="1005840"/>
                  </a:lnTo>
                  <a:close/>
                </a:path>
              </a:pathLst>
            </a:custGeom>
            <a:blipFill>
              <a:blip r:embed="rId3">
                <a:alphaModFix amt="0"/>
              </a:blip>
              <a:stretch>
                <a:fillRect l="-20566" t="0" r="-20566" b="0"/>
              </a:stretch>
            </a:blipFill>
          </p:spPr>
        </p:sp>
        <p:sp>
          <p:nvSpPr>
            <p:cNvPr name="TextBox 73" id="73"/>
            <p:cNvSpPr txBox="true"/>
            <p:nvPr/>
          </p:nvSpPr>
          <p:spPr>
            <a:xfrm>
              <a:off x="0" y="-19050"/>
              <a:ext cx="1828800" cy="1024890"/>
            </a:xfrm>
            <a:prstGeom prst="rect">
              <a:avLst/>
            </a:prstGeom>
          </p:spPr>
          <p:txBody>
            <a:bodyPr anchor="ctr" rtlCol="false" tIns="0" lIns="0" bIns="0" rIns="0"/>
            <a:lstStyle/>
            <a:p>
              <a:pPr algn="l">
                <a:lnSpc>
                  <a:spcPts val="2340"/>
                </a:lnSpc>
              </a:pPr>
              <a:r>
                <a:rPr lang="en-US" sz="1950" b="true">
                  <a:solidFill>
                    <a:srgbClr val="141414"/>
                  </a:solidFill>
                  <a:latin typeface="Arial Bold"/>
                  <a:ea typeface="Arial Bold"/>
                  <a:cs typeface="Arial Bold"/>
                  <a:sym typeface="Arial Bold"/>
                </a:rPr>
                <a:t>FUND</a:t>
              </a:r>
            </a:p>
          </p:txBody>
        </p:sp>
      </p:grpSp>
      <p:grpSp>
        <p:nvGrpSpPr>
          <p:cNvPr name="Group 74" id="74"/>
          <p:cNvGrpSpPr/>
          <p:nvPr/>
        </p:nvGrpSpPr>
        <p:grpSpPr>
          <a:xfrm rot="0">
            <a:off x="12344400" y="5417820"/>
            <a:ext cx="2194560" cy="411480"/>
            <a:chOff x="0" y="0"/>
            <a:chExt cx="2926080" cy="548640"/>
          </a:xfrm>
        </p:grpSpPr>
        <p:sp>
          <p:nvSpPr>
            <p:cNvPr name="Freeform 75" id="75"/>
            <p:cNvSpPr/>
            <p:nvPr/>
          </p:nvSpPr>
          <p:spPr>
            <a:xfrm flipH="false" flipV="false" rot="0">
              <a:off x="0" y="0"/>
              <a:ext cx="2926080" cy="548640"/>
            </a:xfrm>
            <a:custGeom>
              <a:avLst/>
              <a:gdLst/>
              <a:ahLst/>
              <a:cxnLst/>
              <a:rect r="r" b="b" t="t" l="l"/>
              <a:pathLst>
                <a:path h="548640" w="2926080">
                  <a:moveTo>
                    <a:pt x="0" y="0"/>
                  </a:moveTo>
                  <a:lnTo>
                    <a:pt x="2926080" y="0"/>
                  </a:lnTo>
                  <a:lnTo>
                    <a:pt x="2926080" y="548640"/>
                  </a:lnTo>
                  <a:lnTo>
                    <a:pt x="0" y="548640"/>
                  </a:lnTo>
                  <a:close/>
                </a:path>
              </a:pathLst>
            </a:custGeom>
            <a:blipFill>
              <a:blip r:embed="rId3">
                <a:alphaModFix amt="0"/>
              </a:blip>
              <a:stretch>
                <a:fillRect l="0" t="-53920" r="0" b="-53920"/>
              </a:stretch>
            </a:blipFill>
          </p:spPr>
        </p:sp>
        <p:sp>
          <p:nvSpPr>
            <p:cNvPr name="TextBox 76" id="76"/>
            <p:cNvSpPr txBox="true"/>
            <p:nvPr/>
          </p:nvSpPr>
          <p:spPr>
            <a:xfrm>
              <a:off x="0" y="-19050"/>
              <a:ext cx="2926080" cy="567690"/>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Capital</a:t>
              </a:r>
            </a:p>
          </p:txBody>
        </p:sp>
      </p:grpSp>
      <p:sp>
        <p:nvSpPr>
          <p:cNvPr name="TextBox 77" id="77"/>
          <p:cNvSpPr txBox="true"/>
          <p:nvPr/>
        </p:nvSpPr>
        <p:spPr>
          <a:xfrm rot="0">
            <a:off x="12344400" y="5810250"/>
            <a:ext cx="2194560" cy="1390650"/>
          </a:xfrm>
          <a:prstGeom prst="rect">
            <a:avLst/>
          </a:prstGeom>
        </p:spPr>
        <p:txBody>
          <a:bodyPr anchor="t" rtlCol="false" tIns="0" lIns="0" bIns="0" rIns="0">
            <a:spAutoFit/>
          </a:bodyPr>
          <a:lstStyle/>
          <a:p>
            <a:pPr algn="l">
              <a:lnSpc>
                <a:spcPts val="1800"/>
              </a:lnSpc>
            </a:pPr>
            <a:r>
              <a:rPr lang="en-US" sz="1500">
                <a:solidFill>
                  <a:srgbClr val="141414"/>
                </a:solidFill>
                <a:latin typeface="Arial"/>
                <a:ea typeface="Arial"/>
                <a:cs typeface="Arial"/>
                <a:sym typeface="Arial"/>
              </a:rPr>
              <a:t>Offers credit before the merchant asks, repaid as % of daily sales</a:t>
            </a:r>
          </a:p>
        </p:txBody>
      </p:sp>
      <p:grpSp>
        <p:nvGrpSpPr>
          <p:cNvPr name="Group 78" id="78"/>
          <p:cNvGrpSpPr/>
          <p:nvPr/>
        </p:nvGrpSpPr>
        <p:grpSpPr>
          <a:xfrm rot="0">
            <a:off x="14867573" y="4237672"/>
            <a:ext cx="2634615" cy="3114675"/>
            <a:chOff x="0" y="0"/>
            <a:chExt cx="3512820" cy="4152900"/>
          </a:xfrm>
        </p:grpSpPr>
        <p:sp>
          <p:nvSpPr>
            <p:cNvPr name="Freeform 79" id="79"/>
            <p:cNvSpPr/>
            <p:nvPr/>
          </p:nvSpPr>
          <p:spPr>
            <a:xfrm flipH="false" flipV="false" rot="0">
              <a:off x="0" y="0"/>
              <a:ext cx="3512820" cy="4152900"/>
            </a:xfrm>
            <a:custGeom>
              <a:avLst/>
              <a:gdLst/>
              <a:ahLst/>
              <a:cxnLst/>
              <a:rect r="r" b="b" t="t" l="l"/>
              <a:pathLst>
                <a:path h="4152900" w="3512820">
                  <a:moveTo>
                    <a:pt x="0" y="147955"/>
                  </a:moveTo>
                  <a:cubicBezTo>
                    <a:pt x="0" y="66167"/>
                    <a:pt x="66167" y="0"/>
                    <a:pt x="147955" y="0"/>
                  </a:cubicBezTo>
                  <a:lnTo>
                    <a:pt x="3364865" y="0"/>
                  </a:lnTo>
                  <a:cubicBezTo>
                    <a:pt x="3446526" y="0"/>
                    <a:pt x="3512820" y="66167"/>
                    <a:pt x="3512820" y="147955"/>
                  </a:cubicBezTo>
                  <a:lnTo>
                    <a:pt x="3512820" y="4004945"/>
                  </a:lnTo>
                  <a:cubicBezTo>
                    <a:pt x="3512820" y="4086606"/>
                    <a:pt x="3446653" y="4152900"/>
                    <a:pt x="3364865" y="4152900"/>
                  </a:cubicBezTo>
                  <a:lnTo>
                    <a:pt x="147955" y="4152900"/>
                  </a:lnTo>
                  <a:cubicBezTo>
                    <a:pt x="66167" y="4152900"/>
                    <a:pt x="0" y="4086733"/>
                    <a:pt x="0" y="4004945"/>
                  </a:cubicBezTo>
                  <a:close/>
                </a:path>
              </a:pathLst>
            </a:custGeom>
            <a:solidFill>
              <a:srgbClr val="FFF1A8"/>
            </a:solidFill>
            <a:ln w="28575" cap="sq">
              <a:solidFill>
                <a:srgbClr val="141414"/>
              </a:solidFill>
              <a:prstDash val="solid"/>
              <a:miter/>
            </a:ln>
          </p:spPr>
        </p:sp>
      </p:grpSp>
      <p:grpSp>
        <p:nvGrpSpPr>
          <p:cNvPr name="Group 80" id="80"/>
          <p:cNvGrpSpPr/>
          <p:nvPr/>
        </p:nvGrpSpPr>
        <p:grpSpPr>
          <a:xfrm rot="0">
            <a:off x="15146655" y="4516755"/>
            <a:ext cx="773430" cy="773430"/>
            <a:chOff x="0" y="0"/>
            <a:chExt cx="1031240" cy="1031240"/>
          </a:xfrm>
        </p:grpSpPr>
        <p:sp>
          <p:nvSpPr>
            <p:cNvPr name="Freeform 81" id="81"/>
            <p:cNvSpPr/>
            <p:nvPr/>
          </p:nvSpPr>
          <p:spPr>
            <a:xfrm flipH="false" flipV="false" rot="0">
              <a:off x="0" y="0"/>
              <a:ext cx="1031240" cy="1031240"/>
            </a:xfrm>
            <a:custGeom>
              <a:avLst/>
              <a:gdLst/>
              <a:ahLst/>
              <a:cxnLst/>
              <a:rect r="r" b="b" t="t" l="l"/>
              <a:pathLst>
                <a:path h="1031240" w="1031240">
                  <a:moveTo>
                    <a:pt x="0" y="515620"/>
                  </a:moveTo>
                  <a:cubicBezTo>
                    <a:pt x="0" y="230886"/>
                    <a:pt x="230886" y="0"/>
                    <a:pt x="515620" y="0"/>
                  </a:cubicBezTo>
                  <a:cubicBezTo>
                    <a:pt x="800354" y="0"/>
                    <a:pt x="1031240" y="230886"/>
                    <a:pt x="1031240" y="515620"/>
                  </a:cubicBezTo>
                  <a:cubicBezTo>
                    <a:pt x="1031240" y="800354"/>
                    <a:pt x="800354" y="1031240"/>
                    <a:pt x="515620" y="1031240"/>
                  </a:cubicBezTo>
                  <a:cubicBezTo>
                    <a:pt x="230886" y="1031240"/>
                    <a:pt x="0" y="800354"/>
                    <a:pt x="0" y="515620"/>
                  </a:cubicBezTo>
                  <a:close/>
                </a:path>
              </a:pathLst>
            </a:custGeom>
            <a:solidFill>
              <a:srgbClr val="FFFFFF"/>
            </a:solidFill>
            <a:ln w="19050" cap="sq">
              <a:solidFill>
                <a:srgbClr val="141414"/>
              </a:solidFill>
              <a:prstDash val="solid"/>
              <a:miter/>
            </a:ln>
          </p:spPr>
        </p:sp>
      </p:grpSp>
      <p:grpSp>
        <p:nvGrpSpPr>
          <p:cNvPr name="Group 82" id="82"/>
          <p:cNvGrpSpPr/>
          <p:nvPr/>
        </p:nvGrpSpPr>
        <p:grpSpPr>
          <a:xfrm rot="0">
            <a:off x="15334488" y="4704588"/>
            <a:ext cx="397764" cy="397764"/>
            <a:chOff x="0" y="0"/>
            <a:chExt cx="530352" cy="530352"/>
          </a:xfrm>
        </p:grpSpPr>
        <p:sp>
          <p:nvSpPr>
            <p:cNvPr name="Freeform 83" id="83" descr="preencoded.png"/>
            <p:cNvSpPr/>
            <p:nvPr/>
          </p:nvSpPr>
          <p:spPr>
            <a:xfrm flipH="false" flipV="false" rot="0">
              <a:off x="0" y="0"/>
              <a:ext cx="530352" cy="530352"/>
            </a:xfrm>
            <a:custGeom>
              <a:avLst/>
              <a:gdLst/>
              <a:ahLst/>
              <a:cxnLst/>
              <a:rect r="r" b="b" t="t" l="l"/>
              <a:pathLst>
                <a:path h="530352" w="530352">
                  <a:moveTo>
                    <a:pt x="0" y="0"/>
                  </a:moveTo>
                  <a:lnTo>
                    <a:pt x="530352" y="0"/>
                  </a:lnTo>
                  <a:lnTo>
                    <a:pt x="530352" y="530352"/>
                  </a:lnTo>
                  <a:lnTo>
                    <a:pt x="0" y="530352"/>
                  </a:lnTo>
                  <a:lnTo>
                    <a:pt x="0" y="0"/>
                  </a:lnTo>
                  <a:close/>
                </a:path>
              </a:pathLst>
            </a:custGeom>
            <a:blipFill>
              <a:blip r:embed="rId10"/>
              <a:stretch>
                <a:fillRect l="0" t="0" r="0" b="0"/>
              </a:stretch>
            </a:blipFill>
          </p:spPr>
        </p:sp>
      </p:grpSp>
      <p:grpSp>
        <p:nvGrpSpPr>
          <p:cNvPr name="Group 84" id="84"/>
          <p:cNvGrpSpPr/>
          <p:nvPr/>
        </p:nvGrpSpPr>
        <p:grpSpPr>
          <a:xfrm rot="0">
            <a:off x="16047720" y="4526280"/>
            <a:ext cx="1371600" cy="754380"/>
            <a:chOff x="0" y="0"/>
            <a:chExt cx="1828800" cy="1005840"/>
          </a:xfrm>
        </p:grpSpPr>
        <p:sp>
          <p:nvSpPr>
            <p:cNvPr name="Freeform 85" id="85"/>
            <p:cNvSpPr/>
            <p:nvPr/>
          </p:nvSpPr>
          <p:spPr>
            <a:xfrm flipH="false" flipV="false" rot="0">
              <a:off x="0" y="0"/>
              <a:ext cx="1828800" cy="1005840"/>
            </a:xfrm>
            <a:custGeom>
              <a:avLst/>
              <a:gdLst/>
              <a:ahLst/>
              <a:cxnLst/>
              <a:rect r="r" b="b" t="t" l="l"/>
              <a:pathLst>
                <a:path h="1005840" w="1828800">
                  <a:moveTo>
                    <a:pt x="0" y="0"/>
                  </a:moveTo>
                  <a:lnTo>
                    <a:pt x="1828800" y="0"/>
                  </a:lnTo>
                  <a:lnTo>
                    <a:pt x="1828800" y="1005840"/>
                  </a:lnTo>
                  <a:lnTo>
                    <a:pt x="0" y="1005840"/>
                  </a:lnTo>
                  <a:close/>
                </a:path>
              </a:pathLst>
            </a:custGeom>
            <a:blipFill>
              <a:blip r:embed="rId3">
                <a:alphaModFix amt="0"/>
              </a:blip>
              <a:stretch>
                <a:fillRect l="-20566" t="0" r="-20566" b="0"/>
              </a:stretch>
            </a:blipFill>
          </p:spPr>
        </p:sp>
        <p:sp>
          <p:nvSpPr>
            <p:cNvPr name="TextBox 86" id="86"/>
            <p:cNvSpPr txBox="true"/>
            <p:nvPr/>
          </p:nvSpPr>
          <p:spPr>
            <a:xfrm>
              <a:off x="0" y="-19050"/>
              <a:ext cx="1828800" cy="1024890"/>
            </a:xfrm>
            <a:prstGeom prst="rect">
              <a:avLst/>
            </a:prstGeom>
          </p:spPr>
          <p:txBody>
            <a:bodyPr anchor="ctr" rtlCol="false" tIns="0" lIns="0" bIns="0" rIns="0"/>
            <a:lstStyle/>
            <a:p>
              <a:pPr algn="l">
                <a:lnSpc>
                  <a:spcPts val="2340"/>
                </a:lnSpc>
              </a:pPr>
              <a:r>
                <a:rPr lang="en-US" sz="1950" b="true">
                  <a:solidFill>
                    <a:srgbClr val="141414"/>
                  </a:solidFill>
                  <a:latin typeface="Arial Bold"/>
                  <a:ea typeface="Arial Bold"/>
                  <a:cs typeface="Arial Bold"/>
                  <a:sym typeface="Arial Bold"/>
                </a:rPr>
                <a:t>SERVE</a:t>
              </a:r>
            </a:p>
          </p:txBody>
        </p:sp>
      </p:grpSp>
      <p:grpSp>
        <p:nvGrpSpPr>
          <p:cNvPr name="Group 87" id="87"/>
          <p:cNvGrpSpPr/>
          <p:nvPr/>
        </p:nvGrpSpPr>
        <p:grpSpPr>
          <a:xfrm rot="0">
            <a:off x="15156180" y="5417820"/>
            <a:ext cx="2194560" cy="411480"/>
            <a:chOff x="0" y="0"/>
            <a:chExt cx="2926080" cy="548640"/>
          </a:xfrm>
        </p:grpSpPr>
        <p:sp>
          <p:nvSpPr>
            <p:cNvPr name="Freeform 88" id="88"/>
            <p:cNvSpPr/>
            <p:nvPr/>
          </p:nvSpPr>
          <p:spPr>
            <a:xfrm flipH="false" flipV="false" rot="0">
              <a:off x="0" y="0"/>
              <a:ext cx="2926080" cy="548640"/>
            </a:xfrm>
            <a:custGeom>
              <a:avLst/>
              <a:gdLst/>
              <a:ahLst/>
              <a:cxnLst/>
              <a:rect r="r" b="b" t="t" l="l"/>
              <a:pathLst>
                <a:path h="548640" w="2926080">
                  <a:moveTo>
                    <a:pt x="0" y="0"/>
                  </a:moveTo>
                  <a:lnTo>
                    <a:pt x="2926080" y="0"/>
                  </a:lnTo>
                  <a:lnTo>
                    <a:pt x="2926080" y="548640"/>
                  </a:lnTo>
                  <a:lnTo>
                    <a:pt x="0" y="548640"/>
                  </a:lnTo>
                  <a:close/>
                </a:path>
              </a:pathLst>
            </a:custGeom>
            <a:blipFill>
              <a:blip r:embed="rId3">
                <a:alphaModFix amt="0"/>
              </a:blip>
              <a:stretch>
                <a:fillRect l="0" t="-53920" r="0" b="-53920"/>
              </a:stretch>
            </a:blipFill>
          </p:spPr>
        </p:sp>
        <p:sp>
          <p:nvSpPr>
            <p:cNvPr name="TextBox 89" id="89"/>
            <p:cNvSpPr txBox="true"/>
            <p:nvPr/>
          </p:nvSpPr>
          <p:spPr>
            <a:xfrm>
              <a:off x="0" y="-19050"/>
              <a:ext cx="2926080" cy="567690"/>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Pulse</a:t>
              </a:r>
            </a:p>
          </p:txBody>
        </p:sp>
      </p:grpSp>
      <p:sp>
        <p:nvSpPr>
          <p:cNvPr name="TextBox 90" id="90"/>
          <p:cNvSpPr txBox="true"/>
          <p:nvPr/>
        </p:nvSpPr>
        <p:spPr>
          <a:xfrm rot="0">
            <a:off x="15156180" y="5810250"/>
            <a:ext cx="2194560" cy="1390650"/>
          </a:xfrm>
          <a:prstGeom prst="rect">
            <a:avLst/>
          </a:prstGeom>
        </p:spPr>
        <p:txBody>
          <a:bodyPr anchor="t" rtlCol="false" tIns="0" lIns="0" bIns="0" rIns="0">
            <a:spAutoFit/>
          </a:bodyPr>
          <a:lstStyle/>
          <a:p>
            <a:pPr algn="l">
              <a:lnSpc>
                <a:spcPts val="1800"/>
              </a:lnSpc>
            </a:pPr>
            <a:r>
              <a:rPr lang="en-US" sz="1500">
                <a:solidFill>
                  <a:srgbClr val="141414"/>
                </a:solidFill>
                <a:latin typeface="Arial"/>
                <a:ea typeface="Arial"/>
                <a:cs typeface="Arial"/>
                <a:sym typeface="Arial"/>
              </a:rPr>
              <a:t>Answers the shop's customers on WhatsApp, recovers failed UPI</a:t>
            </a:r>
          </a:p>
        </p:txBody>
      </p:sp>
      <p:grpSp>
        <p:nvGrpSpPr>
          <p:cNvPr name="Group 91" id="91"/>
          <p:cNvGrpSpPr/>
          <p:nvPr/>
        </p:nvGrpSpPr>
        <p:grpSpPr>
          <a:xfrm rot="0">
            <a:off x="822960" y="7680960"/>
            <a:ext cx="4389120" cy="411480"/>
            <a:chOff x="0" y="0"/>
            <a:chExt cx="5852160" cy="548640"/>
          </a:xfrm>
        </p:grpSpPr>
        <p:sp>
          <p:nvSpPr>
            <p:cNvPr name="Freeform 92" id="92"/>
            <p:cNvSpPr/>
            <p:nvPr/>
          </p:nvSpPr>
          <p:spPr>
            <a:xfrm flipH="false" flipV="false" rot="0">
              <a:off x="0" y="0"/>
              <a:ext cx="5852160" cy="548640"/>
            </a:xfrm>
            <a:custGeom>
              <a:avLst/>
              <a:gdLst/>
              <a:ahLst/>
              <a:cxnLst/>
              <a:rect r="r" b="b" t="t" l="l"/>
              <a:pathLst>
                <a:path h="548640" w="5852160">
                  <a:moveTo>
                    <a:pt x="0" y="0"/>
                  </a:moveTo>
                  <a:lnTo>
                    <a:pt x="5852160" y="0"/>
                  </a:lnTo>
                  <a:lnTo>
                    <a:pt x="5852160" y="548640"/>
                  </a:lnTo>
                  <a:lnTo>
                    <a:pt x="0" y="548640"/>
                  </a:lnTo>
                  <a:close/>
                </a:path>
              </a:pathLst>
            </a:custGeom>
            <a:blipFill>
              <a:blip r:embed="rId3">
                <a:alphaModFix amt="0"/>
              </a:blip>
              <a:stretch>
                <a:fillRect l="0" t="-157840" r="0" b="-157840"/>
              </a:stretch>
            </a:blipFill>
          </p:spPr>
        </p:sp>
        <p:sp>
          <p:nvSpPr>
            <p:cNvPr name="TextBox 93" id="93"/>
            <p:cNvSpPr txBox="true"/>
            <p:nvPr/>
          </p:nvSpPr>
          <p:spPr>
            <a:xfrm>
              <a:off x="0" y="-19050"/>
              <a:ext cx="5852160" cy="567690"/>
            </a:xfrm>
            <a:prstGeom prst="rect">
              <a:avLst/>
            </a:prstGeom>
          </p:spPr>
          <p:txBody>
            <a:bodyPr anchor="ctr" rtlCol="false" tIns="0" lIns="0" bIns="0" rIns="0"/>
            <a:lstStyle/>
            <a:p>
              <a:pPr algn="l">
                <a:lnSpc>
                  <a:spcPts val="1980"/>
                </a:lnSpc>
              </a:pPr>
              <a:r>
                <a:rPr lang="en-US" b="true" sz="1650" spc="299">
                  <a:solidFill>
                    <a:srgbClr val="141414"/>
                  </a:solidFill>
                  <a:latin typeface="Arial Bold"/>
                  <a:ea typeface="Arial Bold"/>
                  <a:cs typeface="Arial Bold"/>
                  <a:sym typeface="Arial Bold"/>
                </a:rPr>
                <a:t>EVERY AGENT, EVERY TASK:</a:t>
              </a:r>
            </a:p>
          </p:txBody>
        </p:sp>
      </p:grpSp>
      <p:grpSp>
        <p:nvGrpSpPr>
          <p:cNvPr name="Group 94" id="94"/>
          <p:cNvGrpSpPr/>
          <p:nvPr/>
        </p:nvGrpSpPr>
        <p:grpSpPr>
          <a:xfrm rot="0">
            <a:off x="811054" y="8149114"/>
            <a:ext cx="1779460" cy="709612"/>
            <a:chOff x="0" y="0"/>
            <a:chExt cx="2372614" cy="946150"/>
          </a:xfrm>
        </p:grpSpPr>
        <p:sp>
          <p:nvSpPr>
            <p:cNvPr name="Freeform 95" id="95"/>
            <p:cNvSpPr/>
            <p:nvPr/>
          </p:nvSpPr>
          <p:spPr>
            <a:xfrm flipH="false" flipV="false" rot="0">
              <a:off x="0" y="0"/>
              <a:ext cx="2372614" cy="946150"/>
            </a:xfrm>
            <a:custGeom>
              <a:avLst/>
              <a:gdLst/>
              <a:ahLst/>
              <a:cxnLst/>
              <a:rect r="r" b="b" t="t" l="l"/>
              <a:pathLst>
                <a:path h="946150" w="2372614">
                  <a:moveTo>
                    <a:pt x="0" y="473075"/>
                  </a:moveTo>
                  <a:cubicBezTo>
                    <a:pt x="0" y="211836"/>
                    <a:pt x="211836" y="0"/>
                    <a:pt x="473075" y="0"/>
                  </a:cubicBezTo>
                  <a:lnTo>
                    <a:pt x="1899539" y="0"/>
                  </a:lnTo>
                  <a:cubicBezTo>
                    <a:pt x="2160778" y="0"/>
                    <a:pt x="2372614" y="211836"/>
                    <a:pt x="2372614" y="473075"/>
                  </a:cubicBezTo>
                  <a:cubicBezTo>
                    <a:pt x="2372614" y="734314"/>
                    <a:pt x="2160778" y="946150"/>
                    <a:pt x="1899539" y="946150"/>
                  </a:cubicBezTo>
                  <a:lnTo>
                    <a:pt x="473075" y="946150"/>
                  </a:lnTo>
                  <a:cubicBezTo>
                    <a:pt x="211836" y="946150"/>
                    <a:pt x="0" y="734314"/>
                    <a:pt x="0" y="473075"/>
                  </a:cubicBezTo>
                  <a:close/>
                </a:path>
              </a:pathLst>
            </a:custGeom>
            <a:solidFill>
              <a:srgbClr val="FFFFFF"/>
            </a:solidFill>
            <a:ln w="23812" cap="sq">
              <a:solidFill>
                <a:srgbClr val="141414"/>
              </a:solidFill>
              <a:prstDash val="solid"/>
              <a:miter/>
            </a:ln>
          </p:spPr>
        </p:sp>
      </p:grpSp>
      <p:grpSp>
        <p:nvGrpSpPr>
          <p:cNvPr name="Group 96" id="96"/>
          <p:cNvGrpSpPr/>
          <p:nvPr/>
        </p:nvGrpSpPr>
        <p:grpSpPr>
          <a:xfrm rot="0">
            <a:off x="987552" y="8339328"/>
            <a:ext cx="329184" cy="329184"/>
            <a:chOff x="0" y="0"/>
            <a:chExt cx="438912" cy="438912"/>
          </a:xfrm>
        </p:grpSpPr>
        <p:sp>
          <p:nvSpPr>
            <p:cNvPr name="Freeform 97" id="97" descr="preencoded.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11"/>
              <a:stretch>
                <a:fillRect l="0" t="0" r="0" b="0"/>
              </a:stretch>
            </a:blipFill>
          </p:spPr>
        </p:sp>
      </p:grpSp>
      <p:grpSp>
        <p:nvGrpSpPr>
          <p:cNvPr name="Group 98" id="98"/>
          <p:cNvGrpSpPr/>
          <p:nvPr/>
        </p:nvGrpSpPr>
        <p:grpSpPr>
          <a:xfrm rot="0">
            <a:off x="1371600" y="8161020"/>
            <a:ext cx="1179576" cy="685800"/>
            <a:chOff x="0" y="0"/>
            <a:chExt cx="1572768" cy="914400"/>
          </a:xfrm>
        </p:grpSpPr>
        <p:sp>
          <p:nvSpPr>
            <p:cNvPr name="Freeform 99" id="99"/>
            <p:cNvSpPr/>
            <p:nvPr/>
          </p:nvSpPr>
          <p:spPr>
            <a:xfrm flipH="false" flipV="false" rot="0">
              <a:off x="0" y="0"/>
              <a:ext cx="1572768" cy="914400"/>
            </a:xfrm>
            <a:custGeom>
              <a:avLst/>
              <a:gdLst/>
              <a:ahLst/>
              <a:cxnLst/>
              <a:rect r="r" b="b" t="t" l="l"/>
              <a:pathLst>
                <a:path h="914400" w="1572768">
                  <a:moveTo>
                    <a:pt x="0" y="0"/>
                  </a:moveTo>
                  <a:lnTo>
                    <a:pt x="1572768" y="0"/>
                  </a:lnTo>
                  <a:lnTo>
                    <a:pt x="1572768" y="914400"/>
                  </a:lnTo>
                  <a:lnTo>
                    <a:pt x="0" y="914400"/>
                  </a:lnTo>
                  <a:close/>
                </a:path>
              </a:pathLst>
            </a:custGeom>
            <a:blipFill>
              <a:blip r:embed="rId3">
                <a:alphaModFix amt="0"/>
              </a:blip>
              <a:stretch>
                <a:fillRect l="-24595" t="0" r="-24595" b="0"/>
              </a:stretch>
            </a:blipFill>
          </p:spPr>
        </p:sp>
        <p:sp>
          <p:nvSpPr>
            <p:cNvPr name="TextBox 100" id="100"/>
            <p:cNvSpPr txBox="true"/>
            <p:nvPr/>
          </p:nvSpPr>
          <p:spPr>
            <a:xfrm>
              <a:off x="0" y="-19050"/>
              <a:ext cx="1572768" cy="933450"/>
            </a:xfrm>
            <a:prstGeom prst="rect">
              <a:avLst/>
            </a:prstGeom>
          </p:spPr>
          <p:txBody>
            <a:bodyPr anchor="ctr" rtlCol="false" tIns="0" lIns="0" bIns="0" rIns="0"/>
            <a:lstStyle/>
            <a:p>
              <a:pPr algn="l">
                <a:lnSpc>
                  <a:spcPts val="1800"/>
                </a:lnSpc>
              </a:pPr>
              <a:r>
                <a:rPr lang="en-US" sz="1500" b="true">
                  <a:solidFill>
                    <a:srgbClr val="141414"/>
                  </a:solidFill>
                  <a:latin typeface="Arial Bold"/>
                  <a:ea typeface="Arial Bold"/>
                  <a:cs typeface="Arial Bold"/>
                  <a:sym typeface="Arial Bold"/>
                </a:rPr>
                <a:t>Hear</a:t>
              </a:r>
            </a:p>
          </p:txBody>
        </p:sp>
      </p:grpSp>
      <p:grpSp>
        <p:nvGrpSpPr>
          <p:cNvPr name="Group 101" id="101"/>
          <p:cNvGrpSpPr/>
          <p:nvPr/>
        </p:nvGrpSpPr>
        <p:grpSpPr>
          <a:xfrm rot="0">
            <a:off x="2676430" y="8149114"/>
            <a:ext cx="1779460" cy="709612"/>
            <a:chOff x="0" y="0"/>
            <a:chExt cx="2372614" cy="946150"/>
          </a:xfrm>
        </p:grpSpPr>
        <p:sp>
          <p:nvSpPr>
            <p:cNvPr name="Freeform 102" id="102"/>
            <p:cNvSpPr/>
            <p:nvPr/>
          </p:nvSpPr>
          <p:spPr>
            <a:xfrm flipH="false" flipV="false" rot="0">
              <a:off x="0" y="0"/>
              <a:ext cx="2372614" cy="946150"/>
            </a:xfrm>
            <a:custGeom>
              <a:avLst/>
              <a:gdLst/>
              <a:ahLst/>
              <a:cxnLst/>
              <a:rect r="r" b="b" t="t" l="l"/>
              <a:pathLst>
                <a:path h="946150" w="2372614">
                  <a:moveTo>
                    <a:pt x="0" y="473075"/>
                  </a:moveTo>
                  <a:cubicBezTo>
                    <a:pt x="0" y="211836"/>
                    <a:pt x="211836" y="0"/>
                    <a:pt x="473075" y="0"/>
                  </a:cubicBezTo>
                  <a:lnTo>
                    <a:pt x="1899539" y="0"/>
                  </a:lnTo>
                  <a:cubicBezTo>
                    <a:pt x="2160778" y="0"/>
                    <a:pt x="2372614" y="211836"/>
                    <a:pt x="2372614" y="473075"/>
                  </a:cubicBezTo>
                  <a:cubicBezTo>
                    <a:pt x="2372614" y="734314"/>
                    <a:pt x="2160778" y="946150"/>
                    <a:pt x="1899539" y="946150"/>
                  </a:cubicBezTo>
                  <a:lnTo>
                    <a:pt x="473075" y="946150"/>
                  </a:lnTo>
                  <a:cubicBezTo>
                    <a:pt x="211836" y="946150"/>
                    <a:pt x="0" y="734314"/>
                    <a:pt x="0" y="473075"/>
                  </a:cubicBezTo>
                  <a:close/>
                </a:path>
              </a:pathLst>
            </a:custGeom>
            <a:solidFill>
              <a:srgbClr val="FFFFFF"/>
            </a:solidFill>
            <a:ln w="23812" cap="sq">
              <a:solidFill>
                <a:srgbClr val="141414"/>
              </a:solidFill>
              <a:prstDash val="solid"/>
              <a:miter/>
            </a:ln>
          </p:spPr>
        </p:sp>
      </p:grpSp>
      <p:grpSp>
        <p:nvGrpSpPr>
          <p:cNvPr name="Group 103" id="103"/>
          <p:cNvGrpSpPr/>
          <p:nvPr/>
        </p:nvGrpSpPr>
        <p:grpSpPr>
          <a:xfrm rot="0">
            <a:off x="2852928" y="8339328"/>
            <a:ext cx="329184" cy="329184"/>
            <a:chOff x="0" y="0"/>
            <a:chExt cx="438912" cy="438912"/>
          </a:xfrm>
        </p:grpSpPr>
        <p:sp>
          <p:nvSpPr>
            <p:cNvPr name="Freeform 104" id="104" descr="preencoded.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12"/>
              <a:stretch>
                <a:fillRect l="0" t="0" r="0" b="0"/>
              </a:stretch>
            </a:blipFill>
          </p:spPr>
        </p:sp>
      </p:grpSp>
      <p:grpSp>
        <p:nvGrpSpPr>
          <p:cNvPr name="Group 105" id="105"/>
          <p:cNvGrpSpPr/>
          <p:nvPr/>
        </p:nvGrpSpPr>
        <p:grpSpPr>
          <a:xfrm rot="0">
            <a:off x="3236976" y="8161020"/>
            <a:ext cx="1179576" cy="685800"/>
            <a:chOff x="0" y="0"/>
            <a:chExt cx="1572768" cy="914400"/>
          </a:xfrm>
        </p:grpSpPr>
        <p:sp>
          <p:nvSpPr>
            <p:cNvPr name="Freeform 106" id="106"/>
            <p:cNvSpPr/>
            <p:nvPr/>
          </p:nvSpPr>
          <p:spPr>
            <a:xfrm flipH="false" flipV="false" rot="0">
              <a:off x="0" y="0"/>
              <a:ext cx="1572768" cy="914400"/>
            </a:xfrm>
            <a:custGeom>
              <a:avLst/>
              <a:gdLst/>
              <a:ahLst/>
              <a:cxnLst/>
              <a:rect r="r" b="b" t="t" l="l"/>
              <a:pathLst>
                <a:path h="914400" w="1572768">
                  <a:moveTo>
                    <a:pt x="0" y="0"/>
                  </a:moveTo>
                  <a:lnTo>
                    <a:pt x="1572768" y="0"/>
                  </a:lnTo>
                  <a:lnTo>
                    <a:pt x="1572768" y="914400"/>
                  </a:lnTo>
                  <a:lnTo>
                    <a:pt x="0" y="914400"/>
                  </a:lnTo>
                  <a:close/>
                </a:path>
              </a:pathLst>
            </a:custGeom>
            <a:blipFill>
              <a:blip r:embed="rId3">
                <a:alphaModFix amt="0"/>
              </a:blip>
              <a:stretch>
                <a:fillRect l="-24595" t="0" r="-24595" b="0"/>
              </a:stretch>
            </a:blipFill>
          </p:spPr>
        </p:sp>
        <p:sp>
          <p:nvSpPr>
            <p:cNvPr name="TextBox 107" id="107"/>
            <p:cNvSpPr txBox="true"/>
            <p:nvPr/>
          </p:nvSpPr>
          <p:spPr>
            <a:xfrm>
              <a:off x="0" y="-19050"/>
              <a:ext cx="1572768" cy="933450"/>
            </a:xfrm>
            <a:prstGeom prst="rect">
              <a:avLst/>
            </a:prstGeom>
          </p:spPr>
          <p:txBody>
            <a:bodyPr anchor="ctr" rtlCol="false" tIns="0" lIns="0" bIns="0" rIns="0"/>
            <a:lstStyle/>
            <a:p>
              <a:pPr algn="l">
                <a:lnSpc>
                  <a:spcPts val="1800"/>
                </a:lnSpc>
              </a:pPr>
              <a:r>
                <a:rPr lang="en-US" sz="1500" b="true">
                  <a:solidFill>
                    <a:srgbClr val="141414"/>
                  </a:solidFill>
                  <a:latin typeface="Arial Bold"/>
                  <a:ea typeface="Arial Bold"/>
                  <a:cs typeface="Arial Bold"/>
                  <a:sym typeface="Arial Bold"/>
                </a:rPr>
                <a:t>Understand</a:t>
              </a:r>
            </a:p>
          </p:txBody>
        </p:sp>
      </p:grpSp>
      <p:grpSp>
        <p:nvGrpSpPr>
          <p:cNvPr name="Group 108" id="108"/>
          <p:cNvGrpSpPr/>
          <p:nvPr/>
        </p:nvGrpSpPr>
        <p:grpSpPr>
          <a:xfrm rot="0">
            <a:off x="4541806" y="8149114"/>
            <a:ext cx="1779460" cy="709612"/>
            <a:chOff x="0" y="0"/>
            <a:chExt cx="2372614" cy="946150"/>
          </a:xfrm>
        </p:grpSpPr>
        <p:sp>
          <p:nvSpPr>
            <p:cNvPr name="Freeform 109" id="109"/>
            <p:cNvSpPr/>
            <p:nvPr/>
          </p:nvSpPr>
          <p:spPr>
            <a:xfrm flipH="false" flipV="false" rot="0">
              <a:off x="0" y="0"/>
              <a:ext cx="2372614" cy="946150"/>
            </a:xfrm>
            <a:custGeom>
              <a:avLst/>
              <a:gdLst/>
              <a:ahLst/>
              <a:cxnLst/>
              <a:rect r="r" b="b" t="t" l="l"/>
              <a:pathLst>
                <a:path h="946150" w="2372614">
                  <a:moveTo>
                    <a:pt x="0" y="473075"/>
                  </a:moveTo>
                  <a:cubicBezTo>
                    <a:pt x="0" y="211836"/>
                    <a:pt x="211836" y="0"/>
                    <a:pt x="473075" y="0"/>
                  </a:cubicBezTo>
                  <a:lnTo>
                    <a:pt x="1899539" y="0"/>
                  </a:lnTo>
                  <a:cubicBezTo>
                    <a:pt x="2160778" y="0"/>
                    <a:pt x="2372614" y="211836"/>
                    <a:pt x="2372614" y="473075"/>
                  </a:cubicBezTo>
                  <a:cubicBezTo>
                    <a:pt x="2372614" y="734314"/>
                    <a:pt x="2160778" y="946150"/>
                    <a:pt x="1899539" y="946150"/>
                  </a:cubicBezTo>
                  <a:lnTo>
                    <a:pt x="473075" y="946150"/>
                  </a:lnTo>
                  <a:cubicBezTo>
                    <a:pt x="211836" y="946150"/>
                    <a:pt x="0" y="734314"/>
                    <a:pt x="0" y="473075"/>
                  </a:cubicBezTo>
                  <a:close/>
                </a:path>
              </a:pathLst>
            </a:custGeom>
            <a:solidFill>
              <a:srgbClr val="FFFFFF"/>
            </a:solidFill>
            <a:ln w="23812" cap="sq">
              <a:solidFill>
                <a:srgbClr val="141414"/>
              </a:solidFill>
              <a:prstDash val="solid"/>
              <a:miter/>
            </a:ln>
          </p:spPr>
        </p:sp>
      </p:grpSp>
      <p:grpSp>
        <p:nvGrpSpPr>
          <p:cNvPr name="Group 110" id="110"/>
          <p:cNvGrpSpPr/>
          <p:nvPr/>
        </p:nvGrpSpPr>
        <p:grpSpPr>
          <a:xfrm rot="0">
            <a:off x="4718304" y="8339328"/>
            <a:ext cx="329184" cy="329184"/>
            <a:chOff x="0" y="0"/>
            <a:chExt cx="438912" cy="438912"/>
          </a:xfrm>
        </p:grpSpPr>
        <p:sp>
          <p:nvSpPr>
            <p:cNvPr name="Freeform 111" id="111" descr="preencoded.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13"/>
              <a:stretch>
                <a:fillRect l="0" t="0" r="0" b="0"/>
              </a:stretch>
            </a:blipFill>
          </p:spPr>
        </p:sp>
      </p:grpSp>
      <p:grpSp>
        <p:nvGrpSpPr>
          <p:cNvPr name="Group 112" id="112"/>
          <p:cNvGrpSpPr/>
          <p:nvPr/>
        </p:nvGrpSpPr>
        <p:grpSpPr>
          <a:xfrm rot="0">
            <a:off x="5102352" y="8161020"/>
            <a:ext cx="1179576" cy="685800"/>
            <a:chOff x="0" y="0"/>
            <a:chExt cx="1572768" cy="914400"/>
          </a:xfrm>
        </p:grpSpPr>
        <p:sp>
          <p:nvSpPr>
            <p:cNvPr name="Freeform 113" id="113"/>
            <p:cNvSpPr/>
            <p:nvPr/>
          </p:nvSpPr>
          <p:spPr>
            <a:xfrm flipH="false" flipV="false" rot="0">
              <a:off x="0" y="0"/>
              <a:ext cx="1572768" cy="914400"/>
            </a:xfrm>
            <a:custGeom>
              <a:avLst/>
              <a:gdLst/>
              <a:ahLst/>
              <a:cxnLst/>
              <a:rect r="r" b="b" t="t" l="l"/>
              <a:pathLst>
                <a:path h="914400" w="1572768">
                  <a:moveTo>
                    <a:pt x="0" y="0"/>
                  </a:moveTo>
                  <a:lnTo>
                    <a:pt x="1572768" y="0"/>
                  </a:lnTo>
                  <a:lnTo>
                    <a:pt x="1572768" y="914400"/>
                  </a:lnTo>
                  <a:lnTo>
                    <a:pt x="0" y="914400"/>
                  </a:lnTo>
                  <a:close/>
                </a:path>
              </a:pathLst>
            </a:custGeom>
            <a:blipFill>
              <a:blip r:embed="rId3">
                <a:alphaModFix amt="0"/>
              </a:blip>
              <a:stretch>
                <a:fillRect l="-24595" t="0" r="-24595" b="0"/>
              </a:stretch>
            </a:blipFill>
          </p:spPr>
        </p:sp>
        <p:sp>
          <p:nvSpPr>
            <p:cNvPr name="TextBox 114" id="114"/>
            <p:cNvSpPr txBox="true"/>
            <p:nvPr/>
          </p:nvSpPr>
          <p:spPr>
            <a:xfrm>
              <a:off x="0" y="-19050"/>
              <a:ext cx="1572768" cy="933450"/>
            </a:xfrm>
            <a:prstGeom prst="rect">
              <a:avLst/>
            </a:prstGeom>
          </p:spPr>
          <p:txBody>
            <a:bodyPr anchor="ctr" rtlCol="false" tIns="0" lIns="0" bIns="0" rIns="0"/>
            <a:lstStyle/>
            <a:p>
              <a:pPr algn="l">
                <a:lnSpc>
                  <a:spcPts val="1800"/>
                </a:lnSpc>
              </a:pPr>
              <a:r>
                <a:rPr lang="en-US" sz="1500" b="true">
                  <a:solidFill>
                    <a:srgbClr val="141414"/>
                  </a:solidFill>
                  <a:latin typeface="Arial Bold"/>
                  <a:ea typeface="Arial Bold"/>
                  <a:cs typeface="Arial Bold"/>
                  <a:sym typeface="Arial Bold"/>
                </a:rPr>
                <a:t>Remember</a:t>
              </a:r>
            </a:p>
          </p:txBody>
        </p:sp>
      </p:grpSp>
      <p:grpSp>
        <p:nvGrpSpPr>
          <p:cNvPr name="Group 115" id="115"/>
          <p:cNvGrpSpPr/>
          <p:nvPr/>
        </p:nvGrpSpPr>
        <p:grpSpPr>
          <a:xfrm rot="0">
            <a:off x="6407182" y="8149114"/>
            <a:ext cx="1779460" cy="709612"/>
            <a:chOff x="0" y="0"/>
            <a:chExt cx="2372614" cy="946150"/>
          </a:xfrm>
        </p:grpSpPr>
        <p:sp>
          <p:nvSpPr>
            <p:cNvPr name="Freeform 116" id="116"/>
            <p:cNvSpPr/>
            <p:nvPr/>
          </p:nvSpPr>
          <p:spPr>
            <a:xfrm flipH="false" flipV="false" rot="0">
              <a:off x="0" y="0"/>
              <a:ext cx="2372614" cy="946150"/>
            </a:xfrm>
            <a:custGeom>
              <a:avLst/>
              <a:gdLst/>
              <a:ahLst/>
              <a:cxnLst/>
              <a:rect r="r" b="b" t="t" l="l"/>
              <a:pathLst>
                <a:path h="946150" w="2372614">
                  <a:moveTo>
                    <a:pt x="0" y="473075"/>
                  </a:moveTo>
                  <a:cubicBezTo>
                    <a:pt x="0" y="211836"/>
                    <a:pt x="211836" y="0"/>
                    <a:pt x="473075" y="0"/>
                  </a:cubicBezTo>
                  <a:lnTo>
                    <a:pt x="1899539" y="0"/>
                  </a:lnTo>
                  <a:cubicBezTo>
                    <a:pt x="2160778" y="0"/>
                    <a:pt x="2372614" y="211836"/>
                    <a:pt x="2372614" y="473075"/>
                  </a:cubicBezTo>
                  <a:cubicBezTo>
                    <a:pt x="2372614" y="734314"/>
                    <a:pt x="2160778" y="946150"/>
                    <a:pt x="1899539" y="946150"/>
                  </a:cubicBezTo>
                  <a:lnTo>
                    <a:pt x="473075" y="946150"/>
                  </a:lnTo>
                  <a:cubicBezTo>
                    <a:pt x="211836" y="946150"/>
                    <a:pt x="0" y="734314"/>
                    <a:pt x="0" y="473075"/>
                  </a:cubicBezTo>
                  <a:close/>
                </a:path>
              </a:pathLst>
            </a:custGeom>
            <a:solidFill>
              <a:srgbClr val="FFFFFF"/>
            </a:solidFill>
            <a:ln w="23812" cap="sq">
              <a:solidFill>
                <a:srgbClr val="141414"/>
              </a:solidFill>
              <a:prstDash val="solid"/>
              <a:miter/>
            </a:ln>
          </p:spPr>
        </p:sp>
      </p:grpSp>
      <p:grpSp>
        <p:nvGrpSpPr>
          <p:cNvPr name="Group 117" id="117"/>
          <p:cNvGrpSpPr/>
          <p:nvPr/>
        </p:nvGrpSpPr>
        <p:grpSpPr>
          <a:xfrm rot="0">
            <a:off x="6583680" y="8339328"/>
            <a:ext cx="329184" cy="329184"/>
            <a:chOff x="0" y="0"/>
            <a:chExt cx="438912" cy="438912"/>
          </a:xfrm>
        </p:grpSpPr>
        <p:sp>
          <p:nvSpPr>
            <p:cNvPr name="Freeform 118" id="118" descr="preencoded.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14"/>
              <a:stretch>
                <a:fillRect l="0" t="0" r="0" b="0"/>
              </a:stretch>
            </a:blipFill>
          </p:spPr>
        </p:sp>
      </p:grpSp>
      <p:grpSp>
        <p:nvGrpSpPr>
          <p:cNvPr name="Group 119" id="119"/>
          <p:cNvGrpSpPr/>
          <p:nvPr/>
        </p:nvGrpSpPr>
        <p:grpSpPr>
          <a:xfrm rot="0">
            <a:off x="6967728" y="8161020"/>
            <a:ext cx="1179576" cy="685800"/>
            <a:chOff x="0" y="0"/>
            <a:chExt cx="1572768" cy="914400"/>
          </a:xfrm>
        </p:grpSpPr>
        <p:sp>
          <p:nvSpPr>
            <p:cNvPr name="Freeform 120" id="120"/>
            <p:cNvSpPr/>
            <p:nvPr/>
          </p:nvSpPr>
          <p:spPr>
            <a:xfrm flipH="false" flipV="false" rot="0">
              <a:off x="0" y="0"/>
              <a:ext cx="1572768" cy="914400"/>
            </a:xfrm>
            <a:custGeom>
              <a:avLst/>
              <a:gdLst/>
              <a:ahLst/>
              <a:cxnLst/>
              <a:rect r="r" b="b" t="t" l="l"/>
              <a:pathLst>
                <a:path h="914400" w="1572768">
                  <a:moveTo>
                    <a:pt x="0" y="0"/>
                  </a:moveTo>
                  <a:lnTo>
                    <a:pt x="1572768" y="0"/>
                  </a:lnTo>
                  <a:lnTo>
                    <a:pt x="1572768" y="914400"/>
                  </a:lnTo>
                  <a:lnTo>
                    <a:pt x="0" y="914400"/>
                  </a:lnTo>
                  <a:close/>
                </a:path>
              </a:pathLst>
            </a:custGeom>
            <a:blipFill>
              <a:blip r:embed="rId3">
                <a:alphaModFix amt="0"/>
              </a:blip>
              <a:stretch>
                <a:fillRect l="-24595" t="0" r="-24595" b="0"/>
              </a:stretch>
            </a:blipFill>
          </p:spPr>
        </p:sp>
        <p:sp>
          <p:nvSpPr>
            <p:cNvPr name="TextBox 121" id="121"/>
            <p:cNvSpPr txBox="true"/>
            <p:nvPr/>
          </p:nvSpPr>
          <p:spPr>
            <a:xfrm>
              <a:off x="0" y="-19050"/>
              <a:ext cx="1572768" cy="933450"/>
            </a:xfrm>
            <a:prstGeom prst="rect">
              <a:avLst/>
            </a:prstGeom>
          </p:spPr>
          <p:txBody>
            <a:bodyPr anchor="ctr" rtlCol="false" tIns="0" lIns="0" bIns="0" rIns="0"/>
            <a:lstStyle/>
            <a:p>
              <a:pPr algn="l">
                <a:lnSpc>
                  <a:spcPts val="1800"/>
                </a:lnSpc>
              </a:pPr>
              <a:r>
                <a:rPr lang="en-US" sz="1500" b="true">
                  <a:solidFill>
                    <a:srgbClr val="141414"/>
                  </a:solidFill>
                  <a:latin typeface="Arial Bold"/>
                  <a:ea typeface="Arial Bold"/>
                  <a:cs typeface="Arial Bold"/>
                  <a:sym typeface="Arial Bold"/>
                </a:rPr>
                <a:t>Decide</a:t>
              </a:r>
            </a:p>
          </p:txBody>
        </p:sp>
      </p:grpSp>
      <p:grpSp>
        <p:nvGrpSpPr>
          <p:cNvPr name="Group 122" id="122"/>
          <p:cNvGrpSpPr/>
          <p:nvPr/>
        </p:nvGrpSpPr>
        <p:grpSpPr>
          <a:xfrm rot="0">
            <a:off x="8272558" y="8149114"/>
            <a:ext cx="1779460" cy="709612"/>
            <a:chOff x="0" y="0"/>
            <a:chExt cx="2372614" cy="946150"/>
          </a:xfrm>
        </p:grpSpPr>
        <p:sp>
          <p:nvSpPr>
            <p:cNvPr name="Freeform 123" id="123"/>
            <p:cNvSpPr/>
            <p:nvPr/>
          </p:nvSpPr>
          <p:spPr>
            <a:xfrm flipH="false" flipV="false" rot="0">
              <a:off x="0" y="0"/>
              <a:ext cx="2372614" cy="946150"/>
            </a:xfrm>
            <a:custGeom>
              <a:avLst/>
              <a:gdLst/>
              <a:ahLst/>
              <a:cxnLst/>
              <a:rect r="r" b="b" t="t" l="l"/>
              <a:pathLst>
                <a:path h="946150" w="2372614">
                  <a:moveTo>
                    <a:pt x="0" y="473075"/>
                  </a:moveTo>
                  <a:cubicBezTo>
                    <a:pt x="0" y="211836"/>
                    <a:pt x="211836" y="0"/>
                    <a:pt x="473075" y="0"/>
                  </a:cubicBezTo>
                  <a:lnTo>
                    <a:pt x="1899539" y="0"/>
                  </a:lnTo>
                  <a:cubicBezTo>
                    <a:pt x="2160778" y="0"/>
                    <a:pt x="2372614" y="211836"/>
                    <a:pt x="2372614" y="473075"/>
                  </a:cubicBezTo>
                  <a:cubicBezTo>
                    <a:pt x="2372614" y="734314"/>
                    <a:pt x="2160778" y="946150"/>
                    <a:pt x="1899539" y="946150"/>
                  </a:cubicBezTo>
                  <a:lnTo>
                    <a:pt x="473075" y="946150"/>
                  </a:lnTo>
                  <a:cubicBezTo>
                    <a:pt x="211836" y="946150"/>
                    <a:pt x="0" y="734314"/>
                    <a:pt x="0" y="473075"/>
                  </a:cubicBezTo>
                  <a:close/>
                </a:path>
              </a:pathLst>
            </a:custGeom>
            <a:solidFill>
              <a:srgbClr val="FFFFFF"/>
            </a:solidFill>
            <a:ln w="23812" cap="sq">
              <a:solidFill>
                <a:srgbClr val="141414"/>
              </a:solidFill>
              <a:prstDash val="solid"/>
              <a:miter/>
            </a:ln>
          </p:spPr>
        </p:sp>
      </p:grpSp>
      <p:grpSp>
        <p:nvGrpSpPr>
          <p:cNvPr name="Group 124" id="124"/>
          <p:cNvGrpSpPr/>
          <p:nvPr/>
        </p:nvGrpSpPr>
        <p:grpSpPr>
          <a:xfrm rot="0">
            <a:off x="8449056" y="8339328"/>
            <a:ext cx="329184" cy="329184"/>
            <a:chOff x="0" y="0"/>
            <a:chExt cx="438912" cy="438912"/>
          </a:xfrm>
        </p:grpSpPr>
        <p:sp>
          <p:nvSpPr>
            <p:cNvPr name="Freeform 125" id="125" descr="preencoded.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15"/>
              <a:stretch>
                <a:fillRect l="0" t="0" r="0" b="0"/>
              </a:stretch>
            </a:blipFill>
          </p:spPr>
        </p:sp>
      </p:grpSp>
      <p:grpSp>
        <p:nvGrpSpPr>
          <p:cNvPr name="Group 126" id="126"/>
          <p:cNvGrpSpPr/>
          <p:nvPr/>
        </p:nvGrpSpPr>
        <p:grpSpPr>
          <a:xfrm rot="0">
            <a:off x="8833104" y="8161020"/>
            <a:ext cx="1179576" cy="685800"/>
            <a:chOff x="0" y="0"/>
            <a:chExt cx="1572768" cy="914400"/>
          </a:xfrm>
        </p:grpSpPr>
        <p:sp>
          <p:nvSpPr>
            <p:cNvPr name="Freeform 127" id="127"/>
            <p:cNvSpPr/>
            <p:nvPr/>
          </p:nvSpPr>
          <p:spPr>
            <a:xfrm flipH="false" flipV="false" rot="0">
              <a:off x="0" y="0"/>
              <a:ext cx="1572768" cy="914400"/>
            </a:xfrm>
            <a:custGeom>
              <a:avLst/>
              <a:gdLst/>
              <a:ahLst/>
              <a:cxnLst/>
              <a:rect r="r" b="b" t="t" l="l"/>
              <a:pathLst>
                <a:path h="914400" w="1572768">
                  <a:moveTo>
                    <a:pt x="0" y="0"/>
                  </a:moveTo>
                  <a:lnTo>
                    <a:pt x="1572768" y="0"/>
                  </a:lnTo>
                  <a:lnTo>
                    <a:pt x="1572768" y="914400"/>
                  </a:lnTo>
                  <a:lnTo>
                    <a:pt x="0" y="914400"/>
                  </a:lnTo>
                  <a:close/>
                </a:path>
              </a:pathLst>
            </a:custGeom>
            <a:blipFill>
              <a:blip r:embed="rId3">
                <a:alphaModFix amt="0"/>
              </a:blip>
              <a:stretch>
                <a:fillRect l="-24595" t="0" r="-24595" b="0"/>
              </a:stretch>
            </a:blipFill>
          </p:spPr>
        </p:sp>
        <p:sp>
          <p:nvSpPr>
            <p:cNvPr name="TextBox 128" id="128"/>
            <p:cNvSpPr txBox="true"/>
            <p:nvPr/>
          </p:nvSpPr>
          <p:spPr>
            <a:xfrm>
              <a:off x="0" y="-19050"/>
              <a:ext cx="1572768" cy="933450"/>
            </a:xfrm>
            <a:prstGeom prst="rect">
              <a:avLst/>
            </a:prstGeom>
          </p:spPr>
          <p:txBody>
            <a:bodyPr anchor="ctr" rtlCol="false" tIns="0" lIns="0" bIns="0" rIns="0"/>
            <a:lstStyle/>
            <a:p>
              <a:pPr algn="l">
                <a:lnSpc>
                  <a:spcPts val="1800"/>
                </a:lnSpc>
              </a:pPr>
              <a:r>
                <a:rPr lang="en-US" sz="1500" b="true">
                  <a:solidFill>
                    <a:srgbClr val="141414"/>
                  </a:solidFill>
                  <a:latin typeface="Arial Bold"/>
                  <a:ea typeface="Arial Bold"/>
                  <a:cs typeface="Arial Bold"/>
                  <a:sym typeface="Arial Bold"/>
                </a:rPr>
                <a:t>Act</a:t>
              </a:r>
            </a:p>
          </p:txBody>
        </p:sp>
      </p:grpSp>
      <p:grpSp>
        <p:nvGrpSpPr>
          <p:cNvPr name="Group 129" id="129"/>
          <p:cNvGrpSpPr/>
          <p:nvPr/>
        </p:nvGrpSpPr>
        <p:grpSpPr>
          <a:xfrm rot="0">
            <a:off x="10137934" y="8149114"/>
            <a:ext cx="1779460" cy="709612"/>
            <a:chOff x="0" y="0"/>
            <a:chExt cx="2372614" cy="946150"/>
          </a:xfrm>
        </p:grpSpPr>
        <p:sp>
          <p:nvSpPr>
            <p:cNvPr name="Freeform 130" id="130"/>
            <p:cNvSpPr/>
            <p:nvPr/>
          </p:nvSpPr>
          <p:spPr>
            <a:xfrm flipH="false" flipV="false" rot="0">
              <a:off x="0" y="0"/>
              <a:ext cx="2372614" cy="946150"/>
            </a:xfrm>
            <a:custGeom>
              <a:avLst/>
              <a:gdLst/>
              <a:ahLst/>
              <a:cxnLst/>
              <a:rect r="r" b="b" t="t" l="l"/>
              <a:pathLst>
                <a:path h="946150" w="2372614">
                  <a:moveTo>
                    <a:pt x="0" y="473075"/>
                  </a:moveTo>
                  <a:cubicBezTo>
                    <a:pt x="0" y="211836"/>
                    <a:pt x="211836" y="0"/>
                    <a:pt x="473075" y="0"/>
                  </a:cubicBezTo>
                  <a:lnTo>
                    <a:pt x="1899539" y="0"/>
                  </a:lnTo>
                  <a:cubicBezTo>
                    <a:pt x="2160778" y="0"/>
                    <a:pt x="2372614" y="211836"/>
                    <a:pt x="2372614" y="473075"/>
                  </a:cubicBezTo>
                  <a:cubicBezTo>
                    <a:pt x="2372614" y="734314"/>
                    <a:pt x="2160778" y="946150"/>
                    <a:pt x="1899539" y="946150"/>
                  </a:cubicBezTo>
                  <a:lnTo>
                    <a:pt x="473075" y="946150"/>
                  </a:lnTo>
                  <a:cubicBezTo>
                    <a:pt x="211836" y="946150"/>
                    <a:pt x="0" y="734314"/>
                    <a:pt x="0" y="473075"/>
                  </a:cubicBezTo>
                  <a:close/>
                </a:path>
              </a:pathLst>
            </a:custGeom>
            <a:solidFill>
              <a:srgbClr val="FFFFFF"/>
            </a:solidFill>
            <a:ln w="23812" cap="sq">
              <a:solidFill>
                <a:srgbClr val="141414"/>
              </a:solidFill>
              <a:prstDash val="solid"/>
              <a:miter/>
            </a:ln>
          </p:spPr>
        </p:sp>
      </p:grpSp>
      <p:grpSp>
        <p:nvGrpSpPr>
          <p:cNvPr name="Group 131" id="131"/>
          <p:cNvGrpSpPr/>
          <p:nvPr/>
        </p:nvGrpSpPr>
        <p:grpSpPr>
          <a:xfrm rot="0">
            <a:off x="10314432" y="8339328"/>
            <a:ext cx="329184" cy="329184"/>
            <a:chOff x="0" y="0"/>
            <a:chExt cx="438912" cy="438912"/>
          </a:xfrm>
        </p:grpSpPr>
        <p:sp>
          <p:nvSpPr>
            <p:cNvPr name="Freeform 132" id="132" descr="preencoded.png"/>
            <p:cNvSpPr/>
            <p:nvPr/>
          </p:nvSpPr>
          <p:spPr>
            <a:xfrm flipH="false" flipV="false" rot="0">
              <a:off x="0" y="0"/>
              <a:ext cx="438912" cy="438912"/>
            </a:xfrm>
            <a:custGeom>
              <a:avLst/>
              <a:gdLst/>
              <a:ahLst/>
              <a:cxnLst/>
              <a:rect r="r" b="b" t="t" l="l"/>
              <a:pathLst>
                <a:path h="438912" w="438912">
                  <a:moveTo>
                    <a:pt x="0" y="0"/>
                  </a:moveTo>
                  <a:lnTo>
                    <a:pt x="438912" y="0"/>
                  </a:lnTo>
                  <a:lnTo>
                    <a:pt x="438912" y="438912"/>
                  </a:lnTo>
                  <a:lnTo>
                    <a:pt x="0" y="438912"/>
                  </a:lnTo>
                  <a:lnTo>
                    <a:pt x="0" y="0"/>
                  </a:lnTo>
                  <a:close/>
                </a:path>
              </a:pathLst>
            </a:custGeom>
            <a:blipFill>
              <a:blip r:embed="rId16"/>
              <a:stretch>
                <a:fillRect l="0" t="0" r="0" b="0"/>
              </a:stretch>
            </a:blipFill>
          </p:spPr>
        </p:sp>
      </p:grpSp>
      <p:grpSp>
        <p:nvGrpSpPr>
          <p:cNvPr name="Group 133" id="133"/>
          <p:cNvGrpSpPr/>
          <p:nvPr/>
        </p:nvGrpSpPr>
        <p:grpSpPr>
          <a:xfrm rot="0">
            <a:off x="10698480" y="8161020"/>
            <a:ext cx="1179576" cy="685800"/>
            <a:chOff x="0" y="0"/>
            <a:chExt cx="1572768" cy="914400"/>
          </a:xfrm>
        </p:grpSpPr>
        <p:sp>
          <p:nvSpPr>
            <p:cNvPr name="Freeform 134" id="134"/>
            <p:cNvSpPr/>
            <p:nvPr/>
          </p:nvSpPr>
          <p:spPr>
            <a:xfrm flipH="false" flipV="false" rot="0">
              <a:off x="0" y="0"/>
              <a:ext cx="1572768" cy="914400"/>
            </a:xfrm>
            <a:custGeom>
              <a:avLst/>
              <a:gdLst/>
              <a:ahLst/>
              <a:cxnLst/>
              <a:rect r="r" b="b" t="t" l="l"/>
              <a:pathLst>
                <a:path h="914400" w="1572768">
                  <a:moveTo>
                    <a:pt x="0" y="0"/>
                  </a:moveTo>
                  <a:lnTo>
                    <a:pt x="1572768" y="0"/>
                  </a:lnTo>
                  <a:lnTo>
                    <a:pt x="1572768" y="914400"/>
                  </a:lnTo>
                  <a:lnTo>
                    <a:pt x="0" y="914400"/>
                  </a:lnTo>
                  <a:close/>
                </a:path>
              </a:pathLst>
            </a:custGeom>
            <a:blipFill>
              <a:blip r:embed="rId3">
                <a:alphaModFix amt="0"/>
              </a:blip>
              <a:stretch>
                <a:fillRect l="-24595" t="0" r="-24595" b="0"/>
              </a:stretch>
            </a:blipFill>
          </p:spPr>
        </p:sp>
        <p:sp>
          <p:nvSpPr>
            <p:cNvPr name="TextBox 135" id="135"/>
            <p:cNvSpPr txBox="true"/>
            <p:nvPr/>
          </p:nvSpPr>
          <p:spPr>
            <a:xfrm>
              <a:off x="0" y="-19050"/>
              <a:ext cx="1572768" cy="933450"/>
            </a:xfrm>
            <a:prstGeom prst="rect">
              <a:avLst/>
            </a:prstGeom>
          </p:spPr>
          <p:txBody>
            <a:bodyPr anchor="ctr" rtlCol="false" tIns="0" lIns="0" bIns="0" rIns="0"/>
            <a:lstStyle/>
            <a:p>
              <a:pPr algn="l">
                <a:lnSpc>
                  <a:spcPts val="1800"/>
                </a:lnSpc>
              </a:pPr>
              <a:r>
                <a:rPr lang="en-US" sz="1500" b="true">
                  <a:solidFill>
                    <a:srgbClr val="141414"/>
                  </a:solidFill>
                  <a:latin typeface="Arial Bold"/>
                  <a:ea typeface="Arial Bold"/>
                  <a:cs typeface="Arial Bold"/>
                  <a:sym typeface="Arial Bold"/>
                </a:rPr>
                <a:t>Learn</a:t>
              </a:r>
            </a:p>
          </p:txBody>
        </p:sp>
      </p:grpSp>
      <p:grpSp>
        <p:nvGrpSpPr>
          <p:cNvPr name="Group 136" id="136"/>
          <p:cNvGrpSpPr/>
          <p:nvPr/>
        </p:nvGrpSpPr>
        <p:grpSpPr>
          <a:xfrm rot="0">
            <a:off x="822960" y="8915400"/>
            <a:ext cx="10698480" cy="411480"/>
            <a:chOff x="0" y="0"/>
            <a:chExt cx="14264640" cy="548640"/>
          </a:xfrm>
        </p:grpSpPr>
        <p:sp>
          <p:nvSpPr>
            <p:cNvPr name="Freeform 137" id="137"/>
            <p:cNvSpPr/>
            <p:nvPr/>
          </p:nvSpPr>
          <p:spPr>
            <a:xfrm flipH="false" flipV="false" rot="0">
              <a:off x="0" y="0"/>
              <a:ext cx="14264639" cy="548640"/>
            </a:xfrm>
            <a:custGeom>
              <a:avLst/>
              <a:gdLst/>
              <a:ahLst/>
              <a:cxnLst/>
              <a:rect r="r" b="b" t="t" l="l"/>
              <a:pathLst>
                <a:path h="548640" w="14264639">
                  <a:moveTo>
                    <a:pt x="0" y="0"/>
                  </a:moveTo>
                  <a:lnTo>
                    <a:pt x="14264639" y="0"/>
                  </a:lnTo>
                  <a:lnTo>
                    <a:pt x="14264639" y="548640"/>
                  </a:lnTo>
                  <a:lnTo>
                    <a:pt x="0" y="548640"/>
                  </a:lnTo>
                  <a:close/>
                </a:path>
              </a:pathLst>
            </a:custGeom>
            <a:blipFill>
              <a:blip r:embed="rId3">
                <a:alphaModFix amt="0"/>
              </a:blip>
              <a:stretch>
                <a:fillRect l="0" t="-456610" r="0" b="-456610"/>
              </a:stretch>
            </a:blipFill>
          </p:spPr>
        </p:sp>
        <p:sp>
          <p:nvSpPr>
            <p:cNvPr name="TextBox 138" id="138"/>
            <p:cNvSpPr txBox="true"/>
            <p:nvPr/>
          </p:nvSpPr>
          <p:spPr>
            <a:xfrm>
              <a:off x="0" y="-19050"/>
              <a:ext cx="14264640" cy="567690"/>
            </a:xfrm>
            <a:prstGeom prst="rect">
              <a:avLst/>
            </a:prstGeom>
          </p:spPr>
          <p:txBody>
            <a:bodyPr anchor="ctr" rtlCol="false" tIns="0" lIns="0" bIns="0" rIns="0"/>
            <a:lstStyle/>
            <a:p>
              <a:pPr algn="l">
                <a:lnSpc>
                  <a:spcPts val="1980"/>
                </a:lnSpc>
              </a:pPr>
              <a:r>
                <a:rPr lang="en-US" sz="1650" i="true">
                  <a:solidFill>
                    <a:srgbClr val="4A4A4A"/>
                  </a:solidFill>
                  <a:latin typeface="Arial Italics"/>
                  <a:ea typeface="Arial Italics"/>
                  <a:cs typeface="Arial Italics"/>
                  <a:sym typeface="Arial Italics"/>
                </a:rPr>
                <a:t>Humans step in only when a guardrail fires.</a:t>
              </a:r>
            </a:p>
          </p:txBody>
        </p:sp>
      </p:grpSp>
      <p:grpSp>
        <p:nvGrpSpPr>
          <p:cNvPr name="Group 139" id="139"/>
          <p:cNvGrpSpPr/>
          <p:nvPr/>
        </p:nvGrpSpPr>
        <p:grpSpPr>
          <a:xfrm rot="0">
            <a:off x="11987212" y="7666672"/>
            <a:ext cx="5487543" cy="1743075"/>
            <a:chOff x="0" y="0"/>
            <a:chExt cx="7316724" cy="2324100"/>
          </a:xfrm>
        </p:grpSpPr>
        <p:sp>
          <p:nvSpPr>
            <p:cNvPr name="Freeform 140" id="140"/>
            <p:cNvSpPr/>
            <p:nvPr/>
          </p:nvSpPr>
          <p:spPr>
            <a:xfrm flipH="false" flipV="false" rot="0">
              <a:off x="0" y="0"/>
              <a:ext cx="7316724" cy="2324100"/>
            </a:xfrm>
            <a:custGeom>
              <a:avLst/>
              <a:gdLst/>
              <a:ahLst/>
              <a:cxnLst/>
              <a:rect r="r" b="b" t="t" l="l"/>
              <a:pathLst>
                <a:path h="2324100" w="7316724">
                  <a:moveTo>
                    <a:pt x="0" y="185928"/>
                  </a:moveTo>
                  <a:cubicBezTo>
                    <a:pt x="0" y="83185"/>
                    <a:pt x="83185" y="0"/>
                    <a:pt x="185928" y="0"/>
                  </a:cubicBezTo>
                  <a:lnTo>
                    <a:pt x="7130796" y="0"/>
                  </a:lnTo>
                  <a:cubicBezTo>
                    <a:pt x="7233539" y="0"/>
                    <a:pt x="7316724" y="83185"/>
                    <a:pt x="7316724" y="185928"/>
                  </a:cubicBezTo>
                  <a:lnTo>
                    <a:pt x="7316724" y="2138172"/>
                  </a:lnTo>
                  <a:cubicBezTo>
                    <a:pt x="7316724" y="2240915"/>
                    <a:pt x="7233539" y="2324100"/>
                    <a:pt x="7130796" y="2324100"/>
                  </a:cubicBezTo>
                  <a:lnTo>
                    <a:pt x="185928" y="2324100"/>
                  </a:lnTo>
                  <a:cubicBezTo>
                    <a:pt x="83185" y="2324100"/>
                    <a:pt x="0" y="2240915"/>
                    <a:pt x="0" y="2138172"/>
                  </a:cubicBezTo>
                  <a:close/>
                </a:path>
              </a:pathLst>
            </a:custGeom>
            <a:solidFill>
              <a:srgbClr val="141414"/>
            </a:solidFill>
            <a:ln w="28575" cap="sq">
              <a:solidFill>
                <a:srgbClr val="141414"/>
              </a:solidFill>
              <a:prstDash val="solid"/>
              <a:miter/>
            </a:ln>
          </p:spPr>
        </p:sp>
      </p:grpSp>
      <p:grpSp>
        <p:nvGrpSpPr>
          <p:cNvPr name="Group 141" id="141"/>
          <p:cNvGrpSpPr/>
          <p:nvPr/>
        </p:nvGrpSpPr>
        <p:grpSpPr>
          <a:xfrm rot="0">
            <a:off x="12303252" y="7996428"/>
            <a:ext cx="576072" cy="576072"/>
            <a:chOff x="0" y="0"/>
            <a:chExt cx="768096" cy="768096"/>
          </a:xfrm>
        </p:grpSpPr>
        <p:sp>
          <p:nvSpPr>
            <p:cNvPr name="Freeform 142" id="142" descr="preencoded.png"/>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lnTo>
                    <a:pt x="0" y="0"/>
                  </a:lnTo>
                  <a:close/>
                </a:path>
              </a:pathLst>
            </a:custGeom>
            <a:blipFill>
              <a:blip r:embed="rId17"/>
              <a:stretch>
                <a:fillRect l="0" t="0" r="0" b="0"/>
              </a:stretch>
            </a:blipFill>
          </p:spPr>
        </p:sp>
      </p:grpSp>
      <p:grpSp>
        <p:nvGrpSpPr>
          <p:cNvPr name="Group 143" id="143"/>
          <p:cNvGrpSpPr/>
          <p:nvPr/>
        </p:nvGrpSpPr>
        <p:grpSpPr>
          <a:xfrm rot="0">
            <a:off x="13057632" y="7927848"/>
            <a:ext cx="4251960" cy="617220"/>
            <a:chOff x="0" y="0"/>
            <a:chExt cx="5669280" cy="822960"/>
          </a:xfrm>
        </p:grpSpPr>
        <p:sp>
          <p:nvSpPr>
            <p:cNvPr name="Freeform 144" id="144"/>
            <p:cNvSpPr/>
            <p:nvPr/>
          </p:nvSpPr>
          <p:spPr>
            <a:xfrm flipH="false" flipV="false" rot="0">
              <a:off x="0" y="0"/>
              <a:ext cx="5669280" cy="822960"/>
            </a:xfrm>
            <a:custGeom>
              <a:avLst/>
              <a:gdLst/>
              <a:ahLst/>
              <a:cxnLst/>
              <a:rect r="r" b="b" t="t" l="l"/>
              <a:pathLst>
                <a:path h="822960" w="5669280">
                  <a:moveTo>
                    <a:pt x="0" y="0"/>
                  </a:moveTo>
                  <a:lnTo>
                    <a:pt x="5669280" y="0"/>
                  </a:lnTo>
                  <a:lnTo>
                    <a:pt x="5669280" y="822960"/>
                  </a:lnTo>
                  <a:lnTo>
                    <a:pt x="0" y="822960"/>
                  </a:lnTo>
                  <a:close/>
                </a:path>
              </a:pathLst>
            </a:custGeom>
            <a:blipFill>
              <a:blip r:embed="rId3">
                <a:alphaModFix amt="0"/>
              </a:blip>
              <a:stretch>
                <a:fillRect l="0" t="-84230" r="0" b="-84230"/>
              </a:stretch>
            </a:blipFill>
          </p:spPr>
        </p:sp>
        <p:sp>
          <p:nvSpPr>
            <p:cNvPr name="TextBox 145" id="145"/>
            <p:cNvSpPr txBox="true"/>
            <p:nvPr/>
          </p:nvSpPr>
          <p:spPr>
            <a:xfrm>
              <a:off x="0" y="-19050"/>
              <a:ext cx="5669280" cy="842010"/>
            </a:xfrm>
            <a:prstGeom prst="rect">
              <a:avLst/>
            </a:prstGeom>
          </p:spPr>
          <p:txBody>
            <a:bodyPr anchor="ctr" rtlCol="false" tIns="0" lIns="0" bIns="0" rIns="0"/>
            <a:lstStyle/>
            <a:p>
              <a:pPr algn="l">
                <a:lnSpc>
                  <a:spcPts val="2160"/>
                </a:lnSpc>
              </a:pPr>
              <a:r>
                <a:rPr lang="en-US" sz="1800" b="true">
                  <a:solidFill>
                    <a:srgbClr val="FFFFFF"/>
                  </a:solidFill>
                  <a:latin typeface="Arial Bold"/>
                  <a:ea typeface="Arial Bold"/>
                  <a:cs typeface="Arial Bold"/>
                  <a:sym typeface="Arial Bold"/>
                </a:rPr>
                <a:t>Working prototype: open source</a:t>
              </a:r>
            </a:p>
          </p:txBody>
        </p:sp>
      </p:grpSp>
      <p:grpSp>
        <p:nvGrpSpPr>
          <p:cNvPr name="Group 146" id="146"/>
          <p:cNvGrpSpPr/>
          <p:nvPr/>
        </p:nvGrpSpPr>
        <p:grpSpPr>
          <a:xfrm rot="0">
            <a:off x="12303252" y="8641080"/>
            <a:ext cx="5074920" cy="480060"/>
            <a:chOff x="0" y="0"/>
            <a:chExt cx="6766560" cy="640080"/>
          </a:xfrm>
        </p:grpSpPr>
        <p:sp>
          <p:nvSpPr>
            <p:cNvPr name="Freeform 147" id="147"/>
            <p:cNvSpPr/>
            <p:nvPr/>
          </p:nvSpPr>
          <p:spPr>
            <a:xfrm flipH="false" flipV="false" rot="0">
              <a:off x="0" y="0"/>
              <a:ext cx="6766560" cy="640080"/>
            </a:xfrm>
            <a:custGeom>
              <a:avLst/>
              <a:gdLst/>
              <a:ahLst/>
              <a:cxnLst/>
              <a:rect r="r" b="b" t="t" l="l"/>
              <a:pathLst>
                <a:path h="640080" w="6766560">
                  <a:moveTo>
                    <a:pt x="0" y="0"/>
                  </a:moveTo>
                  <a:lnTo>
                    <a:pt x="6766560" y="0"/>
                  </a:lnTo>
                  <a:lnTo>
                    <a:pt x="6766560" y="640080"/>
                  </a:lnTo>
                  <a:lnTo>
                    <a:pt x="0" y="640080"/>
                  </a:lnTo>
                  <a:close/>
                </a:path>
              </a:pathLst>
            </a:custGeom>
            <a:blipFill>
              <a:blip r:embed="rId3">
                <a:alphaModFix amt="0"/>
              </a:blip>
              <a:stretch>
                <a:fillRect l="0" t="-155984" r="0" b="-155984"/>
              </a:stretch>
            </a:blipFill>
          </p:spPr>
        </p:sp>
        <p:sp>
          <p:nvSpPr>
            <p:cNvPr name="TextBox 148" id="148"/>
            <p:cNvSpPr txBox="true"/>
            <p:nvPr/>
          </p:nvSpPr>
          <p:spPr>
            <a:xfrm>
              <a:off x="0" y="-19050"/>
              <a:ext cx="6766560" cy="659130"/>
            </a:xfrm>
            <a:prstGeom prst="rect">
              <a:avLst/>
            </a:prstGeom>
          </p:spPr>
          <p:txBody>
            <a:bodyPr anchor="ctr" rtlCol="false" tIns="0" lIns="0" bIns="0" rIns="0"/>
            <a:lstStyle/>
            <a:p>
              <a:pPr algn="l">
                <a:lnSpc>
                  <a:spcPts val="1980"/>
                </a:lnSpc>
              </a:pPr>
              <a:r>
                <a:rPr lang="en-US" b="true" sz="1650" u="sng">
                  <a:solidFill>
                    <a:srgbClr val="FFF1A8"/>
                  </a:solidFill>
                  <a:latin typeface="Arial Bold"/>
                  <a:ea typeface="Arial Bold"/>
                  <a:cs typeface="Arial Bold"/>
                  <a:sym typeface="Arial Bold"/>
                  <a:hlinkClick r:id="rId18" tooltip="https://github.com/AryanPandey17/paytm-ai-hackathon"/>
                </a:rPr>
                <a:t>github.com/AryanPandey17/paytm-ai-hackathon</a:t>
              </a:r>
            </a:p>
          </p:txBody>
        </p:sp>
      </p:grpSp>
      <p:grpSp>
        <p:nvGrpSpPr>
          <p:cNvPr name="Group 149" id="149"/>
          <p:cNvGrpSpPr/>
          <p:nvPr/>
        </p:nvGrpSpPr>
        <p:grpSpPr>
          <a:xfrm rot="0">
            <a:off x="15518292" y="427006"/>
            <a:ext cx="2232517" cy="874205"/>
            <a:chOff x="0" y="0"/>
            <a:chExt cx="2976690" cy="1165606"/>
          </a:xfrm>
        </p:grpSpPr>
        <p:sp>
          <p:nvSpPr>
            <p:cNvPr name="Freeform 150" id="150"/>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151" id="151"/>
          <p:cNvGrpSpPr/>
          <p:nvPr/>
        </p:nvGrpSpPr>
        <p:grpSpPr>
          <a:xfrm rot="0">
            <a:off x="15804518" y="603504"/>
            <a:ext cx="1660065" cy="521208"/>
            <a:chOff x="0" y="0"/>
            <a:chExt cx="2213420" cy="694944"/>
          </a:xfrm>
        </p:grpSpPr>
        <p:sp>
          <p:nvSpPr>
            <p:cNvPr name="Freeform 152" id="152"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19"/>
              <a:stretch>
                <a:fillRect l="0" t="0" r="-2" b="0"/>
              </a:stretch>
            </a:blipFill>
          </p:spPr>
        </p:sp>
      </p:grpSp>
      <p:grpSp>
        <p:nvGrpSpPr>
          <p:cNvPr name="Group 153" id="153"/>
          <p:cNvGrpSpPr/>
          <p:nvPr/>
        </p:nvGrpSpPr>
        <p:grpSpPr>
          <a:xfrm rot="0">
            <a:off x="822960" y="9628632"/>
            <a:ext cx="9601200" cy="384048"/>
            <a:chOff x="0" y="0"/>
            <a:chExt cx="12801600" cy="512064"/>
          </a:xfrm>
        </p:grpSpPr>
        <p:sp>
          <p:nvSpPr>
            <p:cNvPr name="Freeform 154" id="154"/>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155" id="155"/>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156" id="156"/>
          <p:cNvGrpSpPr/>
          <p:nvPr/>
        </p:nvGrpSpPr>
        <p:grpSpPr>
          <a:xfrm rot="0">
            <a:off x="16733520" y="9628632"/>
            <a:ext cx="754380" cy="384048"/>
            <a:chOff x="0" y="0"/>
            <a:chExt cx="1005840" cy="512064"/>
          </a:xfrm>
        </p:grpSpPr>
        <p:sp>
          <p:nvSpPr>
            <p:cNvPr name="Freeform 157" id="157"/>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158" id="158"/>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03</a:t>
              </a:r>
            </a:p>
          </p:txBody>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02 · PROPOSED SOLUTION: IN ACTION</a:t>
              </a:r>
            </a:p>
          </p:txBody>
        </p:sp>
      </p:grpSp>
      <p:sp>
        <p:nvSpPr>
          <p:cNvPr name="TextBox 5" id="5"/>
          <p:cNvSpPr txBox="true"/>
          <p:nvPr/>
        </p:nvSpPr>
        <p:spPr>
          <a:xfrm rot="0">
            <a:off x="822960" y="968502"/>
            <a:ext cx="9189720" cy="1253490"/>
          </a:xfrm>
          <a:prstGeom prst="rect">
            <a:avLst/>
          </a:prstGeom>
        </p:spPr>
        <p:txBody>
          <a:bodyPr anchor="t" rtlCol="false" tIns="0" lIns="0" bIns="0" rIns="0">
            <a:spAutoFit/>
          </a:bodyPr>
          <a:lstStyle/>
          <a:p>
            <a:pPr algn="l">
              <a:lnSpc>
                <a:spcPts val="5040"/>
              </a:lnSpc>
            </a:pPr>
            <a:r>
              <a:rPr lang="en-US" sz="4200" b="true">
                <a:solidFill>
                  <a:srgbClr val="141414"/>
                </a:solidFill>
                <a:latin typeface="Arial Bold"/>
                <a:ea typeface="Arial Bold"/>
                <a:cs typeface="Arial Bold"/>
                <a:sym typeface="Arial Bold"/>
              </a:rPr>
              <a:t>ONE VOICE NOTE. SIX OUTCOMES.</a:t>
            </a:r>
          </a:p>
        </p:txBody>
      </p:sp>
      <p:grpSp>
        <p:nvGrpSpPr>
          <p:cNvPr name="Group 6" id="6"/>
          <p:cNvGrpSpPr/>
          <p:nvPr/>
        </p:nvGrpSpPr>
        <p:grpSpPr>
          <a:xfrm rot="0">
            <a:off x="822960" y="1920240"/>
            <a:ext cx="9326880" cy="480060"/>
            <a:chOff x="0" y="0"/>
            <a:chExt cx="12435840" cy="640080"/>
          </a:xfrm>
        </p:grpSpPr>
        <p:sp>
          <p:nvSpPr>
            <p:cNvPr name="Freeform 7" id="7"/>
            <p:cNvSpPr/>
            <p:nvPr/>
          </p:nvSpPr>
          <p:spPr>
            <a:xfrm flipH="false" flipV="false" rot="0">
              <a:off x="0" y="0"/>
              <a:ext cx="12435840" cy="640080"/>
            </a:xfrm>
            <a:custGeom>
              <a:avLst/>
              <a:gdLst/>
              <a:ahLst/>
              <a:cxnLst/>
              <a:rect r="r" b="b" t="t" l="l"/>
              <a:pathLst>
                <a:path h="640080" w="12435840">
                  <a:moveTo>
                    <a:pt x="0" y="0"/>
                  </a:moveTo>
                  <a:lnTo>
                    <a:pt x="12435840" y="0"/>
                  </a:lnTo>
                  <a:lnTo>
                    <a:pt x="12435840" y="640080"/>
                  </a:lnTo>
                  <a:lnTo>
                    <a:pt x="0" y="640080"/>
                  </a:lnTo>
                  <a:close/>
                </a:path>
              </a:pathLst>
            </a:custGeom>
            <a:blipFill>
              <a:blip r:embed="rId3">
                <a:alphaModFix amt="0"/>
              </a:blip>
              <a:stretch>
                <a:fillRect l="0" t="-328566" r="0" b="-328566"/>
              </a:stretch>
            </a:blipFill>
          </p:spPr>
        </p:sp>
        <p:sp>
          <p:nvSpPr>
            <p:cNvPr name="TextBox 8" id="8"/>
            <p:cNvSpPr txBox="true"/>
            <p:nvPr/>
          </p:nvSpPr>
          <p:spPr>
            <a:xfrm>
              <a:off x="0" y="-19050"/>
              <a:ext cx="12435840" cy="659130"/>
            </a:xfrm>
            <a:prstGeom prst="rect">
              <a:avLst/>
            </a:prstGeom>
          </p:spPr>
          <p:txBody>
            <a:bodyPr anchor="ctr" rtlCol="false" tIns="0" lIns="0" bIns="0" rIns="0"/>
            <a:lstStyle/>
            <a:p>
              <a:pPr algn="l">
                <a:lnSpc>
                  <a:spcPts val="2340"/>
                </a:lnSpc>
              </a:pPr>
              <a:r>
                <a:rPr lang="en-US" sz="1950">
                  <a:solidFill>
                    <a:srgbClr val="4A4A4A"/>
                  </a:solidFill>
                  <a:latin typeface="Arial"/>
                  <a:ea typeface="Arial"/>
                  <a:cs typeface="Arial"/>
                  <a:sym typeface="Arial"/>
                </a:rPr>
                <a:t>A day with Ramesh's kirana in Dadar, built and working in our prototype.</a:t>
              </a:r>
            </a:p>
          </p:txBody>
        </p:sp>
      </p:grpSp>
      <p:grpSp>
        <p:nvGrpSpPr>
          <p:cNvPr name="Group 9" id="9"/>
          <p:cNvGrpSpPr/>
          <p:nvPr/>
        </p:nvGrpSpPr>
        <p:grpSpPr>
          <a:xfrm rot="0">
            <a:off x="811054" y="2772442"/>
            <a:ext cx="709612" cy="709612"/>
            <a:chOff x="0" y="0"/>
            <a:chExt cx="946150" cy="946150"/>
          </a:xfrm>
        </p:grpSpPr>
        <p:sp>
          <p:nvSpPr>
            <p:cNvPr name="Freeform 10" id="10"/>
            <p:cNvSpPr/>
            <p:nvPr/>
          </p:nvSpPr>
          <p:spPr>
            <a:xfrm flipH="false" flipV="false" rot="0">
              <a:off x="0" y="0"/>
              <a:ext cx="946150" cy="946150"/>
            </a:xfrm>
            <a:custGeom>
              <a:avLst/>
              <a:gdLst/>
              <a:ahLst/>
              <a:cxnLst/>
              <a:rect r="r" b="b" t="t" l="l"/>
              <a:pathLst>
                <a:path h="946150" w="946150">
                  <a:moveTo>
                    <a:pt x="0" y="473075"/>
                  </a:moveTo>
                  <a:cubicBezTo>
                    <a:pt x="0" y="211836"/>
                    <a:pt x="211836" y="0"/>
                    <a:pt x="473075" y="0"/>
                  </a:cubicBezTo>
                  <a:cubicBezTo>
                    <a:pt x="734314" y="0"/>
                    <a:pt x="946150" y="211836"/>
                    <a:pt x="946150" y="473075"/>
                  </a:cubicBezTo>
                  <a:cubicBezTo>
                    <a:pt x="946150" y="734314"/>
                    <a:pt x="734314" y="946150"/>
                    <a:pt x="473075" y="946150"/>
                  </a:cubicBezTo>
                  <a:cubicBezTo>
                    <a:pt x="211836" y="946150"/>
                    <a:pt x="0" y="734314"/>
                    <a:pt x="0" y="473075"/>
                  </a:cubicBezTo>
                  <a:close/>
                </a:path>
              </a:pathLst>
            </a:custGeom>
            <a:solidFill>
              <a:srgbClr val="BFE9FB"/>
            </a:solidFill>
            <a:ln w="23812" cap="sq">
              <a:solidFill>
                <a:srgbClr val="141414"/>
              </a:solidFill>
              <a:prstDash val="solid"/>
              <a:miter/>
            </a:ln>
          </p:spPr>
        </p:sp>
      </p:grpSp>
      <p:grpSp>
        <p:nvGrpSpPr>
          <p:cNvPr name="Group 11" id="11"/>
          <p:cNvGrpSpPr/>
          <p:nvPr/>
        </p:nvGrpSpPr>
        <p:grpSpPr>
          <a:xfrm rot="0">
            <a:off x="822960" y="2784348"/>
            <a:ext cx="685800" cy="685800"/>
            <a:chOff x="0" y="0"/>
            <a:chExt cx="914400" cy="914400"/>
          </a:xfrm>
        </p:grpSpPr>
        <p:sp>
          <p:nvSpPr>
            <p:cNvPr name="Freeform 12" id="1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13" id="13"/>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1</a:t>
              </a:r>
            </a:p>
          </p:txBody>
        </p:sp>
      </p:grpSp>
      <p:sp>
        <p:nvSpPr>
          <p:cNvPr name="AutoShape 14" id="14"/>
          <p:cNvSpPr/>
          <p:nvPr/>
        </p:nvSpPr>
        <p:spPr>
          <a:xfrm rot="5212140">
            <a:off x="947890" y="3671126"/>
            <a:ext cx="435940" cy="0"/>
          </a:xfrm>
          <a:prstGeom prst="line">
            <a:avLst/>
          </a:prstGeom>
          <a:ln cap="rnd" w="9525">
            <a:solidFill>
              <a:srgbClr val="141414"/>
            </a:solidFill>
            <a:prstDash val="solid"/>
            <a:headEnd type="none" len="sm" w="sm"/>
            <a:tailEnd type="none" len="sm" w="sm"/>
          </a:ln>
        </p:spPr>
      </p:sp>
      <p:sp>
        <p:nvSpPr>
          <p:cNvPr name="TextBox 15" id="15"/>
          <p:cNvSpPr txBox="true"/>
          <p:nvPr/>
        </p:nvSpPr>
        <p:spPr>
          <a:xfrm rot="0">
            <a:off x="1783080" y="2655570"/>
            <a:ext cx="7680960" cy="677418"/>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Ramesh sends a Hindi voice note: "Sharma ji ka 1200 udhaar pending hai, aur Diwali ka stock kam hai"</a:t>
            </a:r>
          </a:p>
        </p:txBody>
      </p:sp>
      <p:grpSp>
        <p:nvGrpSpPr>
          <p:cNvPr name="Group 16" id="16"/>
          <p:cNvGrpSpPr/>
          <p:nvPr/>
        </p:nvGrpSpPr>
        <p:grpSpPr>
          <a:xfrm rot="0">
            <a:off x="1783080" y="3319272"/>
            <a:ext cx="7680960" cy="301752"/>
            <a:chOff x="0" y="0"/>
            <a:chExt cx="10241280" cy="402336"/>
          </a:xfrm>
        </p:grpSpPr>
        <p:sp>
          <p:nvSpPr>
            <p:cNvPr name="Freeform 17" id="17"/>
            <p:cNvSpPr/>
            <p:nvPr/>
          </p:nvSpPr>
          <p:spPr>
            <a:xfrm flipH="false" flipV="false" rot="0">
              <a:off x="0" y="0"/>
              <a:ext cx="10241280" cy="402336"/>
            </a:xfrm>
            <a:custGeom>
              <a:avLst/>
              <a:gdLst/>
              <a:ahLst/>
              <a:cxnLst/>
              <a:rect r="r" b="b" t="t" l="l"/>
              <a:pathLst>
                <a:path h="402336" w="10241280">
                  <a:moveTo>
                    <a:pt x="0" y="0"/>
                  </a:moveTo>
                  <a:lnTo>
                    <a:pt x="10241280" y="0"/>
                  </a:lnTo>
                  <a:lnTo>
                    <a:pt x="10241280" y="402336"/>
                  </a:lnTo>
                  <a:lnTo>
                    <a:pt x="0" y="402336"/>
                  </a:lnTo>
                  <a:close/>
                </a:path>
              </a:pathLst>
            </a:custGeom>
            <a:blipFill>
              <a:blip r:embed="rId3">
                <a:alphaModFix amt="0"/>
              </a:blip>
              <a:stretch>
                <a:fillRect l="0" t="-445982" r="0" b="-445982"/>
              </a:stretch>
            </a:blipFill>
          </p:spPr>
        </p:sp>
        <p:sp>
          <p:nvSpPr>
            <p:cNvPr name="TextBox 18" id="18"/>
            <p:cNvSpPr txBox="true"/>
            <p:nvPr/>
          </p:nvSpPr>
          <p:spPr>
            <a:xfrm>
              <a:off x="0" y="-19050"/>
              <a:ext cx="10241280" cy="421386"/>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Sarvam STT + LLM find 2 jobs</a:t>
              </a:r>
            </a:p>
          </p:txBody>
        </p:sp>
      </p:grpSp>
      <p:grpSp>
        <p:nvGrpSpPr>
          <p:cNvPr name="Group 19" id="19"/>
          <p:cNvGrpSpPr/>
          <p:nvPr/>
        </p:nvGrpSpPr>
        <p:grpSpPr>
          <a:xfrm rot="0">
            <a:off x="811054" y="3869722"/>
            <a:ext cx="709612" cy="709612"/>
            <a:chOff x="0" y="0"/>
            <a:chExt cx="946150" cy="946150"/>
          </a:xfrm>
        </p:grpSpPr>
        <p:sp>
          <p:nvSpPr>
            <p:cNvPr name="Freeform 20" id="20"/>
            <p:cNvSpPr/>
            <p:nvPr/>
          </p:nvSpPr>
          <p:spPr>
            <a:xfrm flipH="false" flipV="false" rot="0">
              <a:off x="0" y="0"/>
              <a:ext cx="946150" cy="946150"/>
            </a:xfrm>
            <a:custGeom>
              <a:avLst/>
              <a:gdLst/>
              <a:ahLst/>
              <a:cxnLst/>
              <a:rect r="r" b="b" t="t" l="l"/>
              <a:pathLst>
                <a:path h="946150" w="946150">
                  <a:moveTo>
                    <a:pt x="0" y="473075"/>
                  </a:moveTo>
                  <a:cubicBezTo>
                    <a:pt x="0" y="211836"/>
                    <a:pt x="211836" y="0"/>
                    <a:pt x="473075" y="0"/>
                  </a:cubicBezTo>
                  <a:cubicBezTo>
                    <a:pt x="734314" y="0"/>
                    <a:pt x="946150" y="211836"/>
                    <a:pt x="946150" y="473075"/>
                  </a:cubicBezTo>
                  <a:cubicBezTo>
                    <a:pt x="946150" y="734314"/>
                    <a:pt x="734314" y="946150"/>
                    <a:pt x="473075" y="946150"/>
                  </a:cubicBezTo>
                  <a:cubicBezTo>
                    <a:pt x="211836" y="946150"/>
                    <a:pt x="0" y="734314"/>
                    <a:pt x="0" y="473075"/>
                  </a:cubicBezTo>
                  <a:close/>
                </a:path>
              </a:pathLst>
            </a:custGeom>
            <a:solidFill>
              <a:srgbClr val="BFEBD3"/>
            </a:solidFill>
            <a:ln w="23812" cap="sq">
              <a:solidFill>
                <a:srgbClr val="141414"/>
              </a:solidFill>
              <a:prstDash val="solid"/>
              <a:miter/>
            </a:ln>
          </p:spPr>
        </p:sp>
      </p:grpSp>
      <p:grpSp>
        <p:nvGrpSpPr>
          <p:cNvPr name="Group 21" id="21"/>
          <p:cNvGrpSpPr/>
          <p:nvPr/>
        </p:nvGrpSpPr>
        <p:grpSpPr>
          <a:xfrm rot="0">
            <a:off x="822960" y="3881628"/>
            <a:ext cx="685800" cy="685800"/>
            <a:chOff x="0" y="0"/>
            <a:chExt cx="914400" cy="914400"/>
          </a:xfrm>
        </p:grpSpPr>
        <p:sp>
          <p:nvSpPr>
            <p:cNvPr name="Freeform 22" id="2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23" id="23"/>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2</a:t>
              </a:r>
            </a:p>
          </p:txBody>
        </p:sp>
      </p:grpSp>
      <p:sp>
        <p:nvSpPr>
          <p:cNvPr name="AutoShape 24" id="24"/>
          <p:cNvSpPr/>
          <p:nvPr/>
        </p:nvSpPr>
        <p:spPr>
          <a:xfrm rot="5212140">
            <a:off x="947890" y="4768406"/>
            <a:ext cx="435940" cy="0"/>
          </a:xfrm>
          <a:prstGeom prst="line">
            <a:avLst/>
          </a:prstGeom>
          <a:ln cap="rnd" w="9525">
            <a:solidFill>
              <a:srgbClr val="141414"/>
            </a:solidFill>
            <a:prstDash val="solid"/>
            <a:headEnd type="none" len="sm" w="sm"/>
            <a:tailEnd type="none" len="sm" w="sm"/>
          </a:ln>
        </p:spPr>
      </p:sp>
      <p:sp>
        <p:nvSpPr>
          <p:cNvPr name="TextBox 25" id="25"/>
          <p:cNvSpPr txBox="true"/>
          <p:nvPr/>
        </p:nvSpPr>
        <p:spPr>
          <a:xfrm rot="0">
            <a:off x="1783080" y="3752850"/>
            <a:ext cx="7680960" cy="677418"/>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Sharma ji gets a polite Hindi reminder with a Paytm Collect link, and pays in one tap</a:t>
            </a:r>
          </a:p>
        </p:txBody>
      </p:sp>
      <p:grpSp>
        <p:nvGrpSpPr>
          <p:cNvPr name="Group 26" id="26"/>
          <p:cNvGrpSpPr/>
          <p:nvPr/>
        </p:nvGrpSpPr>
        <p:grpSpPr>
          <a:xfrm rot="0">
            <a:off x="1783080" y="4416552"/>
            <a:ext cx="7680960" cy="301752"/>
            <a:chOff x="0" y="0"/>
            <a:chExt cx="10241280" cy="402336"/>
          </a:xfrm>
        </p:grpSpPr>
        <p:sp>
          <p:nvSpPr>
            <p:cNvPr name="Freeform 27" id="27"/>
            <p:cNvSpPr/>
            <p:nvPr/>
          </p:nvSpPr>
          <p:spPr>
            <a:xfrm flipH="false" flipV="false" rot="0">
              <a:off x="0" y="0"/>
              <a:ext cx="10241280" cy="402336"/>
            </a:xfrm>
            <a:custGeom>
              <a:avLst/>
              <a:gdLst/>
              <a:ahLst/>
              <a:cxnLst/>
              <a:rect r="r" b="b" t="t" l="l"/>
              <a:pathLst>
                <a:path h="402336" w="10241280">
                  <a:moveTo>
                    <a:pt x="0" y="0"/>
                  </a:moveTo>
                  <a:lnTo>
                    <a:pt x="10241280" y="0"/>
                  </a:lnTo>
                  <a:lnTo>
                    <a:pt x="10241280" y="402336"/>
                  </a:lnTo>
                  <a:lnTo>
                    <a:pt x="0" y="402336"/>
                  </a:lnTo>
                  <a:close/>
                </a:path>
              </a:pathLst>
            </a:custGeom>
            <a:blipFill>
              <a:blip r:embed="rId3">
                <a:alphaModFix amt="0"/>
              </a:blip>
              <a:stretch>
                <a:fillRect l="0" t="-445982" r="0" b="-445982"/>
              </a:stretch>
            </a:blipFill>
          </p:spPr>
        </p:sp>
        <p:sp>
          <p:nvSpPr>
            <p:cNvPr name="TextBox 28" id="28"/>
            <p:cNvSpPr txBox="true"/>
            <p:nvPr/>
          </p:nvSpPr>
          <p:spPr>
            <a:xfrm>
              <a:off x="0" y="-19050"/>
              <a:ext cx="10241280" cy="421386"/>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Grower · Cognee · n8n</a:t>
              </a:r>
            </a:p>
          </p:txBody>
        </p:sp>
      </p:grpSp>
      <p:grpSp>
        <p:nvGrpSpPr>
          <p:cNvPr name="Group 29" id="29"/>
          <p:cNvGrpSpPr/>
          <p:nvPr/>
        </p:nvGrpSpPr>
        <p:grpSpPr>
          <a:xfrm rot="0">
            <a:off x="811054" y="4967002"/>
            <a:ext cx="709612" cy="709612"/>
            <a:chOff x="0" y="0"/>
            <a:chExt cx="946150" cy="946150"/>
          </a:xfrm>
        </p:grpSpPr>
        <p:sp>
          <p:nvSpPr>
            <p:cNvPr name="Freeform 30" id="30"/>
            <p:cNvSpPr/>
            <p:nvPr/>
          </p:nvSpPr>
          <p:spPr>
            <a:xfrm flipH="false" flipV="false" rot="0">
              <a:off x="0" y="0"/>
              <a:ext cx="946150" cy="946150"/>
            </a:xfrm>
            <a:custGeom>
              <a:avLst/>
              <a:gdLst/>
              <a:ahLst/>
              <a:cxnLst/>
              <a:rect r="r" b="b" t="t" l="l"/>
              <a:pathLst>
                <a:path h="946150" w="946150">
                  <a:moveTo>
                    <a:pt x="0" y="473075"/>
                  </a:moveTo>
                  <a:cubicBezTo>
                    <a:pt x="0" y="211836"/>
                    <a:pt x="211836" y="0"/>
                    <a:pt x="473075" y="0"/>
                  </a:cubicBezTo>
                  <a:cubicBezTo>
                    <a:pt x="734314" y="0"/>
                    <a:pt x="946150" y="211836"/>
                    <a:pt x="946150" y="473075"/>
                  </a:cubicBezTo>
                  <a:cubicBezTo>
                    <a:pt x="946150" y="734314"/>
                    <a:pt x="734314" y="946150"/>
                    <a:pt x="473075" y="946150"/>
                  </a:cubicBezTo>
                  <a:cubicBezTo>
                    <a:pt x="211836" y="946150"/>
                    <a:pt x="0" y="734314"/>
                    <a:pt x="0" y="473075"/>
                  </a:cubicBezTo>
                  <a:close/>
                </a:path>
              </a:pathLst>
            </a:custGeom>
            <a:solidFill>
              <a:srgbClr val="FFF1A8"/>
            </a:solidFill>
            <a:ln w="23812" cap="sq">
              <a:solidFill>
                <a:srgbClr val="141414"/>
              </a:solidFill>
              <a:prstDash val="solid"/>
              <a:miter/>
            </a:ln>
          </p:spPr>
        </p:sp>
      </p:grpSp>
      <p:grpSp>
        <p:nvGrpSpPr>
          <p:cNvPr name="Group 31" id="31"/>
          <p:cNvGrpSpPr/>
          <p:nvPr/>
        </p:nvGrpSpPr>
        <p:grpSpPr>
          <a:xfrm rot="0">
            <a:off x="822960" y="4978908"/>
            <a:ext cx="685800" cy="685800"/>
            <a:chOff x="0" y="0"/>
            <a:chExt cx="914400" cy="914400"/>
          </a:xfrm>
        </p:grpSpPr>
        <p:sp>
          <p:nvSpPr>
            <p:cNvPr name="Freeform 32" id="3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33" id="33"/>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3</a:t>
              </a:r>
            </a:p>
          </p:txBody>
        </p:sp>
      </p:grpSp>
      <p:sp>
        <p:nvSpPr>
          <p:cNvPr name="AutoShape 34" id="34"/>
          <p:cNvSpPr/>
          <p:nvPr/>
        </p:nvSpPr>
        <p:spPr>
          <a:xfrm rot="5212140">
            <a:off x="947890" y="5865686"/>
            <a:ext cx="435940" cy="0"/>
          </a:xfrm>
          <a:prstGeom prst="line">
            <a:avLst/>
          </a:prstGeom>
          <a:ln cap="rnd" w="9525">
            <a:solidFill>
              <a:srgbClr val="141414"/>
            </a:solidFill>
            <a:prstDash val="solid"/>
            <a:headEnd type="none" len="sm" w="sm"/>
            <a:tailEnd type="none" len="sm" w="sm"/>
          </a:ln>
        </p:spPr>
      </p:sp>
      <p:sp>
        <p:nvSpPr>
          <p:cNvPr name="TextBox 35" id="35"/>
          <p:cNvSpPr txBox="true"/>
          <p:nvPr/>
        </p:nvSpPr>
        <p:spPr>
          <a:xfrm rot="0">
            <a:off x="1783080" y="4850130"/>
            <a:ext cx="7680960" cy="677418"/>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Bazaar forecasts Diwali demand, compares 3 suppliers and drafts purchase orders</a:t>
            </a:r>
          </a:p>
        </p:txBody>
      </p:sp>
      <p:grpSp>
        <p:nvGrpSpPr>
          <p:cNvPr name="Group 36" id="36"/>
          <p:cNvGrpSpPr/>
          <p:nvPr/>
        </p:nvGrpSpPr>
        <p:grpSpPr>
          <a:xfrm rot="0">
            <a:off x="1783080" y="5513832"/>
            <a:ext cx="7680960" cy="301752"/>
            <a:chOff x="0" y="0"/>
            <a:chExt cx="10241280" cy="402336"/>
          </a:xfrm>
        </p:grpSpPr>
        <p:sp>
          <p:nvSpPr>
            <p:cNvPr name="Freeform 37" id="37"/>
            <p:cNvSpPr/>
            <p:nvPr/>
          </p:nvSpPr>
          <p:spPr>
            <a:xfrm flipH="false" flipV="false" rot="0">
              <a:off x="0" y="0"/>
              <a:ext cx="10241280" cy="402336"/>
            </a:xfrm>
            <a:custGeom>
              <a:avLst/>
              <a:gdLst/>
              <a:ahLst/>
              <a:cxnLst/>
              <a:rect r="r" b="b" t="t" l="l"/>
              <a:pathLst>
                <a:path h="402336" w="10241280">
                  <a:moveTo>
                    <a:pt x="0" y="0"/>
                  </a:moveTo>
                  <a:lnTo>
                    <a:pt x="10241280" y="0"/>
                  </a:lnTo>
                  <a:lnTo>
                    <a:pt x="10241280" y="402336"/>
                  </a:lnTo>
                  <a:lnTo>
                    <a:pt x="0" y="402336"/>
                  </a:lnTo>
                  <a:close/>
                </a:path>
              </a:pathLst>
            </a:custGeom>
            <a:blipFill>
              <a:blip r:embed="rId3">
                <a:alphaModFix amt="0"/>
              </a:blip>
              <a:stretch>
                <a:fillRect l="0" t="-445982" r="0" b="-445982"/>
              </a:stretch>
            </a:blipFill>
          </p:spPr>
        </p:sp>
        <p:sp>
          <p:nvSpPr>
            <p:cNvPr name="TextBox 38" id="38"/>
            <p:cNvSpPr txBox="true"/>
            <p:nvPr/>
          </p:nvSpPr>
          <p:spPr>
            <a:xfrm>
              <a:off x="0" y="-19050"/>
              <a:ext cx="10241280" cy="421386"/>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Bazaar</a:t>
              </a:r>
            </a:p>
          </p:txBody>
        </p:sp>
      </p:grpSp>
      <p:grpSp>
        <p:nvGrpSpPr>
          <p:cNvPr name="Group 39" id="39"/>
          <p:cNvGrpSpPr/>
          <p:nvPr/>
        </p:nvGrpSpPr>
        <p:grpSpPr>
          <a:xfrm rot="0">
            <a:off x="811054" y="6064282"/>
            <a:ext cx="709612" cy="709612"/>
            <a:chOff x="0" y="0"/>
            <a:chExt cx="946150" cy="946150"/>
          </a:xfrm>
        </p:grpSpPr>
        <p:sp>
          <p:nvSpPr>
            <p:cNvPr name="Freeform 40" id="40"/>
            <p:cNvSpPr/>
            <p:nvPr/>
          </p:nvSpPr>
          <p:spPr>
            <a:xfrm flipH="false" flipV="false" rot="0">
              <a:off x="0" y="0"/>
              <a:ext cx="946150" cy="946150"/>
            </a:xfrm>
            <a:custGeom>
              <a:avLst/>
              <a:gdLst/>
              <a:ahLst/>
              <a:cxnLst/>
              <a:rect r="r" b="b" t="t" l="l"/>
              <a:pathLst>
                <a:path h="946150" w="946150">
                  <a:moveTo>
                    <a:pt x="0" y="473075"/>
                  </a:moveTo>
                  <a:cubicBezTo>
                    <a:pt x="0" y="211836"/>
                    <a:pt x="211836" y="0"/>
                    <a:pt x="473075" y="0"/>
                  </a:cubicBezTo>
                  <a:cubicBezTo>
                    <a:pt x="734314" y="0"/>
                    <a:pt x="946150" y="211836"/>
                    <a:pt x="946150" y="473075"/>
                  </a:cubicBezTo>
                  <a:cubicBezTo>
                    <a:pt x="946150" y="734314"/>
                    <a:pt x="734314" y="946150"/>
                    <a:pt x="473075" y="946150"/>
                  </a:cubicBezTo>
                  <a:cubicBezTo>
                    <a:pt x="211836" y="946150"/>
                    <a:pt x="0" y="734314"/>
                    <a:pt x="0" y="473075"/>
                  </a:cubicBezTo>
                  <a:close/>
                </a:path>
              </a:pathLst>
            </a:custGeom>
            <a:solidFill>
              <a:srgbClr val="F6ADA3"/>
            </a:solidFill>
            <a:ln w="23812" cap="sq">
              <a:solidFill>
                <a:srgbClr val="141414"/>
              </a:solidFill>
              <a:prstDash val="solid"/>
              <a:miter/>
            </a:ln>
          </p:spPr>
        </p:sp>
      </p:grpSp>
      <p:grpSp>
        <p:nvGrpSpPr>
          <p:cNvPr name="Group 41" id="41"/>
          <p:cNvGrpSpPr/>
          <p:nvPr/>
        </p:nvGrpSpPr>
        <p:grpSpPr>
          <a:xfrm rot="0">
            <a:off x="822960" y="6076188"/>
            <a:ext cx="685800" cy="685800"/>
            <a:chOff x="0" y="0"/>
            <a:chExt cx="914400" cy="914400"/>
          </a:xfrm>
        </p:grpSpPr>
        <p:sp>
          <p:nvSpPr>
            <p:cNvPr name="Freeform 42" id="4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43" id="43"/>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4</a:t>
              </a:r>
            </a:p>
          </p:txBody>
        </p:sp>
      </p:grpSp>
      <p:sp>
        <p:nvSpPr>
          <p:cNvPr name="AutoShape 44" id="44"/>
          <p:cNvSpPr/>
          <p:nvPr/>
        </p:nvSpPr>
        <p:spPr>
          <a:xfrm rot="5212140">
            <a:off x="947890" y="6962966"/>
            <a:ext cx="435940" cy="0"/>
          </a:xfrm>
          <a:prstGeom prst="line">
            <a:avLst/>
          </a:prstGeom>
          <a:ln cap="rnd" w="9525">
            <a:solidFill>
              <a:srgbClr val="141414"/>
            </a:solidFill>
            <a:prstDash val="solid"/>
            <a:headEnd type="none" len="sm" w="sm"/>
            <a:tailEnd type="none" len="sm" w="sm"/>
          </a:ln>
        </p:spPr>
      </p:sp>
      <p:sp>
        <p:nvSpPr>
          <p:cNvPr name="TextBox 45" id="45"/>
          <p:cNvSpPr txBox="true"/>
          <p:nvPr/>
        </p:nvSpPr>
        <p:spPr>
          <a:xfrm rot="0">
            <a:off x="1783080" y="5947410"/>
            <a:ext cx="7680960" cy="677418"/>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Capital sees the cash gap and prepares ₹40k. Above the limit, so ops approves on WhatsApp</a:t>
            </a:r>
          </a:p>
        </p:txBody>
      </p:sp>
      <p:grpSp>
        <p:nvGrpSpPr>
          <p:cNvPr name="Group 46" id="46"/>
          <p:cNvGrpSpPr/>
          <p:nvPr/>
        </p:nvGrpSpPr>
        <p:grpSpPr>
          <a:xfrm rot="0">
            <a:off x="1783080" y="6611112"/>
            <a:ext cx="7680960" cy="301752"/>
            <a:chOff x="0" y="0"/>
            <a:chExt cx="10241280" cy="402336"/>
          </a:xfrm>
        </p:grpSpPr>
        <p:sp>
          <p:nvSpPr>
            <p:cNvPr name="Freeform 47" id="47"/>
            <p:cNvSpPr/>
            <p:nvPr/>
          </p:nvSpPr>
          <p:spPr>
            <a:xfrm flipH="false" flipV="false" rot="0">
              <a:off x="0" y="0"/>
              <a:ext cx="10241280" cy="402336"/>
            </a:xfrm>
            <a:custGeom>
              <a:avLst/>
              <a:gdLst/>
              <a:ahLst/>
              <a:cxnLst/>
              <a:rect r="r" b="b" t="t" l="l"/>
              <a:pathLst>
                <a:path h="402336" w="10241280">
                  <a:moveTo>
                    <a:pt x="0" y="0"/>
                  </a:moveTo>
                  <a:lnTo>
                    <a:pt x="10241280" y="0"/>
                  </a:lnTo>
                  <a:lnTo>
                    <a:pt x="10241280" y="402336"/>
                  </a:lnTo>
                  <a:lnTo>
                    <a:pt x="0" y="402336"/>
                  </a:lnTo>
                  <a:close/>
                </a:path>
              </a:pathLst>
            </a:custGeom>
            <a:blipFill>
              <a:blip r:embed="rId3">
                <a:alphaModFix amt="0"/>
              </a:blip>
              <a:stretch>
                <a:fillRect l="0" t="-445982" r="0" b="-445982"/>
              </a:stretch>
            </a:blipFill>
          </p:spPr>
        </p:sp>
        <p:sp>
          <p:nvSpPr>
            <p:cNvPr name="TextBox 48" id="48"/>
            <p:cNvSpPr txBox="true"/>
            <p:nvPr/>
          </p:nvSpPr>
          <p:spPr>
            <a:xfrm>
              <a:off x="0" y="-19050"/>
              <a:ext cx="10241280" cy="421386"/>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Capital · n8n send-and-wait</a:t>
              </a:r>
            </a:p>
          </p:txBody>
        </p:sp>
      </p:grpSp>
      <p:grpSp>
        <p:nvGrpSpPr>
          <p:cNvPr name="Group 49" id="49"/>
          <p:cNvGrpSpPr/>
          <p:nvPr/>
        </p:nvGrpSpPr>
        <p:grpSpPr>
          <a:xfrm rot="0">
            <a:off x="811054" y="7161562"/>
            <a:ext cx="709612" cy="709612"/>
            <a:chOff x="0" y="0"/>
            <a:chExt cx="946150" cy="946150"/>
          </a:xfrm>
        </p:grpSpPr>
        <p:sp>
          <p:nvSpPr>
            <p:cNvPr name="Freeform 50" id="50"/>
            <p:cNvSpPr/>
            <p:nvPr/>
          </p:nvSpPr>
          <p:spPr>
            <a:xfrm flipH="false" flipV="false" rot="0">
              <a:off x="0" y="0"/>
              <a:ext cx="946150" cy="946150"/>
            </a:xfrm>
            <a:custGeom>
              <a:avLst/>
              <a:gdLst/>
              <a:ahLst/>
              <a:cxnLst/>
              <a:rect r="r" b="b" t="t" l="l"/>
              <a:pathLst>
                <a:path h="946150" w="946150">
                  <a:moveTo>
                    <a:pt x="0" y="473075"/>
                  </a:moveTo>
                  <a:cubicBezTo>
                    <a:pt x="0" y="211836"/>
                    <a:pt x="211836" y="0"/>
                    <a:pt x="473075" y="0"/>
                  </a:cubicBezTo>
                  <a:cubicBezTo>
                    <a:pt x="734314" y="0"/>
                    <a:pt x="946150" y="211836"/>
                    <a:pt x="946150" y="473075"/>
                  </a:cubicBezTo>
                  <a:cubicBezTo>
                    <a:pt x="946150" y="734314"/>
                    <a:pt x="734314" y="946150"/>
                    <a:pt x="473075" y="946150"/>
                  </a:cubicBezTo>
                  <a:cubicBezTo>
                    <a:pt x="211836" y="946150"/>
                    <a:pt x="0" y="734314"/>
                    <a:pt x="0" y="473075"/>
                  </a:cubicBezTo>
                  <a:close/>
                </a:path>
              </a:pathLst>
            </a:custGeom>
            <a:solidFill>
              <a:srgbClr val="E4DFFC"/>
            </a:solidFill>
            <a:ln w="23812" cap="sq">
              <a:solidFill>
                <a:srgbClr val="141414"/>
              </a:solidFill>
              <a:prstDash val="solid"/>
              <a:miter/>
            </a:ln>
          </p:spPr>
        </p:sp>
      </p:grpSp>
      <p:grpSp>
        <p:nvGrpSpPr>
          <p:cNvPr name="Group 51" id="51"/>
          <p:cNvGrpSpPr/>
          <p:nvPr/>
        </p:nvGrpSpPr>
        <p:grpSpPr>
          <a:xfrm rot="0">
            <a:off x="822960" y="7173468"/>
            <a:ext cx="685800" cy="685800"/>
            <a:chOff x="0" y="0"/>
            <a:chExt cx="914400" cy="914400"/>
          </a:xfrm>
        </p:grpSpPr>
        <p:sp>
          <p:nvSpPr>
            <p:cNvPr name="Freeform 52" id="5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53" id="53"/>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5</a:t>
              </a:r>
            </a:p>
          </p:txBody>
        </p:sp>
      </p:grpSp>
      <p:sp>
        <p:nvSpPr>
          <p:cNvPr name="AutoShape 54" id="54"/>
          <p:cNvSpPr/>
          <p:nvPr/>
        </p:nvSpPr>
        <p:spPr>
          <a:xfrm rot="5212140">
            <a:off x="947890" y="8060246"/>
            <a:ext cx="435940" cy="0"/>
          </a:xfrm>
          <a:prstGeom prst="line">
            <a:avLst/>
          </a:prstGeom>
          <a:ln cap="rnd" w="9525">
            <a:solidFill>
              <a:srgbClr val="141414"/>
            </a:solidFill>
            <a:prstDash val="solid"/>
            <a:headEnd type="none" len="sm" w="sm"/>
            <a:tailEnd type="none" len="sm" w="sm"/>
          </a:ln>
        </p:spPr>
      </p:sp>
      <p:sp>
        <p:nvSpPr>
          <p:cNvPr name="TextBox 55" id="55"/>
          <p:cNvSpPr txBox="true"/>
          <p:nvPr/>
        </p:nvSpPr>
        <p:spPr>
          <a:xfrm rot="0">
            <a:off x="1783080" y="7044690"/>
            <a:ext cx="7680960" cy="677418"/>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Ramesh taps Accept. Money lands instantly and the purchase orders go out</a:t>
            </a:r>
          </a:p>
        </p:txBody>
      </p:sp>
      <p:grpSp>
        <p:nvGrpSpPr>
          <p:cNvPr name="Group 56" id="56"/>
          <p:cNvGrpSpPr/>
          <p:nvPr/>
        </p:nvGrpSpPr>
        <p:grpSpPr>
          <a:xfrm rot="0">
            <a:off x="1783080" y="7708392"/>
            <a:ext cx="7680960" cy="301752"/>
            <a:chOff x="0" y="0"/>
            <a:chExt cx="10241280" cy="402336"/>
          </a:xfrm>
        </p:grpSpPr>
        <p:sp>
          <p:nvSpPr>
            <p:cNvPr name="Freeform 57" id="57"/>
            <p:cNvSpPr/>
            <p:nvPr/>
          </p:nvSpPr>
          <p:spPr>
            <a:xfrm flipH="false" flipV="false" rot="0">
              <a:off x="0" y="0"/>
              <a:ext cx="10241280" cy="402336"/>
            </a:xfrm>
            <a:custGeom>
              <a:avLst/>
              <a:gdLst/>
              <a:ahLst/>
              <a:cxnLst/>
              <a:rect r="r" b="b" t="t" l="l"/>
              <a:pathLst>
                <a:path h="402336" w="10241280">
                  <a:moveTo>
                    <a:pt x="0" y="0"/>
                  </a:moveTo>
                  <a:lnTo>
                    <a:pt x="10241280" y="0"/>
                  </a:lnTo>
                  <a:lnTo>
                    <a:pt x="10241280" y="402336"/>
                  </a:lnTo>
                  <a:lnTo>
                    <a:pt x="0" y="402336"/>
                  </a:lnTo>
                  <a:close/>
                </a:path>
              </a:pathLst>
            </a:custGeom>
            <a:blipFill>
              <a:blip r:embed="rId3">
                <a:alphaModFix amt="0"/>
              </a:blip>
              <a:stretch>
                <a:fillRect l="0" t="-445982" r="0" b="-445982"/>
              </a:stretch>
            </a:blipFill>
          </p:spPr>
        </p:sp>
        <p:sp>
          <p:nvSpPr>
            <p:cNvPr name="TextBox 58" id="58"/>
            <p:cNvSpPr txBox="true"/>
            <p:nvPr/>
          </p:nvSpPr>
          <p:spPr>
            <a:xfrm>
              <a:off x="0" y="-19050"/>
              <a:ext cx="10241280" cy="421386"/>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Capital → Bazaar</a:t>
              </a:r>
            </a:p>
          </p:txBody>
        </p:sp>
      </p:grpSp>
      <p:grpSp>
        <p:nvGrpSpPr>
          <p:cNvPr name="Group 59" id="59"/>
          <p:cNvGrpSpPr/>
          <p:nvPr/>
        </p:nvGrpSpPr>
        <p:grpSpPr>
          <a:xfrm rot="0">
            <a:off x="811054" y="8258842"/>
            <a:ext cx="709612" cy="709612"/>
            <a:chOff x="0" y="0"/>
            <a:chExt cx="946150" cy="946150"/>
          </a:xfrm>
        </p:grpSpPr>
        <p:sp>
          <p:nvSpPr>
            <p:cNvPr name="Freeform 60" id="60"/>
            <p:cNvSpPr/>
            <p:nvPr/>
          </p:nvSpPr>
          <p:spPr>
            <a:xfrm flipH="false" flipV="false" rot="0">
              <a:off x="0" y="0"/>
              <a:ext cx="946150" cy="946150"/>
            </a:xfrm>
            <a:custGeom>
              <a:avLst/>
              <a:gdLst/>
              <a:ahLst/>
              <a:cxnLst/>
              <a:rect r="r" b="b" t="t" l="l"/>
              <a:pathLst>
                <a:path h="946150" w="946150">
                  <a:moveTo>
                    <a:pt x="0" y="473075"/>
                  </a:moveTo>
                  <a:cubicBezTo>
                    <a:pt x="0" y="211836"/>
                    <a:pt x="211836" y="0"/>
                    <a:pt x="473075" y="0"/>
                  </a:cubicBezTo>
                  <a:cubicBezTo>
                    <a:pt x="734314" y="0"/>
                    <a:pt x="946150" y="211836"/>
                    <a:pt x="946150" y="473075"/>
                  </a:cubicBezTo>
                  <a:cubicBezTo>
                    <a:pt x="946150" y="734314"/>
                    <a:pt x="734314" y="946150"/>
                    <a:pt x="473075" y="946150"/>
                  </a:cubicBezTo>
                  <a:cubicBezTo>
                    <a:pt x="211836" y="946150"/>
                    <a:pt x="0" y="734314"/>
                    <a:pt x="0" y="473075"/>
                  </a:cubicBezTo>
                  <a:close/>
                </a:path>
              </a:pathLst>
            </a:custGeom>
            <a:solidFill>
              <a:srgbClr val="FFF1A8"/>
            </a:solidFill>
            <a:ln w="23812" cap="sq">
              <a:solidFill>
                <a:srgbClr val="141414"/>
              </a:solidFill>
              <a:prstDash val="solid"/>
              <a:miter/>
            </a:ln>
          </p:spPr>
        </p:sp>
      </p:grpSp>
      <p:grpSp>
        <p:nvGrpSpPr>
          <p:cNvPr name="Group 61" id="61"/>
          <p:cNvGrpSpPr/>
          <p:nvPr/>
        </p:nvGrpSpPr>
        <p:grpSpPr>
          <a:xfrm rot="0">
            <a:off x="822960" y="8270748"/>
            <a:ext cx="685800" cy="685800"/>
            <a:chOff x="0" y="0"/>
            <a:chExt cx="914400" cy="914400"/>
          </a:xfrm>
        </p:grpSpPr>
        <p:sp>
          <p:nvSpPr>
            <p:cNvPr name="Freeform 62" id="6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3">
                <a:alphaModFix amt="0"/>
              </a:blip>
              <a:stretch>
                <a:fillRect l="-78303" t="0" r="-78303" b="0"/>
              </a:stretch>
            </a:blipFill>
          </p:spPr>
        </p:sp>
        <p:sp>
          <p:nvSpPr>
            <p:cNvPr name="TextBox 63" id="63"/>
            <p:cNvSpPr txBox="true"/>
            <p:nvPr/>
          </p:nvSpPr>
          <p:spPr>
            <a:xfrm>
              <a:off x="0" y="-9525"/>
              <a:ext cx="914400" cy="92392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6</a:t>
              </a:r>
            </a:p>
          </p:txBody>
        </p:sp>
      </p:grpSp>
      <p:sp>
        <p:nvSpPr>
          <p:cNvPr name="TextBox 64" id="64"/>
          <p:cNvSpPr txBox="true"/>
          <p:nvPr/>
        </p:nvSpPr>
        <p:spPr>
          <a:xfrm rot="0">
            <a:off x="1783080" y="8141970"/>
            <a:ext cx="7680960" cy="677418"/>
          </a:xfrm>
          <a:prstGeom prst="rect">
            <a:avLst/>
          </a:prstGeom>
        </p:spPr>
        <p:txBody>
          <a:bodyPr anchor="t" rtlCol="false" tIns="0" lIns="0" bIns="0" rIns="0">
            <a:spAutoFit/>
          </a:bodyPr>
          <a:lstStyle/>
          <a:p>
            <a:pPr algn="l">
              <a:lnSpc>
                <a:spcPts val="2070"/>
              </a:lnSpc>
            </a:pPr>
            <a:r>
              <a:rPr lang="en-US" sz="1725">
                <a:solidFill>
                  <a:srgbClr val="141414"/>
                </a:solidFill>
                <a:latin typeface="Arial"/>
                <a:ea typeface="Arial"/>
                <a:cs typeface="Arial"/>
                <a:sym typeface="Arial"/>
              </a:rPr>
              <a:t>A customer asks "atta hai kya?". Pulse answers. Ramesh hears his weekly Hindi voice brief</a:t>
            </a:r>
          </a:p>
        </p:txBody>
      </p:sp>
      <p:grpSp>
        <p:nvGrpSpPr>
          <p:cNvPr name="Group 65" id="65"/>
          <p:cNvGrpSpPr/>
          <p:nvPr/>
        </p:nvGrpSpPr>
        <p:grpSpPr>
          <a:xfrm rot="0">
            <a:off x="1783080" y="8805672"/>
            <a:ext cx="7680960" cy="301752"/>
            <a:chOff x="0" y="0"/>
            <a:chExt cx="10241280" cy="402336"/>
          </a:xfrm>
        </p:grpSpPr>
        <p:sp>
          <p:nvSpPr>
            <p:cNvPr name="Freeform 66" id="66"/>
            <p:cNvSpPr/>
            <p:nvPr/>
          </p:nvSpPr>
          <p:spPr>
            <a:xfrm flipH="false" flipV="false" rot="0">
              <a:off x="0" y="0"/>
              <a:ext cx="10241280" cy="402336"/>
            </a:xfrm>
            <a:custGeom>
              <a:avLst/>
              <a:gdLst/>
              <a:ahLst/>
              <a:cxnLst/>
              <a:rect r="r" b="b" t="t" l="l"/>
              <a:pathLst>
                <a:path h="402336" w="10241280">
                  <a:moveTo>
                    <a:pt x="0" y="0"/>
                  </a:moveTo>
                  <a:lnTo>
                    <a:pt x="10241280" y="0"/>
                  </a:lnTo>
                  <a:lnTo>
                    <a:pt x="10241280" y="402336"/>
                  </a:lnTo>
                  <a:lnTo>
                    <a:pt x="0" y="402336"/>
                  </a:lnTo>
                  <a:close/>
                </a:path>
              </a:pathLst>
            </a:custGeom>
            <a:blipFill>
              <a:blip r:embed="rId3">
                <a:alphaModFix amt="0"/>
              </a:blip>
              <a:stretch>
                <a:fillRect l="0" t="-445982" r="0" b="-445982"/>
              </a:stretch>
            </a:blipFill>
          </p:spPr>
        </p:sp>
        <p:sp>
          <p:nvSpPr>
            <p:cNvPr name="TextBox 67" id="67"/>
            <p:cNvSpPr txBox="true"/>
            <p:nvPr/>
          </p:nvSpPr>
          <p:spPr>
            <a:xfrm>
              <a:off x="0" y="-19050"/>
              <a:ext cx="10241280" cy="421386"/>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Pulse · Sarvam TTS</a:t>
              </a:r>
            </a:p>
          </p:txBody>
        </p:sp>
      </p:grpSp>
      <p:grpSp>
        <p:nvGrpSpPr>
          <p:cNvPr name="Group 68" id="68"/>
          <p:cNvGrpSpPr/>
          <p:nvPr/>
        </p:nvGrpSpPr>
        <p:grpSpPr>
          <a:xfrm rot="0">
            <a:off x="10066972" y="1631633"/>
            <a:ext cx="7435215" cy="7298055"/>
            <a:chOff x="0" y="0"/>
            <a:chExt cx="9913620" cy="9730740"/>
          </a:xfrm>
        </p:grpSpPr>
        <p:sp>
          <p:nvSpPr>
            <p:cNvPr name="Freeform 69" id="69"/>
            <p:cNvSpPr/>
            <p:nvPr/>
          </p:nvSpPr>
          <p:spPr>
            <a:xfrm flipH="false" flipV="false" rot="0">
              <a:off x="0" y="0"/>
              <a:ext cx="9913620" cy="9730740"/>
            </a:xfrm>
            <a:custGeom>
              <a:avLst/>
              <a:gdLst/>
              <a:ahLst/>
              <a:cxnLst/>
              <a:rect r="r" b="b" t="t" l="l"/>
              <a:pathLst>
                <a:path h="9730740" w="9913620">
                  <a:moveTo>
                    <a:pt x="0" y="146812"/>
                  </a:moveTo>
                  <a:cubicBezTo>
                    <a:pt x="0" y="65786"/>
                    <a:pt x="65786" y="0"/>
                    <a:pt x="146812" y="0"/>
                  </a:cubicBezTo>
                  <a:lnTo>
                    <a:pt x="9766808" y="0"/>
                  </a:lnTo>
                  <a:cubicBezTo>
                    <a:pt x="9847961" y="0"/>
                    <a:pt x="9913620" y="65786"/>
                    <a:pt x="9913620" y="146812"/>
                  </a:cubicBezTo>
                  <a:lnTo>
                    <a:pt x="9913620" y="9583928"/>
                  </a:lnTo>
                  <a:cubicBezTo>
                    <a:pt x="9913620" y="9665081"/>
                    <a:pt x="9847834" y="9730740"/>
                    <a:pt x="9766808" y="9730740"/>
                  </a:cubicBezTo>
                  <a:lnTo>
                    <a:pt x="146812" y="9730740"/>
                  </a:lnTo>
                  <a:cubicBezTo>
                    <a:pt x="65786" y="9730740"/>
                    <a:pt x="0" y="9664954"/>
                    <a:pt x="0" y="9583928"/>
                  </a:cubicBezTo>
                  <a:close/>
                </a:path>
              </a:pathLst>
            </a:custGeom>
            <a:solidFill>
              <a:srgbClr val="A99CF5"/>
            </a:solidFill>
            <a:ln w="28575" cap="sq">
              <a:solidFill>
                <a:srgbClr val="141414"/>
              </a:solidFill>
              <a:prstDash val="solid"/>
              <a:miter/>
            </a:ln>
          </p:spPr>
        </p:sp>
      </p:grpSp>
      <p:grpSp>
        <p:nvGrpSpPr>
          <p:cNvPr name="Group 70" id="70"/>
          <p:cNvGrpSpPr/>
          <p:nvPr/>
        </p:nvGrpSpPr>
        <p:grpSpPr>
          <a:xfrm rot="0">
            <a:off x="10412254" y="2251234"/>
            <a:ext cx="6744653" cy="5185000"/>
            <a:chOff x="0" y="0"/>
            <a:chExt cx="8992870" cy="6913334"/>
          </a:xfrm>
        </p:grpSpPr>
        <p:sp>
          <p:nvSpPr>
            <p:cNvPr name="Freeform 71" id="71"/>
            <p:cNvSpPr/>
            <p:nvPr/>
          </p:nvSpPr>
          <p:spPr>
            <a:xfrm flipH="false" flipV="false" rot="0">
              <a:off x="0" y="0"/>
              <a:ext cx="8992870" cy="6913372"/>
            </a:xfrm>
            <a:custGeom>
              <a:avLst/>
              <a:gdLst/>
              <a:ahLst/>
              <a:cxnLst/>
              <a:rect r="r" b="b" t="t" l="l"/>
              <a:pathLst>
                <a:path h="6913372" w="8992870">
                  <a:moveTo>
                    <a:pt x="0" y="0"/>
                  </a:moveTo>
                  <a:lnTo>
                    <a:pt x="8992870" y="0"/>
                  </a:lnTo>
                  <a:lnTo>
                    <a:pt x="8992870" y="6913372"/>
                  </a:lnTo>
                  <a:lnTo>
                    <a:pt x="0" y="6913372"/>
                  </a:lnTo>
                  <a:close/>
                </a:path>
              </a:pathLst>
            </a:custGeom>
            <a:solidFill>
              <a:srgbClr val="FFFFFF"/>
            </a:solidFill>
            <a:ln w="23812" cap="sq">
              <a:solidFill>
                <a:srgbClr val="141414"/>
              </a:solidFill>
              <a:prstDash val="solid"/>
              <a:miter/>
            </a:ln>
          </p:spPr>
        </p:sp>
      </p:grpSp>
      <p:grpSp>
        <p:nvGrpSpPr>
          <p:cNvPr name="Group 72" id="72"/>
          <p:cNvGrpSpPr/>
          <p:nvPr/>
        </p:nvGrpSpPr>
        <p:grpSpPr>
          <a:xfrm rot="0">
            <a:off x="10264369" y="2263140"/>
            <a:ext cx="7040423" cy="5161188"/>
            <a:chOff x="0" y="0"/>
            <a:chExt cx="9387230" cy="6881584"/>
          </a:xfrm>
        </p:grpSpPr>
        <p:sp>
          <p:nvSpPr>
            <p:cNvPr name="Freeform 73" id="73" descr="studio_crop.png"/>
            <p:cNvSpPr/>
            <p:nvPr/>
          </p:nvSpPr>
          <p:spPr>
            <a:xfrm flipH="false" flipV="false" rot="0">
              <a:off x="0" y="0"/>
              <a:ext cx="9387230" cy="6881622"/>
            </a:xfrm>
            <a:custGeom>
              <a:avLst/>
              <a:gdLst/>
              <a:ahLst/>
              <a:cxnLst/>
              <a:rect r="r" b="b" t="t" l="l"/>
              <a:pathLst>
                <a:path h="6881622" w="9387230">
                  <a:moveTo>
                    <a:pt x="0" y="0"/>
                  </a:moveTo>
                  <a:lnTo>
                    <a:pt x="9387230" y="0"/>
                  </a:lnTo>
                  <a:lnTo>
                    <a:pt x="9387230" y="6881622"/>
                  </a:lnTo>
                  <a:lnTo>
                    <a:pt x="0" y="6881622"/>
                  </a:lnTo>
                  <a:lnTo>
                    <a:pt x="0" y="0"/>
                  </a:lnTo>
                  <a:close/>
                </a:path>
              </a:pathLst>
            </a:custGeom>
            <a:blipFill>
              <a:blip r:embed="rId4"/>
              <a:stretch>
                <a:fillRect l="0" t="-2377" r="0" b="-2376"/>
              </a:stretch>
            </a:blipFill>
          </p:spPr>
        </p:sp>
      </p:grpSp>
      <p:grpSp>
        <p:nvGrpSpPr>
          <p:cNvPr name="Group 74" id="74"/>
          <p:cNvGrpSpPr/>
          <p:nvPr/>
        </p:nvGrpSpPr>
        <p:grpSpPr>
          <a:xfrm rot="0">
            <a:off x="10424160" y="7630068"/>
            <a:ext cx="6720840" cy="411480"/>
            <a:chOff x="0" y="0"/>
            <a:chExt cx="8961120" cy="548640"/>
          </a:xfrm>
        </p:grpSpPr>
        <p:sp>
          <p:nvSpPr>
            <p:cNvPr name="Freeform 75" id="75"/>
            <p:cNvSpPr/>
            <p:nvPr/>
          </p:nvSpPr>
          <p:spPr>
            <a:xfrm flipH="false" flipV="false" rot="0">
              <a:off x="0" y="0"/>
              <a:ext cx="8961120" cy="548640"/>
            </a:xfrm>
            <a:custGeom>
              <a:avLst/>
              <a:gdLst/>
              <a:ahLst/>
              <a:cxnLst/>
              <a:rect r="r" b="b" t="t" l="l"/>
              <a:pathLst>
                <a:path h="548640" w="8961120">
                  <a:moveTo>
                    <a:pt x="0" y="0"/>
                  </a:moveTo>
                  <a:lnTo>
                    <a:pt x="8961120" y="0"/>
                  </a:lnTo>
                  <a:lnTo>
                    <a:pt x="8961120" y="548640"/>
                  </a:lnTo>
                  <a:lnTo>
                    <a:pt x="0" y="548640"/>
                  </a:lnTo>
                  <a:close/>
                </a:path>
              </a:pathLst>
            </a:custGeom>
            <a:blipFill>
              <a:blip r:embed="rId3">
                <a:alphaModFix amt="0"/>
              </a:blip>
              <a:stretch>
                <a:fillRect l="0" t="-268255" r="0" b="-268255"/>
              </a:stretch>
            </a:blipFill>
          </p:spPr>
        </p:sp>
        <p:sp>
          <p:nvSpPr>
            <p:cNvPr name="TextBox 76" id="76"/>
            <p:cNvSpPr txBox="true"/>
            <p:nvPr/>
          </p:nvSpPr>
          <p:spPr>
            <a:xfrm>
              <a:off x="0" y="-9525"/>
              <a:ext cx="8961120" cy="558165"/>
            </a:xfrm>
            <a:prstGeom prst="rect">
              <a:avLst/>
            </a:prstGeom>
          </p:spPr>
          <p:txBody>
            <a:bodyPr anchor="ctr" rtlCol="false" tIns="0" lIns="0" bIns="0" rIns="0"/>
            <a:lstStyle/>
            <a:p>
              <a:pPr algn="l">
                <a:lnSpc>
                  <a:spcPts val="1889"/>
                </a:lnSpc>
              </a:pPr>
              <a:r>
                <a:rPr lang="en-US" sz="1575" b="true">
                  <a:solidFill>
                    <a:srgbClr val="141414"/>
                  </a:solidFill>
                  <a:latin typeface="Arial Bold"/>
                  <a:ea typeface="Arial Bold"/>
                  <a:cs typeface="Arial Bold"/>
                  <a:sym typeface="Arial Bold"/>
                </a:rPr>
                <a:t>Live prototype: WhatsApp Studio (merchant · customer · ops approver)</a:t>
              </a:r>
            </a:p>
          </p:txBody>
        </p:sp>
      </p:grpSp>
      <p:grpSp>
        <p:nvGrpSpPr>
          <p:cNvPr name="Group 77" id="77"/>
          <p:cNvGrpSpPr/>
          <p:nvPr/>
        </p:nvGrpSpPr>
        <p:grpSpPr>
          <a:xfrm rot="0">
            <a:off x="10424160" y="8110128"/>
            <a:ext cx="6720840" cy="411480"/>
            <a:chOff x="0" y="0"/>
            <a:chExt cx="8961120" cy="548640"/>
          </a:xfrm>
        </p:grpSpPr>
        <p:sp>
          <p:nvSpPr>
            <p:cNvPr name="Freeform 78" id="78"/>
            <p:cNvSpPr/>
            <p:nvPr/>
          </p:nvSpPr>
          <p:spPr>
            <a:xfrm flipH="false" flipV="false" rot="0">
              <a:off x="0" y="0"/>
              <a:ext cx="8961120" cy="548640"/>
            </a:xfrm>
            <a:custGeom>
              <a:avLst/>
              <a:gdLst/>
              <a:ahLst/>
              <a:cxnLst/>
              <a:rect r="r" b="b" t="t" l="l"/>
              <a:pathLst>
                <a:path h="548640" w="8961120">
                  <a:moveTo>
                    <a:pt x="0" y="0"/>
                  </a:moveTo>
                  <a:lnTo>
                    <a:pt x="8961120" y="0"/>
                  </a:lnTo>
                  <a:lnTo>
                    <a:pt x="8961120" y="548640"/>
                  </a:lnTo>
                  <a:lnTo>
                    <a:pt x="0" y="548640"/>
                  </a:lnTo>
                  <a:close/>
                </a:path>
              </a:pathLst>
            </a:custGeom>
            <a:blipFill>
              <a:blip r:embed="rId3">
                <a:alphaModFix amt="0"/>
              </a:blip>
              <a:stretch>
                <a:fillRect l="0" t="-268255" r="0" b="-268255"/>
              </a:stretch>
            </a:blipFill>
          </p:spPr>
        </p:sp>
        <p:sp>
          <p:nvSpPr>
            <p:cNvPr name="TextBox 79" id="79"/>
            <p:cNvSpPr txBox="true"/>
            <p:nvPr/>
          </p:nvSpPr>
          <p:spPr>
            <a:xfrm>
              <a:off x="0" y="-19050"/>
              <a:ext cx="8961120" cy="567690"/>
            </a:xfrm>
            <a:prstGeom prst="rect">
              <a:avLst/>
            </a:prstGeom>
          </p:spPr>
          <p:txBody>
            <a:bodyPr anchor="ctr" rtlCol="false" tIns="0" lIns="0" bIns="0" rIns="0"/>
            <a:lstStyle/>
            <a:p>
              <a:pPr algn="l">
                <a:lnSpc>
                  <a:spcPts val="1800"/>
                </a:lnSpc>
              </a:pPr>
              <a:r>
                <a:rPr lang="en-US" sz="1500" u="sng">
                  <a:solidFill>
                    <a:srgbClr val="141414"/>
                  </a:solidFill>
                  <a:latin typeface="Arial"/>
                  <a:ea typeface="Arial"/>
                  <a:cs typeface="Arial"/>
                  <a:sym typeface="Arial"/>
                  <a:hlinkClick r:id="rId5" tooltip="https://github.com/AryanPandey17/paytm-ai-hackathon"/>
                </a:rPr>
                <a:t>github.com/AryanPandey17/paytm-ai-hackathon</a:t>
              </a:r>
            </a:p>
          </p:txBody>
        </p:sp>
      </p:grpSp>
      <p:grpSp>
        <p:nvGrpSpPr>
          <p:cNvPr name="Group 80" id="80"/>
          <p:cNvGrpSpPr/>
          <p:nvPr/>
        </p:nvGrpSpPr>
        <p:grpSpPr>
          <a:xfrm rot="0">
            <a:off x="15518292" y="427006"/>
            <a:ext cx="2232517" cy="874205"/>
            <a:chOff x="0" y="0"/>
            <a:chExt cx="2976690" cy="1165606"/>
          </a:xfrm>
        </p:grpSpPr>
        <p:sp>
          <p:nvSpPr>
            <p:cNvPr name="Freeform 81" id="81"/>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82" id="82"/>
          <p:cNvGrpSpPr/>
          <p:nvPr/>
        </p:nvGrpSpPr>
        <p:grpSpPr>
          <a:xfrm rot="0">
            <a:off x="15804518" y="603504"/>
            <a:ext cx="1660065" cy="521208"/>
            <a:chOff x="0" y="0"/>
            <a:chExt cx="2213420" cy="694944"/>
          </a:xfrm>
        </p:grpSpPr>
        <p:sp>
          <p:nvSpPr>
            <p:cNvPr name="Freeform 83" id="83"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6"/>
              <a:stretch>
                <a:fillRect l="0" t="0" r="-2" b="0"/>
              </a:stretch>
            </a:blipFill>
          </p:spPr>
        </p:sp>
      </p:grpSp>
      <p:grpSp>
        <p:nvGrpSpPr>
          <p:cNvPr name="Group 84" id="84"/>
          <p:cNvGrpSpPr/>
          <p:nvPr/>
        </p:nvGrpSpPr>
        <p:grpSpPr>
          <a:xfrm rot="0">
            <a:off x="822960" y="9628632"/>
            <a:ext cx="9601200" cy="384048"/>
            <a:chOff x="0" y="0"/>
            <a:chExt cx="12801600" cy="512064"/>
          </a:xfrm>
        </p:grpSpPr>
        <p:sp>
          <p:nvSpPr>
            <p:cNvPr name="Freeform 85" id="85"/>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86" id="86"/>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87" id="87"/>
          <p:cNvGrpSpPr/>
          <p:nvPr/>
        </p:nvGrpSpPr>
        <p:grpSpPr>
          <a:xfrm rot="0">
            <a:off x="16733520" y="9628632"/>
            <a:ext cx="754380" cy="384048"/>
            <a:chOff x="0" y="0"/>
            <a:chExt cx="1005840" cy="512064"/>
          </a:xfrm>
        </p:grpSpPr>
        <p:sp>
          <p:nvSpPr>
            <p:cNvPr name="Freeform 88" id="88"/>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89" id="89"/>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04</a:t>
              </a:r>
            </a:p>
          </p:txBody>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03 · TECHNOLOGY / TECH STACK</a:t>
              </a:r>
            </a:p>
          </p:txBody>
        </p:sp>
      </p:grpSp>
      <p:sp>
        <p:nvSpPr>
          <p:cNvPr name="TextBox 5" id="5"/>
          <p:cNvSpPr txBox="true"/>
          <p:nvPr/>
        </p:nvSpPr>
        <p:spPr>
          <a:xfrm rot="0">
            <a:off x="822960" y="968502"/>
            <a:ext cx="14538960" cy="1253490"/>
          </a:xfrm>
          <a:prstGeom prst="rect">
            <a:avLst/>
          </a:prstGeom>
        </p:spPr>
        <p:txBody>
          <a:bodyPr anchor="t" rtlCol="false" tIns="0" lIns="0" bIns="0" rIns="0">
            <a:spAutoFit/>
          </a:bodyPr>
          <a:lstStyle/>
          <a:p>
            <a:pPr algn="l">
              <a:lnSpc>
                <a:spcPts val="4680"/>
              </a:lnSpc>
            </a:pPr>
            <a:r>
              <a:rPr lang="en-US" sz="3900" b="true">
                <a:solidFill>
                  <a:srgbClr val="141414"/>
                </a:solidFill>
                <a:latin typeface="Arial Bold"/>
                <a:ea typeface="Arial Bold"/>
                <a:cs typeface="Arial Bold"/>
                <a:sym typeface="Arial Bold"/>
              </a:rPr>
              <a:t>VOICE BY SARVAM. MEMORY BY COGNEE. HANDS BY N8N.</a:t>
            </a:r>
          </a:p>
        </p:txBody>
      </p:sp>
      <p:grpSp>
        <p:nvGrpSpPr>
          <p:cNvPr name="Group 6" id="6"/>
          <p:cNvGrpSpPr/>
          <p:nvPr/>
        </p:nvGrpSpPr>
        <p:grpSpPr>
          <a:xfrm rot="0">
            <a:off x="822960" y="1645920"/>
            <a:ext cx="16596360" cy="411480"/>
            <a:chOff x="0" y="0"/>
            <a:chExt cx="22128480" cy="548640"/>
          </a:xfrm>
        </p:grpSpPr>
        <p:sp>
          <p:nvSpPr>
            <p:cNvPr name="Freeform 7" id="7"/>
            <p:cNvSpPr/>
            <p:nvPr/>
          </p:nvSpPr>
          <p:spPr>
            <a:xfrm flipH="false" flipV="false" rot="0">
              <a:off x="0" y="0"/>
              <a:ext cx="22128480" cy="548640"/>
            </a:xfrm>
            <a:custGeom>
              <a:avLst/>
              <a:gdLst/>
              <a:ahLst/>
              <a:cxnLst/>
              <a:rect r="r" b="b" t="t" l="l"/>
              <a:pathLst>
                <a:path h="548640" w="22128480">
                  <a:moveTo>
                    <a:pt x="0" y="0"/>
                  </a:moveTo>
                  <a:lnTo>
                    <a:pt x="22128480" y="0"/>
                  </a:lnTo>
                  <a:lnTo>
                    <a:pt x="22128480" y="548640"/>
                  </a:lnTo>
                  <a:lnTo>
                    <a:pt x="0" y="548640"/>
                  </a:lnTo>
                  <a:close/>
                </a:path>
              </a:pathLst>
            </a:custGeom>
            <a:blipFill>
              <a:blip r:embed="rId3">
                <a:alphaModFix amt="0"/>
              </a:blip>
              <a:stretch>
                <a:fillRect l="0" t="-735896" r="0" b="-735896"/>
              </a:stretch>
            </a:blipFill>
          </p:spPr>
        </p:sp>
        <p:sp>
          <p:nvSpPr>
            <p:cNvPr name="TextBox 8" id="8"/>
            <p:cNvSpPr txBox="true"/>
            <p:nvPr/>
          </p:nvSpPr>
          <p:spPr>
            <a:xfrm>
              <a:off x="0" y="-19050"/>
              <a:ext cx="22128480" cy="567690"/>
            </a:xfrm>
            <a:prstGeom prst="rect">
              <a:avLst/>
            </a:prstGeom>
          </p:spPr>
          <p:txBody>
            <a:bodyPr anchor="ctr" rtlCol="false" tIns="0" lIns="0" bIns="0" rIns="0"/>
            <a:lstStyle/>
            <a:p>
              <a:pPr algn="l">
                <a:lnSpc>
                  <a:spcPts val="2070"/>
                </a:lnSpc>
              </a:pPr>
              <a:r>
                <a:rPr lang="en-US" sz="1725">
                  <a:solidFill>
                    <a:srgbClr val="4A4A4A"/>
                  </a:solidFill>
                  <a:latin typeface="Arial"/>
                  <a:ea typeface="Arial"/>
                  <a:cs typeface="Arial"/>
                  <a:sym typeface="Arial"/>
                </a:rPr>
                <a:t>Python · FastAPI · uv  ·  React · Vite · Tailwind  ·  live SSE feed  ·  </a:t>
              </a:r>
              <a:r>
                <a:rPr lang="en-US" sz="1725" b="true">
                  <a:solidFill>
                    <a:srgbClr val="4A4A4A"/>
                  </a:solidFill>
                  <a:latin typeface="Arial Bold"/>
                  <a:ea typeface="Arial Bold"/>
                  <a:cs typeface="Arial Bold"/>
                  <a:sym typeface="Arial Bold"/>
                </a:rPr>
                <a:t>every partner has an offline fallback</a:t>
              </a:r>
            </a:p>
          </p:txBody>
        </p:sp>
      </p:grpSp>
      <p:grpSp>
        <p:nvGrpSpPr>
          <p:cNvPr name="Group 9" id="9"/>
          <p:cNvGrpSpPr/>
          <p:nvPr/>
        </p:nvGrpSpPr>
        <p:grpSpPr>
          <a:xfrm rot="0">
            <a:off x="1338796" y="2207704"/>
            <a:ext cx="15609951" cy="7448931"/>
            <a:chOff x="0" y="0"/>
            <a:chExt cx="20813268" cy="9931908"/>
          </a:xfrm>
        </p:grpSpPr>
        <p:sp>
          <p:nvSpPr>
            <p:cNvPr name="Freeform 10" id="10"/>
            <p:cNvSpPr/>
            <p:nvPr/>
          </p:nvSpPr>
          <p:spPr>
            <a:xfrm flipH="false" flipV="false" rot="0">
              <a:off x="0" y="0"/>
              <a:ext cx="20813268" cy="9931908"/>
            </a:xfrm>
            <a:custGeom>
              <a:avLst/>
              <a:gdLst/>
              <a:ahLst/>
              <a:cxnLst/>
              <a:rect r="r" b="b" t="t" l="l"/>
              <a:pathLst>
                <a:path h="9931908" w="20813268">
                  <a:moveTo>
                    <a:pt x="0" y="146939"/>
                  </a:moveTo>
                  <a:cubicBezTo>
                    <a:pt x="0" y="65786"/>
                    <a:pt x="65786" y="0"/>
                    <a:pt x="146939" y="0"/>
                  </a:cubicBezTo>
                  <a:lnTo>
                    <a:pt x="20666329" y="0"/>
                  </a:lnTo>
                  <a:cubicBezTo>
                    <a:pt x="20747482" y="0"/>
                    <a:pt x="20813268" y="65786"/>
                    <a:pt x="20813268" y="146939"/>
                  </a:cubicBezTo>
                  <a:lnTo>
                    <a:pt x="20813268" y="9784969"/>
                  </a:lnTo>
                  <a:cubicBezTo>
                    <a:pt x="20813268" y="9866122"/>
                    <a:pt x="20747482" y="9931908"/>
                    <a:pt x="20666329" y="9931908"/>
                  </a:cubicBezTo>
                  <a:lnTo>
                    <a:pt x="146939" y="9931908"/>
                  </a:lnTo>
                  <a:cubicBezTo>
                    <a:pt x="65786" y="9931908"/>
                    <a:pt x="0" y="9866122"/>
                    <a:pt x="0" y="9784969"/>
                  </a:cubicBezTo>
                  <a:close/>
                </a:path>
              </a:pathLst>
            </a:custGeom>
            <a:solidFill>
              <a:srgbClr val="121212"/>
            </a:solidFill>
            <a:ln w="28575" cap="sq">
              <a:solidFill>
                <a:srgbClr val="004AAD"/>
              </a:solidFill>
              <a:prstDash val="solid"/>
              <a:miter/>
            </a:ln>
          </p:spPr>
        </p:sp>
      </p:grpSp>
      <p:grpSp>
        <p:nvGrpSpPr>
          <p:cNvPr name="Group 11" id="11"/>
          <p:cNvGrpSpPr/>
          <p:nvPr/>
        </p:nvGrpSpPr>
        <p:grpSpPr>
          <a:xfrm rot="0">
            <a:off x="1462811" y="2331720"/>
            <a:ext cx="15361920" cy="7200900"/>
            <a:chOff x="0" y="0"/>
            <a:chExt cx="20482560" cy="9601200"/>
          </a:xfrm>
        </p:grpSpPr>
        <p:sp>
          <p:nvSpPr>
            <p:cNvPr name="Freeform 12" id="12" descr="architecture.png"/>
            <p:cNvSpPr/>
            <p:nvPr/>
          </p:nvSpPr>
          <p:spPr>
            <a:xfrm flipH="false" flipV="false" rot="0">
              <a:off x="0" y="0"/>
              <a:ext cx="20482561" cy="9601200"/>
            </a:xfrm>
            <a:custGeom>
              <a:avLst/>
              <a:gdLst/>
              <a:ahLst/>
              <a:cxnLst/>
              <a:rect r="r" b="b" t="t" l="l"/>
              <a:pathLst>
                <a:path h="9601200" w="20482561">
                  <a:moveTo>
                    <a:pt x="0" y="0"/>
                  </a:moveTo>
                  <a:lnTo>
                    <a:pt x="20482561" y="0"/>
                  </a:lnTo>
                  <a:lnTo>
                    <a:pt x="20482561" y="9601200"/>
                  </a:lnTo>
                  <a:lnTo>
                    <a:pt x="0" y="9601200"/>
                  </a:lnTo>
                  <a:lnTo>
                    <a:pt x="0" y="0"/>
                  </a:lnTo>
                  <a:close/>
                </a:path>
              </a:pathLst>
            </a:custGeom>
            <a:blipFill>
              <a:blip r:embed="rId4"/>
              <a:stretch>
                <a:fillRect l="0" t="0" r="0" b="0"/>
              </a:stretch>
            </a:blipFill>
          </p:spPr>
        </p:sp>
      </p:grpSp>
      <p:grpSp>
        <p:nvGrpSpPr>
          <p:cNvPr name="Group 13" id="13"/>
          <p:cNvGrpSpPr/>
          <p:nvPr/>
        </p:nvGrpSpPr>
        <p:grpSpPr>
          <a:xfrm rot="0">
            <a:off x="15518292" y="427006"/>
            <a:ext cx="2232517" cy="874205"/>
            <a:chOff x="0" y="0"/>
            <a:chExt cx="2976690" cy="1165606"/>
          </a:xfrm>
        </p:grpSpPr>
        <p:sp>
          <p:nvSpPr>
            <p:cNvPr name="Freeform 14" id="14"/>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15" id="15"/>
          <p:cNvGrpSpPr/>
          <p:nvPr/>
        </p:nvGrpSpPr>
        <p:grpSpPr>
          <a:xfrm rot="0">
            <a:off x="15804518" y="603504"/>
            <a:ext cx="1660065" cy="521208"/>
            <a:chOff x="0" y="0"/>
            <a:chExt cx="2213420" cy="694944"/>
          </a:xfrm>
        </p:grpSpPr>
        <p:sp>
          <p:nvSpPr>
            <p:cNvPr name="Freeform 16" id="16"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5"/>
              <a:stretch>
                <a:fillRect l="0" t="0" r="-2" b="0"/>
              </a:stretch>
            </a:blipFill>
          </p:spPr>
        </p:sp>
      </p:grpSp>
      <p:grpSp>
        <p:nvGrpSpPr>
          <p:cNvPr name="Group 17" id="17"/>
          <p:cNvGrpSpPr/>
          <p:nvPr/>
        </p:nvGrpSpPr>
        <p:grpSpPr>
          <a:xfrm rot="0">
            <a:off x="822960" y="9628632"/>
            <a:ext cx="9601200" cy="384048"/>
            <a:chOff x="0" y="0"/>
            <a:chExt cx="12801600" cy="512064"/>
          </a:xfrm>
        </p:grpSpPr>
        <p:sp>
          <p:nvSpPr>
            <p:cNvPr name="Freeform 18" id="18"/>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19" id="19"/>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20" id="20"/>
          <p:cNvGrpSpPr/>
          <p:nvPr/>
        </p:nvGrpSpPr>
        <p:grpSpPr>
          <a:xfrm rot="0">
            <a:off x="16733520" y="9628632"/>
            <a:ext cx="754380" cy="384048"/>
            <a:chOff x="0" y="0"/>
            <a:chExt cx="1005840" cy="512064"/>
          </a:xfrm>
        </p:grpSpPr>
        <p:sp>
          <p:nvSpPr>
            <p:cNvPr name="Freeform 21" id="21"/>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22" id="22"/>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05</a:t>
              </a:r>
            </a:p>
          </p:txBody>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04 · USP</a:t>
              </a:r>
            </a:p>
          </p:txBody>
        </p:sp>
      </p:grpSp>
      <p:sp>
        <p:nvSpPr>
          <p:cNvPr name="TextBox 5" id="5"/>
          <p:cNvSpPr txBox="true"/>
          <p:nvPr/>
        </p:nvSpPr>
        <p:spPr>
          <a:xfrm rot="0">
            <a:off x="822960" y="958977"/>
            <a:ext cx="16459200" cy="1263015"/>
          </a:xfrm>
          <a:prstGeom prst="rect">
            <a:avLst/>
          </a:prstGeom>
        </p:spPr>
        <p:txBody>
          <a:bodyPr anchor="t" rtlCol="false" tIns="0" lIns="0" bIns="0" rIns="0">
            <a:spAutoFit/>
          </a:bodyPr>
          <a:lstStyle/>
          <a:p>
            <a:pPr algn="l">
              <a:lnSpc>
                <a:spcPts val="6480"/>
              </a:lnSpc>
            </a:pPr>
            <a:r>
              <a:rPr lang="en-US" sz="5400" b="true">
                <a:solidFill>
                  <a:srgbClr val="141414"/>
                </a:solidFill>
                <a:latin typeface="Arial Bold"/>
                <a:ea typeface="Arial Bold"/>
                <a:cs typeface="Arial Bold"/>
                <a:sym typeface="Arial Bold"/>
              </a:rPr>
              <a:t>NOT A CHATBOT. A TEAMMATE.</a:t>
            </a:r>
          </a:p>
        </p:txBody>
      </p:sp>
      <p:graphicFrame>
        <p:nvGraphicFramePr>
          <p:cNvPr name="Table 6" id="6"/>
          <p:cNvGraphicFramePr>
            <a:graphicFrameLocks noGrp="true"/>
          </p:cNvGraphicFramePr>
          <p:nvPr/>
        </p:nvGraphicFramePr>
        <p:xfrm>
          <a:off x="822960" y="2400300"/>
          <a:ext cx="11353800" cy="6267450"/>
        </p:xfrm>
        <a:graphic>
          <a:graphicData uri="http://schemas.openxmlformats.org/drawingml/2006/table">
            <a:tbl>
              <a:tblPr/>
              <a:tblGrid>
                <a:gridCol w="4492025"/>
                <a:gridCol w="1994789"/>
                <a:gridCol w="2197268"/>
                <a:gridCol w="2669718"/>
              </a:tblGrid>
              <a:tr h="895350">
                <a:tc>
                  <a:txBody>
                    <a:bodyPr anchor="t" rtlCol="false"/>
                    <a:lstStyle/>
                    <a:p>
                      <a:pPr algn="l">
                        <a:lnSpc>
                          <a:spcPts val="2160"/>
                        </a:lnSpc>
                        <a:defRPr/>
                      </a:pPr>
                      <a:r>
                        <a:rPr lang="en-US" sz="1800" b="true">
                          <a:solidFill>
                            <a:srgbClr val="141414"/>
                          </a:solidFill>
                          <a:latin typeface="Arial Bold"/>
                          <a:ea typeface="Arial Bold"/>
                          <a:cs typeface="Arial Bold"/>
                          <a:sym typeface="Arial Bold"/>
                        </a:rPr>
                        <a:t>Capability</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FFFFFF"/>
                    </a:solidFill>
                  </a:tcPr>
                </a:tc>
                <a:tc>
                  <a:txBody>
                    <a:bodyPr anchor="t" rtlCol="false"/>
                    <a:lstStyle/>
                    <a:p>
                      <a:pPr algn="l">
                        <a:lnSpc>
                          <a:spcPts val="2160"/>
                        </a:lnSpc>
                        <a:defRPr/>
                      </a:pPr>
                      <a:r>
                        <a:rPr lang="en-US" sz="1800" b="true">
                          <a:solidFill>
                            <a:srgbClr val="141414"/>
                          </a:solidFill>
                          <a:latin typeface="Arial Bold"/>
                          <a:ea typeface="Arial Bold"/>
                          <a:cs typeface="Arial Bold"/>
                          <a:sym typeface="Arial Bold"/>
                        </a:rPr>
                        <a:t>Typical chatbot</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F2F2F2"/>
                    </a:solidFill>
                  </a:tcPr>
                </a:tc>
                <a:tc>
                  <a:txBody>
                    <a:bodyPr anchor="t" rtlCol="false"/>
                    <a:lstStyle/>
                    <a:p>
                      <a:pPr algn="l">
                        <a:lnSpc>
                          <a:spcPts val="2160"/>
                        </a:lnSpc>
                        <a:defRPr/>
                      </a:pPr>
                      <a:r>
                        <a:rPr lang="en-US" sz="1800" b="true">
                          <a:solidFill>
                            <a:srgbClr val="141414"/>
                          </a:solidFill>
                          <a:latin typeface="Arial Bold"/>
                          <a:ea typeface="Arial Bold"/>
                          <a:cs typeface="Arial Bold"/>
                          <a:sym typeface="Arial Bold"/>
                        </a:rPr>
                        <a:t>CRM + field ops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F2F2F2"/>
                    </a:solidFill>
                  </a:tcPr>
                </a:tc>
                <a:tc>
                  <a:txBody>
                    <a:bodyPr anchor="t" rtlCol="false"/>
                    <a:lstStyle/>
                    <a:p>
                      <a:pPr algn="l">
                        <a:lnSpc>
                          <a:spcPts val="2160"/>
                        </a:lnSpc>
                        <a:defRPr/>
                      </a:pPr>
                      <a:r>
                        <a:rPr lang="en-US" sz="1800" b="true">
                          <a:solidFill>
                            <a:srgbClr val="141414"/>
                          </a:solidFill>
                          <a:latin typeface="Arial Bold"/>
                          <a:ea typeface="Arial Bold"/>
                          <a:cs typeface="Arial Bold"/>
                          <a:sym typeface="Arial Bold"/>
                        </a:rPr>
                        <a:t>CommerceOS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A99CF5"/>
                    </a:solidFill>
                  </a:tcPr>
                </a:tc>
              </a:tr>
              <a:tr h="895350">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Takes real actions: payment links, credit, POs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No</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Manual</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  Yes, via n8n</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E4DFFC"/>
                    </a:solidFill>
                  </a:tcPr>
                </a:tc>
              </a:tr>
              <a:tr h="895350">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Covers the full lifecycle: find → fund</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No</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Siloed teams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  7 agents, 1 plan</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E4DFFC"/>
                    </a:solidFill>
                  </a:tcPr>
                </a:tc>
              </a:tr>
              <a:tr h="895350">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Voice-first in Indian languages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Rarely</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No</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  Sarvam STT/TTS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E4DFFC"/>
                    </a:solidFill>
                  </a:tcPr>
                </a:tc>
              </a:tr>
              <a:tr h="895350">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Remembers every merchant, customer &amp; decision</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Per chat</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Partial CRM</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  Cognee graph</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E4DFFC"/>
                    </a:solidFill>
                  </a:tcPr>
                </a:tc>
              </a:tr>
              <a:tr h="895350">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Humans only by exception, with guardrails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No</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Humans do everything</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  Approvals on WhatsApp</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E4DFFC"/>
                    </a:solidFill>
                  </a:tcPr>
                </a:tc>
              </a:tr>
              <a:tr h="895350">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Keeps working when an AI provider fails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No</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a:solidFill>
                            <a:srgbClr val="4A4A4A"/>
                          </a:solidFill>
                          <a:latin typeface="Arial"/>
                          <a:ea typeface="Arial"/>
                          <a:cs typeface="Arial"/>
                          <a:sym typeface="Arial"/>
                        </a:rPr>
                        <a:t>n/a</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tcPr>
                </a:tc>
                <a:tc>
                  <a:txBody>
                    <a:bodyPr anchor="t" rtlCol="false"/>
                    <a:lstStyle/>
                    <a:p>
                      <a:pPr algn="l">
                        <a:lnSpc>
                          <a:spcPts val="2070"/>
                        </a:lnSpc>
                        <a:defRPr/>
                      </a:pPr>
                      <a:r>
                        <a:rPr lang="en-US" sz="1725" b="true">
                          <a:solidFill>
                            <a:srgbClr val="141414"/>
                          </a:solidFill>
                          <a:latin typeface="Arial Bold"/>
                          <a:ea typeface="Arial Bold"/>
                          <a:cs typeface="Arial Bold"/>
                          <a:sym typeface="Arial Bold"/>
                        </a:rPr>
                        <a:t>✓  5-provider fallback + rules</a:t>
                      </a:r>
                      <a:endParaRPr lang="en-US" sz="1100"/>
                    </a:p>
                  </a:txBody>
                  <a:tcPr marL="91440" marR="91440" marT="91440" marB="91440" anchor="ctr">
                    <a:lnL cmpd="sng" algn="ctr" cap="flat" w="12700">
                      <a:solidFill>
                        <a:srgbClr val="141414"/>
                      </a:solidFill>
                      <a:prstDash val="solid"/>
                      <a:round/>
                      <a:headEnd type="none" w="med" len="med"/>
                      <a:tailEnd type="none" w="med" len="med"/>
                    </a:lnL>
                    <a:lnR cmpd="sng" algn="ctr" cap="flat" w="12700">
                      <a:solidFill>
                        <a:srgbClr val="141414"/>
                      </a:solidFill>
                      <a:prstDash val="solid"/>
                      <a:round/>
                      <a:headEnd type="none" w="med" len="med"/>
                      <a:tailEnd type="none" w="med" len="med"/>
                    </a:lnR>
                    <a:lnT cmpd="sng" algn="ctr" cap="flat" w="12700">
                      <a:solidFill>
                        <a:srgbClr val="141414"/>
                      </a:solidFill>
                      <a:prstDash val="solid"/>
                      <a:round/>
                      <a:headEnd type="none" w="med" len="med"/>
                      <a:tailEnd type="none" w="med" len="med"/>
                    </a:lnT>
                    <a:lnB cmpd="sng" algn="ctr" cap="flat" w="12700">
                      <a:solidFill>
                        <a:srgbClr val="141414"/>
                      </a:solidFill>
                      <a:prstDash val="solid"/>
                      <a:round/>
                      <a:headEnd type="none" w="med" len="med"/>
                      <a:tailEnd type="none" w="med" len="med"/>
                    </a:lnB>
                    <a:solidFill>
                      <a:srgbClr val="E4DFFC"/>
                    </a:solidFill>
                  </a:tcPr>
                </a:tc>
              </a:tr>
            </a:tbl>
          </a:graphicData>
        </a:graphic>
      </p:graphicFrame>
      <p:grpSp>
        <p:nvGrpSpPr>
          <p:cNvPr name="Group 7" id="7"/>
          <p:cNvGrpSpPr/>
          <p:nvPr/>
        </p:nvGrpSpPr>
        <p:grpSpPr>
          <a:xfrm rot="0">
            <a:off x="12604432" y="2386012"/>
            <a:ext cx="4870323" cy="2017395"/>
            <a:chOff x="0" y="0"/>
            <a:chExt cx="6493764" cy="2689860"/>
          </a:xfrm>
        </p:grpSpPr>
        <p:sp>
          <p:nvSpPr>
            <p:cNvPr name="Freeform 8" id="8"/>
            <p:cNvSpPr/>
            <p:nvPr/>
          </p:nvSpPr>
          <p:spPr>
            <a:xfrm flipH="false" flipV="false" rot="0">
              <a:off x="0" y="0"/>
              <a:ext cx="6493764" cy="2689860"/>
            </a:xfrm>
            <a:custGeom>
              <a:avLst/>
              <a:gdLst/>
              <a:ahLst/>
              <a:cxnLst/>
              <a:rect r="r" b="b" t="t" l="l"/>
              <a:pathLst>
                <a:path h="2689860" w="6493764">
                  <a:moveTo>
                    <a:pt x="0" y="148463"/>
                  </a:moveTo>
                  <a:cubicBezTo>
                    <a:pt x="0" y="66421"/>
                    <a:pt x="66421" y="0"/>
                    <a:pt x="148463" y="0"/>
                  </a:cubicBezTo>
                  <a:lnTo>
                    <a:pt x="6345301" y="0"/>
                  </a:lnTo>
                  <a:cubicBezTo>
                    <a:pt x="6427216" y="0"/>
                    <a:pt x="6493764" y="66421"/>
                    <a:pt x="6493764" y="148463"/>
                  </a:cubicBezTo>
                  <a:lnTo>
                    <a:pt x="6493764" y="2541397"/>
                  </a:lnTo>
                  <a:cubicBezTo>
                    <a:pt x="6493764" y="2623312"/>
                    <a:pt x="6427343" y="2689860"/>
                    <a:pt x="6345301" y="2689860"/>
                  </a:cubicBezTo>
                  <a:lnTo>
                    <a:pt x="148463" y="2689860"/>
                  </a:lnTo>
                  <a:cubicBezTo>
                    <a:pt x="66421" y="2689860"/>
                    <a:pt x="0" y="2623439"/>
                    <a:pt x="0" y="2541397"/>
                  </a:cubicBezTo>
                  <a:close/>
                </a:path>
              </a:pathLst>
            </a:custGeom>
            <a:solidFill>
              <a:srgbClr val="F6ADA3"/>
            </a:solidFill>
            <a:ln w="28575" cap="sq">
              <a:solidFill>
                <a:srgbClr val="141414"/>
              </a:solidFill>
              <a:prstDash val="solid"/>
              <a:miter/>
            </a:ln>
          </p:spPr>
        </p:sp>
      </p:grpSp>
      <p:grpSp>
        <p:nvGrpSpPr>
          <p:cNvPr name="Group 9" id="9"/>
          <p:cNvGrpSpPr/>
          <p:nvPr/>
        </p:nvGrpSpPr>
        <p:grpSpPr>
          <a:xfrm rot="0">
            <a:off x="12893040" y="2702052"/>
            <a:ext cx="521208" cy="521208"/>
            <a:chOff x="0" y="0"/>
            <a:chExt cx="694944" cy="694944"/>
          </a:xfrm>
        </p:grpSpPr>
        <p:sp>
          <p:nvSpPr>
            <p:cNvPr name="Freeform 10" id="10"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4"/>
              <a:stretch>
                <a:fillRect l="0" t="0" r="0" b="0"/>
              </a:stretch>
            </a:blipFill>
          </p:spPr>
        </p:sp>
      </p:grpSp>
      <p:grpSp>
        <p:nvGrpSpPr>
          <p:cNvPr name="Group 11" id="11"/>
          <p:cNvGrpSpPr/>
          <p:nvPr/>
        </p:nvGrpSpPr>
        <p:grpSpPr>
          <a:xfrm rot="0">
            <a:off x="13578840" y="2647188"/>
            <a:ext cx="3703320" cy="617220"/>
            <a:chOff x="0" y="0"/>
            <a:chExt cx="4937760" cy="822960"/>
          </a:xfrm>
        </p:grpSpPr>
        <p:sp>
          <p:nvSpPr>
            <p:cNvPr name="Freeform 12" id="12"/>
            <p:cNvSpPr/>
            <p:nvPr/>
          </p:nvSpPr>
          <p:spPr>
            <a:xfrm flipH="false" flipV="false" rot="0">
              <a:off x="0" y="0"/>
              <a:ext cx="4937760" cy="822960"/>
            </a:xfrm>
            <a:custGeom>
              <a:avLst/>
              <a:gdLst/>
              <a:ahLst/>
              <a:cxnLst/>
              <a:rect r="r" b="b" t="t" l="l"/>
              <a:pathLst>
                <a:path h="822960" w="4937760">
                  <a:moveTo>
                    <a:pt x="0" y="0"/>
                  </a:moveTo>
                  <a:lnTo>
                    <a:pt x="4937760" y="0"/>
                  </a:lnTo>
                  <a:lnTo>
                    <a:pt x="4937760" y="822960"/>
                  </a:lnTo>
                  <a:lnTo>
                    <a:pt x="0" y="822960"/>
                  </a:lnTo>
                  <a:close/>
                </a:path>
              </a:pathLst>
            </a:custGeom>
            <a:blipFill>
              <a:blip r:embed="rId3">
                <a:alphaModFix amt="0"/>
              </a:blip>
              <a:stretch>
                <a:fillRect l="0" t="-66910" r="0" b="-66910"/>
              </a:stretch>
            </a:blipFill>
          </p:spPr>
        </p:sp>
        <p:sp>
          <p:nvSpPr>
            <p:cNvPr name="TextBox 13" id="13"/>
            <p:cNvSpPr txBox="true"/>
            <p:nvPr/>
          </p:nvSpPr>
          <p:spPr>
            <a:xfrm>
              <a:off x="0" y="-9525"/>
              <a:ext cx="4937760" cy="83248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Acts, not answers</a:t>
              </a:r>
            </a:p>
          </p:txBody>
        </p:sp>
      </p:grpSp>
      <p:sp>
        <p:nvSpPr>
          <p:cNvPr name="TextBox 14" id="14"/>
          <p:cNvSpPr txBox="true"/>
          <p:nvPr/>
        </p:nvSpPr>
        <p:spPr>
          <a:xfrm rot="0">
            <a:off x="12893040" y="3323463"/>
            <a:ext cx="4389120" cy="96964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Every decision ends in a real action on WhatsApp or the Paytm rails.</a:t>
            </a:r>
          </a:p>
        </p:txBody>
      </p:sp>
      <p:grpSp>
        <p:nvGrpSpPr>
          <p:cNvPr name="Group 15" id="15"/>
          <p:cNvGrpSpPr/>
          <p:nvPr/>
        </p:nvGrpSpPr>
        <p:grpSpPr>
          <a:xfrm rot="0">
            <a:off x="12604432" y="4608004"/>
            <a:ext cx="4870323" cy="2017395"/>
            <a:chOff x="0" y="0"/>
            <a:chExt cx="6493764" cy="2689860"/>
          </a:xfrm>
        </p:grpSpPr>
        <p:sp>
          <p:nvSpPr>
            <p:cNvPr name="Freeform 16" id="16"/>
            <p:cNvSpPr/>
            <p:nvPr/>
          </p:nvSpPr>
          <p:spPr>
            <a:xfrm flipH="false" flipV="false" rot="0">
              <a:off x="0" y="0"/>
              <a:ext cx="6493764" cy="2689860"/>
            </a:xfrm>
            <a:custGeom>
              <a:avLst/>
              <a:gdLst/>
              <a:ahLst/>
              <a:cxnLst/>
              <a:rect r="r" b="b" t="t" l="l"/>
              <a:pathLst>
                <a:path h="2689860" w="6493764">
                  <a:moveTo>
                    <a:pt x="0" y="148463"/>
                  </a:moveTo>
                  <a:cubicBezTo>
                    <a:pt x="0" y="66421"/>
                    <a:pt x="66421" y="0"/>
                    <a:pt x="148463" y="0"/>
                  </a:cubicBezTo>
                  <a:lnTo>
                    <a:pt x="6345301" y="0"/>
                  </a:lnTo>
                  <a:cubicBezTo>
                    <a:pt x="6427216" y="0"/>
                    <a:pt x="6493764" y="66421"/>
                    <a:pt x="6493764" y="148463"/>
                  </a:cubicBezTo>
                  <a:lnTo>
                    <a:pt x="6493764" y="2541397"/>
                  </a:lnTo>
                  <a:cubicBezTo>
                    <a:pt x="6493764" y="2623312"/>
                    <a:pt x="6427343" y="2689860"/>
                    <a:pt x="6345301" y="2689860"/>
                  </a:cubicBezTo>
                  <a:lnTo>
                    <a:pt x="148463" y="2689860"/>
                  </a:lnTo>
                  <a:cubicBezTo>
                    <a:pt x="66421" y="2689860"/>
                    <a:pt x="0" y="2623439"/>
                    <a:pt x="0" y="2541397"/>
                  </a:cubicBezTo>
                  <a:close/>
                </a:path>
              </a:pathLst>
            </a:custGeom>
            <a:solidFill>
              <a:srgbClr val="FFF1A8"/>
            </a:solidFill>
            <a:ln w="28575" cap="sq">
              <a:solidFill>
                <a:srgbClr val="141414"/>
              </a:solidFill>
              <a:prstDash val="solid"/>
              <a:miter/>
            </a:ln>
          </p:spPr>
        </p:sp>
      </p:grpSp>
      <p:grpSp>
        <p:nvGrpSpPr>
          <p:cNvPr name="Group 17" id="17"/>
          <p:cNvGrpSpPr/>
          <p:nvPr/>
        </p:nvGrpSpPr>
        <p:grpSpPr>
          <a:xfrm rot="0">
            <a:off x="12893040" y="4924044"/>
            <a:ext cx="521208" cy="521208"/>
            <a:chOff x="0" y="0"/>
            <a:chExt cx="694944" cy="694944"/>
          </a:xfrm>
        </p:grpSpPr>
        <p:sp>
          <p:nvSpPr>
            <p:cNvPr name="Freeform 18" id="18"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5"/>
              <a:stretch>
                <a:fillRect l="0" t="0" r="0" b="0"/>
              </a:stretch>
            </a:blipFill>
          </p:spPr>
        </p:sp>
      </p:grpSp>
      <p:grpSp>
        <p:nvGrpSpPr>
          <p:cNvPr name="Group 19" id="19"/>
          <p:cNvGrpSpPr/>
          <p:nvPr/>
        </p:nvGrpSpPr>
        <p:grpSpPr>
          <a:xfrm rot="0">
            <a:off x="13578840" y="4869180"/>
            <a:ext cx="3703320" cy="617220"/>
            <a:chOff x="0" y="0"/>
            <a:chExt cx="4937760" cy="822960"/>
          </a:xfrm>
        </p:grpSpPr>
        <p:sp>
          <p:nvSpPr>
            <p:cNvPr name="Freeform 20" id="20"/>
            <p:cNvSpPr/>
            <p:nvPr/>
          </p:nvSpPr>
          <p:spPr>
            <a:xfrm flipH="false" flipV="false" rot="0">
              <a:off x="0" y="0"/>
              <a:ext cx="4937760" cy="822960"/>
            </a:xfrm>
            <a:custGeom>
              <a:avLst/>
              <a:gdLst/>
              <a:ahLst/>
              <a:cxnLst/>
              <a:rect r="r" b="b" t="t" l="l"/>
              <a:pathLst>
                <a:path h="822960" w="4937760">
                  <a:moveTo>
                    <a:pt x="0" y="0"/>
                  </a:moveTo>
                  <a:lnTo>
                    <a:pt x="4937760" y="0"/>
                  </a:lnTo>
                  <a:lnTo>
                    <a:pt x="4937760" y="822960"/>
                  </a:lnTo>
                  <a:lnTo>
                    <a:pt x="0" y="822960"/>
                  </a:lnTo>
                  <a:close/>
                </a:path>
              </a:pathLst>
            </a:custGeom>
            <a:blipFill>
              <a:blip r:embed="rId3">
                <a:alphaModFix amt="0"/>
              </a:blip>
              <a:stretch>
                <a:fillRect l="0" t="-66910" r="0" b="-66910"/>
              </a:stretch>
            </a:blipFill>
          </p:spPr>
        </p:sp>
        <p:sp>
          <p:nvSpPr>
            <p:cNvPr name="TextBox 21" id="21"/>
            <p:cNvSpPr txBox="true"/>
            <p:nvPr/>
          </p:nvSpPr>
          <p:spPr>
            <a:xfrm>
              <a:off x="0" y="-9525"/>
              <a:ext cx="4937760" cy="83248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One shared brain</a:t>
              </a:r>
            </a:p>
          </p:txBody>
        </p:sp>
      </p:grpSp>
      <p:sp>
        <p:nvSpPr>
          <p:cNvPr name="TextBox 22" id="22"/>
          <p:cNvSpPr txBox="true"/>
          <p:nvPr/>
        </p:nvSpPr>
        <p:spPr>
          <a:xfrm rot="0">
            <a:off x="12893040" y="5545455"/>
            <a:ext cx="4389120" cy="96964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Pulse's customer insight fuels Grower. Grower's cash-gap signal triggers Capital.</a:t>
            </a:r>
          </a:p>
        </p:txBody>
      </p:sp>
      <p:grpSp>
        <p:nvGrpSpPr>
          <p:cNvPr name="Group 23" id="23"/>
          <p:cNvGrpSpPr/>
          <p:nvPr/>
        </p:nvGrpSpPr>
        <p:grpSpPr>
          <a:xfrm rot="0">
            <a:off x="12604432" y="6829996"/>
            <a:ext cx="4870323" cy="2017395"/>
            <a:chOff x="0" y="0"/>
            <a:chExt cx="6493764" cy="2689860"/>
          </a:xfrm>
        </p:grpSpPr>
        <p:sp>
          <p:nvSpPr>
            <p:cNvPr name="Freeform 24" id="24"/>
            <p:cNvSpPr/>
            <p:nvPr/>
          </p:nvSpPr>
          <p:spPr>
            <a:xfrm flipH="false" flipV="false" rot="0">
              <a:off x="0" y="0"/>
              <a:ext cx="6493764" cy="2689860"/>
            </a:xfrm>
            <a:custGeom>
              <a:avLst/>
              <a:gdLst/>
              <a:ahLst/>
              <a:cxnLst/>
              <a:rect r="r" b="b" t="t" l="l"/>
              <a:pathLst>
                <a:path h="2689860" w="6493764">
                  <a:moveTo>
                    <a:pt x="0" y="148463"/>
                  </a:moveTo>
                  <a:cubicBezTo>
                    <a:pt x="0" y="66421"/>
                    <a:pt x="66421" y="0"/>
                    <a:pt x="148463" y="0"/>
                  </a:cubicBezTo>
                  <a:lnTo>
                    <a:pt x="6345301" y="0"/>
                  </a:lnTo>
                  <a:cubicBezTo>
                    <a:pt x="6427216" y="0"/>
                    <a:pt x="6493764" y="66421"/>
                    <a:pt x="6493764" y="148463"/>
                  </a:cubicBezTo>
                  <a:lnTo>
                    <a:pt x="6493764" y="2541397"/>
                  </a:lnTo>
                  <a:cubicBezTo>
                    <a:pt x="6493764" y="2623312"/>
                    <a:pt x="6427343" y="2689860"/>
                    <a:pt x="6345301" y="2689860"/>
                  </a:cubicBezTo>
                  <a:lnTo>
                    <a:pt x="148463" y="2689860"/>
                  </a:lnTo>
                  <a:cubicBezTo>
                    <a:pt x="66421" y="2689860"/>
                    <a:pt x="0" y="2623439"/>
                    <a:pt x="0" y="2541397"/>
                  </a:cubicBezTo>
                  <a:close/>
                </a:path>
              </a:pathLst>
            </a:custGeom>
            <a:solidFill>
              <a:srgbClr val="BFEBD3"/>
            </a:solidFill>
            <a:ln w="28575" cap="sq">
              <a:solidFill>
                <a:srgbClr val="141414"/>
              </a:solidFill>
              <a:prstDash val="solid"/>
              <a:miter/>
            </a:ln>
          </p:spPr>
        </p:sp>
      </p:grpSp>
      <p:grpSp>
        <p:nvGrpSpPr>
          <p:cNvPr name="Group 25" id="25"/>
          <p:cNvGrpSpPr/>
          <p:nvPr/>
        </p:nvGrpSpPr>
        <p:grpSpPr>
          <a:xfrm rot="0">
            <a:off x="12893040" y="7146036"/>
            <a:ext cx="521208" cy="521208"/>
            <a:chOff x="0" y="0"/>
            <a:chExt cx="694944" cy="694944"/>
          </a:xfrm>
        </p:grpSpPr>
        <p:sp>
          <p:nvSpPr>
            <p:cNvPr name="Freeform 26" id="26" descr="preencoded.png"/>
            <p:cNvSpPr/>
            <p:nvPr/>
          </p:nvSpPr>
          <p:spPr>
            <a:xfrm flipH="false" flipV="false" rot="0">
              <a:off x="0" y="0"/>
              <a:ext cx="694944" cy="694944"/>
            </a:xfrm>
            <a:custGeom>
              <a:avLst/>
              <a:gdLst/>
              <a:ahLst/>
              <a:cxnLst/>
              <a:rect r="r" b="b" t="t" l="l"/>
              <a:pathLst>
                <a:path h="694944" w="694944">
                  <a:moveTo>
                    <a:pt x="0" y="0"/>
                  </a:moveTo>
                  <a:lnTo>
                    <a:pt x="694944" y="0"/>
                  </a:lnTo>
                  <a:lnTo>
                    <a:pt x="694944" y="694944"/>
                  </a:lnTo>
                  <a:lnTo>
                    <a:pt x="0" y="694944"/>
                  </a:lnTo>
                  <a:lnTo>
                    <a:pt x="0" y="0"/>
                  </a:lnTo>
                  <a:close/>
                </a:path>
              </a:pathLst>
            </a:custGeom>
            <a:blipFill>
              <a:blip r:embed="rId6"/>
              <a:stretch>
                <a:fillRect l="0" t="0" r="0" b="0"/>
              </a:stretch>
            </a:blipFill>
          </p:spPr>
        </p:sp>
      </p:grpSp>
      <p:grpSp>
        <p:nvGrpSpPr>
          <p:cNvPr name="Group 27" id="27"/>
          <p:cNvGrpSpPr/>
          <p:nvPr/>
        </p:nvGrpSpPr>
        <p:grpSpPr>
          <a:xfrm rot="0">
            <a:off x="13578840" y="7091172"/>
            <a:ext cx="3703320" cy="617220"/>
            <a:chOff x="0" y="0"/>
            <a:chExt cx="4937760" cy="822960"/>
          </a:xfrm>
        </p:grpSpPr>
        <p:sp>
          <p:nvSpPr>
            <p:cNvPr name="Freeform 28" id="28"/>
            <p:cNvSpPr/>
            <p:nvPr/>
          </p:nvSpPr>
          <p:spPr>
            <a:xfrm flipH="false" flipV="false" rot="0">
              <a:off x="0" y="0"/>
              <a:ext cx="4937760" cy="822960"/>
            </a:xfrm>
            <a:custGeom>
              <a:avLst/>
              <a:gdLst/>
              <a:ahLst/>
              <a:cxnLst/>
              <a:rect r="r" b="b" t="t" l="l"/>
              <a:pathLst>
                <a:path h="822960" w="4937760">
                  <a:moveTo>
                    <a:pt x="0" y="0"/>
                  </a:moveTo>
                  <a:lnTo>
                    <a:pt x="4937760" y="0"/>
                  </a:lnTo>
                  <a:lnTo>
                    <a:pt x="4937760" y="822960"/>
                  </a:lnTo>
                  <a:lnTo>
                    <a:pt x="0" y="822960"/>
                  </a:lnTo>
                  <a:close/>
                </a:path>
              </a:pathLst>
            </a:custGeom>
            <a:blipFill>
              <a:blip r:embed="rId3">
                <a:alphaModFix amt="0"/>
              </a:blip>
              <a:stretch>
                <a:fillRect l="0" t="-66910" r="0" b="-66910"/>
              </a:stretch>
            </a:blipFill>
          </p:spPr>
        </p:sp>
        <p:sp>
          <p:nvSpPr>
            <p:cNvPr name="TextBox 29" id="29"/>
            <p:cNvSpPr txBox="true"/>
            <p:nvPr/>
          </p:nvSpPr>
          <p:spPr>
            <a:xfrm>
              <a:off x="0" y="-9525"/>
              <a:ext cx="4937760" cy="832485"/>
            </a:xfrm>
            <a:prstGeom prst="rect">
              <a:avLst/>
            </a:prstGeom>
          </p:spPr>
          <p:txBody>
            <a:bodyPr anchor="ctr" rtlCol="false" tIns="0" lIns="0" bIns="0" rIns="0"/>
            <a:lstStyle/>
            <a:p>
              <a:pPr algn="l">
                <a:lnSpc>
                  <a:spcPts val="2520"/>
                </a:lnSpc>
              </a:pPr>
              <a:r>
                <a:rPr lang="en-US" sz="2100" b="true">
                  <a:solidFill>
                    <a:srgbClr val="141414"/>
                  </a:solidFill>
                  <a:latin typeface="Arial Bold"/>
                  <a:ea typeface="Arial Bold"/>
                  <a:cs typeface="Arial Bold"/>
                  <a:sym typeface="Arial Bold"/>
                </a:rPr>
                <a:t>Built for Bharat</a:t>
              </a:r>
            </a:p>
          </p:txBody>
        </p:sp>
      </p:grpSp>
      <p:sp>
        <p:nvSpPr>
          <p:cNvPr name="TextBox 30" id="30"/>
          <p:cNvSpPr txBox="true"/>
          <p:nvPr/>
        </p:nvSpPr>
        <p:spPr>
          <a:xfrm rot="0">
            <a:off x="12893040" y="7767447"/>
            <a:ext cx="4389120" cy="96964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Voice-first and vernacular, on WhatsApp, where merchants already are.</a:t>
            </a:r>
          </a:p>
        </p:txBody>
      </p:sp>
      <p:grpSp>
        <p:nvGrpSpPr>
          <p:cNvPr name="Group 31" id="31"/>
          <p:cNvGrpSpPr/>
          <p:nvPr/>
        </p:nvGrpSpPr>
        <p:grpSpPr>
          <a:xfrm rot="0">
            <a:off x="15518292" y="427006"/>
            <a:ext cx="2232517" cy="874205"/>
            <a:chOff x="0" y="0"/>
            <a:chExt cx="2976690" cy="1165606"/>
          </a:xfrm>
        </p:grpSpPr>
        <p:sp>
          <p:nvSpPr>
            <p:cNvPr name="Freeform 32" id="32"/>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33" id="33"/>
          <p:cNvGrpSpPr/>
          <p:nvPr/>
        </p:nvGrpSpPr>
        <p:grpSpPr>
          <a:xfrm rot="0">
            <a:off x="15804518" y="603504"/>
            <a:ext cx="1660065" cy="521208"/>
            <a:chOff x="0" y="0"/>
            <a:chExt cx="2213420" cy="694944"/>
          </a:xfrm>
        </p:grpSpPr>
        <p:sp>
          <p:nvSpPr>
            <p:cNvPr name="Freeform 34" id="34"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7"/>
              <a:stretch>
                <a:fillRect l="0" t="0" r="-2" b="0"/>
              </a:stretch>
            </a:blipFill>
          </p:spPr>
        </p:sp>
      </p:grpSp>
      <p:grpSp>
        <p:nvGrpSpPr>
          <p:cNvPr name="Group 35" id="35"/>
          <p:cNvGrpSpPr/>
          <p:nvPr/>
        </p:nvGrpSpPr>
        <p:grpSpPr>
          <a:xfrm rot="0">
            <a:off x="822960" y="9628632"/>
            <a:ext cx="9601200" cy="384048"/>
            <a:chOff x="0" y="0"/>
            <a:chExt cx="12801600" cy="512064"/>
          </a:xfrm>
        </p:grpSpPr>
        <p:sp>
          <p:nvSpPr>
            <p:cNvPr name="Freeform 36" id="36"/>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37" id="37"/>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38" id="38"/>
          <p:cNvGrpSpPr/>
          <p:nvPr/>
        </p:nvGrpSpPr>
        <p:grpSpPr>
          <a:xfrm rot="0">
            <a:off x="16733520" y="9628632"/>
            <a:ext cx="754380" cy="384048"/>
            <a:chOff x="0" y="0"/>
            <a:chExt cx="1005840" cy="512064"/>
          </a:xfrm>
        </p:grpSpPr>
        <p:sp>
          <p:nvSpPr>
            <p:cNvPr name="Freeform 39" id="39"/>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40" id="40"/>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06</a:t>
              </a:r>
            </a:p>
          </p:txBody>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05 · IMPACT &amp; BENEFITS</a:t>
              </a:r>
            </a:p>
          </p:txBody>
        </p:sp>
      </p:grpSp>
      <p:sp>
        <p:nvSpPr>
          <p:cNvPr name="TextBox 5" id="5"/>
          <p:cNvSpPr txBox="true"/>
          <p:nvPr/>
        </p:nvSpPr>
        <p:spPr>
          <a:xfrm rot="0">
            <a:off x="822960" y="958977"/>
            <a:ext cx="16733520" cy="1263015"/>
          </a:xfrm>
          <a:prstGeom prst="rect">
            <a:avLst/>
          </a:prstGeom>
        </p:spPr>
        <p:txBody>
          <a:bodyPr anchor="t" rtlCol="false" tIns="0" lIns="0" bIns="0" rIns="0">
            <a:spAutoFit/>
          </a:bodyPr>
          <a:lstStyle/>
          <a:p>
            <a:pPr algn="l">
              <a:lnSpc>
                <a:spcPts val="5400"/>
              </a:lnSpc>
            </a:pPr>
            <a:r>
              <a:rPr lang="en-US" sz="4500" b="true">
                <a:solidFill>
                  <a:srgbClr val="141414"/>
                </a:solidFill>
                <a:latin typeface="Arial Bold"/>
                <a:ea typeface="Arial Bold"/>
                <a:cs typeface="Arial Bold"/>
                <a:sym typeface="Arial Bold"/>
              </a:rPr>
              <a:t>MORE MONEY FOR MERCHANTS.</a:t>
            </a:r>
          </a:p>
          <a:p>
            <a:pPr algn="l">
              <a:lnSpc>
                <a:spcPts val="5400"/>
              </a:lnSpc>
            </a:pPr>
            <a:r>
              <a:rPr lang="en-US" sz="4500" b="true">
                <a:solidFill>
                  <a:srgbClr val="141414"/>
                </a:solidFill>
                <a:latin typeface="Arial Bold"/>
                <a:ea typeface="Arial Bold"/>
                <a:cs typeface="Arial Bold"/>
                <a:sym typeface="Arial Bold"/>
              </a:rPr>
              <a:t>LESS EFFORT FOR EVERYONE.</a:t>
            </a:r>
          </a:p>
        </p:txBody>
      </p:sp>
      <p:grpSp>
        <p:nvGrpSpPr>
          <p:cNvPr name="Group 6" id="6"/>
          <p:cNvGrpSpPr/>
          <p:nvPr/>
        </p:nvGrpSpPr>
        <p:grpSpPr>
          <a:xfrm rot="0">
            <a:off x="808672" y="2934652"/>
            <a:ext cx="4006215" cy="1948815"/>
            <a:chOff x="0" y="0"/>
            <a:chExt cx="5341620" cy="2598420"/>
          </a:xfrm>
        </p:grpSpPr>
        <p:sp>
          <p:nvSpPr>
            <p:cNvPr name="Freeform 7" id="7"/>
            <p:cNvSpPr/>
            <p:nvPr/>
          </p:nvSpPr>
          <p:spPr>
            <a:xfrm flipH="false" flipV="false" rot="0">
              <a:off x="0" y="0"/>
              <a:ext cx="5341620" cy="2598420"/>
            </a:xfrm>
            <a:custGeom>
              <a:avLst/>
              <a:gdLst/>
              <a:ahLst/>
              <a:cxnLst/>
              <a:rect r="r" b="b" t="t" l="l"/>
              <a:pathLst>
                <a:path h="2598420" w="5341620">
                  <a:moveTo>
                    <a:pt x="0" y="148463"/>
                  </a:moveTo>
                  <a:cubicBezTo>
                    <a:pt x="0" y="66421"/>
                    <a:pt x="66421" y="0"/>
                    <a:pt x="148463" y="0"/>
                  </a:cubicBezTo>
                  <a:lnTo>
                    <a:pt x="5193157" y="0"/>
                  </a:lnTo>
                  <a:cubicBezTo>
                    <a:pt x="5275199" y="0"/>
                    <a:pt x="5341620" y="66421"/>
                    <a:pt x="5341620" y="148463"/>
                  </a:cubicBezTo>
                  <a:lnTo>
                    <a:pt x="5341620" y="2449957"/>
                  </a:lnTo>
                  <a:cubicBezTo>
                    <a:pt x="5341620" y="2531999"/>
                    <a:pt x="5275199" y="2598420"/>
                    <a:pt x="5193157" y="2598420"/>
                  </a:cubicBezTo>
                  <a:lnTo>
                    <a:pt x="148463" y="2598420"/>
                  </a:lnTo>
                  <a:cubicBezTo>
                    <a:pt x="66421" y="2598420"/>
                    <a:pt x="0" y="2531999"/>
                    <a:pt x="0" y="2449957"/>
                  </a:cubicBezTo>
                  <a:close/>
                </a:path>
              </a:pathLst>
            </a:custGeom>
            <a:solidFill>
              <a:srgbClr val="F6ADA3"/>
            </a:solidFill>
            <a:ln w="28575" cap="sq">
              <a:solidFill>
                <a:srgbClr val="141414"/>
              </a:solidFill>
              <a:prstDash val="solid"/>
              <a:miter/>
            </a:ln>
          </p:spPr>
        </p:sp>
      </p:grpSp>
      <p:grpSp>
        <p:nvGrpSpPr>
          <p:cNvPr name="Group 8" id="8"/>
          <p:cNvGrpSpPr/>
          <p:nvPr/>
        </p:nvGrpSpPr>
        <p:grpSpPr>
          <a:xfrm rot="0">
            <a:off x="1097280" y="3017520"/>
            <a:ext cx="3429000" cy="1097280"/>
            <a:chOff x="0" y="0"/>
            <a:chExt cx="4572000" cy="1463040"/>
          </a:xfrm>
        </p:grpSpPr>
        <p:sp>
          <p:nvSpPr>
            <p:cNvPr name="Freeform 9" id="9"/>
            <p:cNvSpPr/>
            <p:nvPr/>
          </p:nvSpPr>
          <p:spPr>
            <a:xfrm flipH="false" flipV="false" rot="0">
              <a:off x="0" y="0"/>
              <a:ext cx="4572000" cy="1463040"/>
            </a:xfrm>
            <a:custGeom>
              <a:avLst/>
              <a:gdLst/>
              <a:ahLst/>
              <a:cxnLst/>
              <a:rect r="r" b="b" t="t" l="l"/>
              <a:pathLst>
                <a:path h="1463040" w="4572000">
                  <a:moveTo>
                    <a:pt x="0" y="0"/>
                  </a:moveTo>
                  <a:lnTo>
                    <a:pt x="4572000" y="0"/>
                  </a:lnTo>
                  <a:lnTo>
                    <a:pt x="4572000" y="1463040"/>
                  </a:lnTo>
                  <a:lnTo>
                    <a:pt x="0" y="1463040"/>
                  </a:lnTo>
                  <a:close/>
                </a:path>
              </a:pathLst>
            </a:custGeom>
            <a:blipFill>
              <a:blip r:embed="rId3">
                <a:alphaModFix amt="0"/>
              </a:blip>
              <a:stretch>
                <a:fillRect l="0" t="-10890" r="0" b="-10890"/>
              </a:stretch>
            </a:blipFill>
          </p:spPr>
        </p:sp>
        <p:sp>
          <p:nvSpPr>
            <p:cNvPr name="TextBox 10" id="10"/>
            <p:cNvSpPr txBox="true"/>
            <p:nvPr/>
          </p:nvSpPr>
          <p:spPr>
            <a:xfrm>
              <a:off x="0" y="-28575"/>
              <a:ext cx="4572000" cy="1491615"/>
            </a:xfrm>
            <a:prstGeom prst="rect">
              <a:avLst/>
            </a:prstGeom>
          </p:spPr>
          <p:txBody>
            <a:bodyPr anchor="ctr" rtlCol="false" tIns="0" lIns="0" bIns="0" rIns="0"/>
            <a:lstStyle/>
            <a:p>
              <a:pPr algn="l">
                <a:lnSpc>
                  <a:spcPts val="6480"/>
                </a:lnSpc>
              </a:pPr>
              <a:r>
                <a:rPr lang="en-US" sz="5400" b="true">
                  <a:solidFill>
                    <a:srgbClr val="141414"/>
                  </a:solidFill>
                  <a:latin typeface="Arial Bold"/>
                  <a:ea typeface="Arial Bold"/>
                  <a:cs typeface="Arial Bold"/>
                  <a:sym typeface="Arial Bold"/>
                </a:rPr>
                <a:t>6 → 1</a:t>
              </a:r>
            </a:p>
          </p:txBody>
        </p:sp>
      </p:grpSp>
      <p:sp>
        <p:nvSpPr>
          <p:cNvPr name="TextBox 11" id="11"/>
          <p:cNvSpPr txBox="true"/>
          <p:nvPr/>
        </p:nvSpPr>
        <p:spPr>
          <a:xfrm rot="0">
            <a:off x="1097280" y="4036695"/>
            <a:ext cx="3497580" cy="83248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6 outcomes, 1 human step in our demo flow (prototype)</a:t>
            </a:r>
          </a:p>
        </p:txBody>
      </p:sp>
      <p:grpSp>
        <p:nvGrpSpPr>
          <p:cNvPr name="Group 12" id="12"/>
          <p:cNvGrpSpPr/>
          <p:nvPr/>
        </p:nvGrpSpPr>
        <p:grpSpPr>
          <a:xfrm rot="0">
            <a:off x="5033200" y="2934652"/>
            <a:ext cx="4006215" cy="1948815"/>
            <a:chOff x="0" y="0"/>
            <a:chExt cx="5341620" cy="2598420"/>
          </a:xfrm>
        </p:grpSpPr>
        <p:sp>
          <p:nvSpPr>
            <p:cNvPr name="Freeform 13" id="13"/>
            <p:cNvSpPr/>
            <p:nvPr/>
          </p:nvSpPr>
          <p:spPr>
            <a:xfrm flipH="false" flipV="false" rot="0">
              <a:off x="0" y="0"/>
              <a:ext cx="5341620" cy="2598420"/>
            </a:xfrm>
            <a:custGeom>
              <a:avLst/>
              <a:gdLst/>
              <a:ahLst/>
              <a:cxnLst/>
              <a:rect r="r" b="b" t="t" l="l"/>
              <a:pathLst>
                <a:path h="2598420" w="5341620">
                  <a:moveTo>
                    <a:pt x="0" y="148463"/>
                  </a:moveTo>
                  <a:cubicBezTo>
                    <a:pt x="0" y="66421"/>
                    <a:pt x="66421" y="0"/>
                    <a:pt x="148463" y="0"/>
                  </a:cubicBezTo>
                  <a:lnTo>
                    <a:pt x="5193157" y="0"/>
                  </a:lnTo>
                  <a:cubicBezTo>
                    <a:pt x="5275199" y="0"/>
                    <a:pt x="5341620" y="66421"/>
                    <a:pt x="5341620" y="148463"/>
                  </a:cubicBezTo>
                  <a:lnTo>
                    <a:pt x="5341620" y="2449957"/>
                  </a:lnTo>
                  <a:cubicBezTo>
                    <a:pt x="5341620" y="2531999"/>
                    <a:pt x="5275199" y="2598420"/>
                    <a:pt x="5193157" y="2598420"/>
                  </a:cubicBezTo>
                  <a:lnTo>
                    <a:pt x="148463" y="2598420"/>
                  </a:lnTo>
                  <a:cubicBezTo>
                    <a:pt x="66421" y="2598420"/>
                    <a:pt x="0" y="2531999"/>
                    <a:pt x="0" y="2449957"/>
                  </a:cubicBezTo>
                  <a:close/>
                </a:path>
              </a:pathLst>
            </a:custGeom>
            <a:solidFill>
              <a:srgbClr val="FFF1A8"/>
            </a:solidFill>
            <a:ln w="28575" cap="sq">
              <a:solidFill>
                <a:srgbClr val="141414"/>
              </a:solidFill>
              <a:prstDash val="solid"/>
              <a:miter/>
            </a:ln>
          </p:spPr>
        </p:sp>
      </p:grpSp>
      <p:grpSp>
        <p:nvGrpSpPr>
          <p:cNvPr name="Group 14" id="14"/>
          <p:cNvGrpSpPr/>
          <p:nvPr/>
        </p:nvGrpSpPr>
        <p:grpSpPr>
          <a:xfrm rot="0">
            <a:off x="5321808" y="3017520"/>
            <a:ext cx="3429000" cy="1097280"/>
            <a:chOff x="0" y="0"/>
            <a:chExt cx="4572000" cy="1463040"/>
          </a:xfrm>
        </p:grpSpPr>
        <p:sp>
          <p:nvSpPr>
            <p:cNvPr name="Freeform 15" id="15"/>
            <p:cNvSpPr/>
            <p:nvPr/>
          </p:nvSpPr>
          <p:spPr>
            <a:xfrm flipH="false" flipV="false" rot="0">
              <a:off x="0" y="0"/>
              <a:ext cx="4572000" cy="1463040"/>
            </a:xfrm>
            <a:custGeom>
              <a:avLst/>
              <a:gdLst/>
              <a:ahLst/>
              <a:cxnLst/>
              <a:rect r="r" b="b" t="t" l="l"/>
              <a:pathLst>
                <a:path h="1463040" w="4572000">
                  <a:moveTo>
                    <a:pt x="0" y="0"/>
                  </a:moveTo>
                  <a:lnTo>
                    <a:pt x="4572000" y="0"/>
                  </a:lnTo>
                  <a:lnTo>
                    <a:pt x="4572000" y="1463040"/>
                  </a:lnTo>
                  <a:lnTo>
                    <a:pt x="0" y="1463040"/>
                  </a:lnTo>
                  <a:close/>
                </a:path>
              </a:pathLst>
            </a:custGeom>
            <a:blipFill>
              <a:blip r:embed="rId3">
                <a:alphaModFix amt="0"/>
              </a:blip>
              <a:stretch>
                <a:fillRect l="0" t="-10890" r="0" b="-10890"/>
              </a:stretch>
            </a:blipFill>
          </p:spPr>
        </p:sp>
        <p:sp>
          <p:nvSpPr>
            <p:cNvPr name="TextBox 16" id="16"/>
            <p:cNvSpPr txBox="true"/>
            <p:nvPr/>
          </p:nvSpPr>
          <p:spPr>
            <a:xfrm>
              <a:off x="0" y="-28575"/>
              <a:ext cx="4572000" cy="1491615"/>
            </a:xfrm>
            <a:prstGeom prst="rect">
              <a:avLst/>
            </a:prstGeom>
          </p:spPr>
          <p:txBody>
            <a:bodyPr anchor="ctr" rtlCol="false" tIns="0" lIns="0" bIns="0" rIns="0"/>
            <a:lstStyle/>
            <a:p>
              <a:pPr algn="l">
                <a:lnSpc>
                  <a:spcPts val="6480"/>
                </a:lnSpc>
              </a:pPr>
              <a:r>
                <a:rPr lang="en-US" sz="5400" b="true">
                  <a:solidFill>
                    <a:srgbClr val="141414"/>
                  </a:solidFill>
                  <a:latin typeface="Arial Bold"/>
                  <a:ea typeface="Arial Bold"/>
                  <a:cs typeface="Arial Bold"/>
                  <a:sym typeface="Arial Bold"/>
                </a:rPr>
                <a:t>1 tap</a:t>
              </a:r>
            </a:p>
          </p:txBody>
        </p:sp>
      </p:grpSp>
      <p:sp>
        <p:nvSpPr>
          <p:cNvPr name="TextBox 17" id="17"/>
          <p:cNvSpPr txBox="true"/>
          <p:nvPr/>
        </p:nvSpPr>
        <p:spPr>
          <a:xfrm rot="0">
            <a:off x="5321808" y="4036695"/>
            <a:ext cx="3497580" cy="83248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credit acceptance, repaid as % of daily sales (prototype)</a:t>
            </a:r>
          </a:p>
        </p:txBody>
      </p:sp>
      <p:grpSp>
        <p:nvGrpSpPr>
          <p:cNvPr name="Group 18" id="18"/>
          <p:cNvGrpSpPr/>
          <p:nvPr/>
        </p:nvGrpSpPr>
        <p:grpSpPr>
          <a:xfrm rot="0">
            <a:off x="9257728" y="2934652"/>
            <a:ext cx="4006215" cy="1948815"/>
            <a:chOff x="0" y="0"/>
            <a:chExt cx="5341620" cy="2598420"/>
          </a:xfrm>
        </p:grpSpPr>
        <p:sp>
          <p:nvSpPr>
            <p:cNvPr name="Freeform 19" id="19"/>
            <p:cNvSpPr/>
            <p:nvPr/>
          </p:nvSpPr>
          <p:spPr>
            <a:xfrm flipH="false" flipV="false" rot="0">
              <a:off x="0" y="0"/>
              <a:ext cx="5341620" cy="2598420"/>
            </a:xfrm>
            <a:custGeom>
              <a:avLst/>
              <a:gdLst/>
              <a:ahLst/>
              <a:cxnLst/>
              <a:rect r="r" b="b" t="t" l="l"/>
              <a:pathLst>
                <a:path h="2598420" w="5341620">
                  <a:moveTo>
                    <a:pt x="0" y="148463"/>
                  </a:moveTo>
                  <a:cubicBezTo>
                    <a:pt x="0" y="66421"/>
                    <a:pt x="66421" y="0"/>
                    <a:pt x="148463" y="0"/>
                  </a:cubicBezTo>
                  <a:lnTo>
                    <a:pt x="5193157" y="0"/>
                  </a:lnTo>
                  <a:cubicBezTo>
                    <a:pt x="5275199" y="0"/>
                    <a:pt x="5341620" y="66421"/>
                    <a:pt x="5341620" y="148463"/>
                  </a:cubicBezTo>
                  <a:lnTo>
                    <a:pt x="5341620" y="2449957"/>
                  </a:lnTo>
                  <a:cubicBezTo>
                    <a:pt x="5341620" y="2531999"/>
                    <a:pt x="5275199" y="2598420"/>
                    <a:pt x="5193157" y="2598420"/>
                  </a:cubicBezTo>
                  <a:lnTo>
                    <a:pt x="148463" y="2598420"/>
                  </a:lnTo>
                  <a:cubicBezTo>
                    <a:pt x="66421" y="2598420"/>
                    <a:pt x="0" y="2531999"/>
                    <a:pt x="0" y="2449957"/>
                  </a:cubicBezTo>
                  <a:close/>
                </a:path>
              </a:pathLst>
            </a:custGeom>
            <a:solidFill>
              <a:srgbClr val="BFEBD3"/>
            </a:solidFill>
            <a:ln w="28575" cap="sq">
              <a:solidFill>
                <a:srgbClr val="141414"/>
              </a:solidFill>
              <a:prstDash val="solid"/>
              <a:miter/>
            </a:ln>
          </p:spPr>
        </p:sp>
      </p:grpSp>
      <p:grpSp>
        <p:nvGrpSpPr>
          <p:cNvPr name="Group 20" id="20"/>
          <p:cNvGrpSpPr/>
          <p:nvPr/>
        </p:nvGrpSpPr>
        <p:grpSpPr>
          <a:xfrm rot="0">
            <a:off x="9546336" y="3017520"/>
            <a:ext cx="3429000" cy="1097280"/>
            <a:chOff x="0" y="0"/>
            <a:chExt cx="4572000" cy="1463040"/>
          </a:xfrm>
        </p:grpSpPr>
        <p:sp>
          <p:nvSpPr>
            <p:cNvPr name="Freeform 21" id="21"/>
            <p:cNvSpPr/>
            <p:nvPr/>
          </p:nvSpPr>
          <p:spPr>
            <a:xfrm flipH="false" flipV="false" rot="0">
              <a:off x="0" y="0"/>
              <a:ext cx="4572000" cy="1463040"/>
            </a:xfrm>
            <a:custGeom>
              <a:avLst/>
              <a:gdLst/>
              <a:ahLst/>
              <a:cxnLst/>
              <a:rect r="r" b="b" t="t" l="l"/>
              <a:pathLst>
                <a:path h="1463040" w="4572000">
                  <a:moveTo>
                    <a:pt x="0" y="0"/>
                  </a:moveTo>
                  <a:lnTo>
                    <a:pt x="4572000" y="0"/>
                  </a:lnTo>
                  <a:lnTo>
                    <a:pt x="4572000" y="1463040"/>
                  </a:lnTo>
                  <a:lnTo>
                    <a:pt x="0" y="1463040"/>
                  </a:lnTo>
                  <a:close/>
                </a:path>
              </a:pathLst>
            </a:custGeom>
            <a:blipFill>
              <a:blip r:embed="rId3">
                <a:alphaModFix amt="0"/>
              </a:blip>
              <a:stretch>
                <a:fillRect l="0" t="-10890" r="0" b="-10890"/>
              </a:stretch>
            </a:blipFill>
          </p:spPr>
        </p:sp>
        <p:sp>
          <p:nvSpPr>
            <p:cNvPr name="TextBox 22" id="22"/>
            <p:cNvSpPr txBox="true"/>
            <p:nvPr/>
          </p:nvSpPr>
          <p:spPr>
            <a:xfrm>
              <a:off x="0" y="-28575"/>
              <a:ext cx="4572000" cy="1491615"/>
            </a:xfrm>
            <a:prstGeom prst="rect">
              <a:avLst/>
            </a:prstGeom>
          </p:spPr>
          <p:txBody>
            <a:bodyPr anchor="ctr" rtlCol="false" tIns="0" lIns="0" bIns="0" rIns="0"/>
            <a:lstStyle/>
            <a:p>
              <a:pPr algn="l">
                <a:lnSpc>
                  <a:spcPts val="6480"/>
                </a:lnSpc>
              </a:pPr>
              <a:r>
                <a:rPr lang="en-US" sz="5400" b="true">
                  <a:solidFill>
                    <a:srgbClr val="141414"/>
                  </a:solidFill>
                  <a:latin typeface="Arial Bold"/>
                  <a:ea typeface="Arial Bold"/>
                  <a:cs typeface="Arial Bold"/>
                  <a:sym typeface="Arial Bold"/>
                </a:rPr>
                <a:t>11</a:t>
              </a:r>
            </a:p>
          </p:txBody>
        </p:sp>
      </p:grpSp>
      <p:sp>
        <p:nvSpPr>
          <p:cNvPr name="TextBox 23" id="23"/>
          <p:cNvSpPr txBox="true"/>
          <p:nvPr/>
        </p:nvSpPr>
        <p:spPr>
          <a:xfrm rot="0">
            <a:off x="9546336" y="4036695"/>
            <a:ext cx="3497580" cy="83248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voice languages via Sarvam: 10 Indian + English</a:t>
            </a:r>
          </a:p>
        </p:txBody>
      </p:sp>
      <p:grpSp>
        <p:nvGrpSpPr>
          <p:cNvPr name="Group 24" id="24"/>
          <p:cNvGrpSpPr/>
          <p:nvPr/>
        </p:nvGrpSpPr>
        <p:grpSpPr>
          <a:xfrm rot="0">
            <a:off x="13482256" y="2934652"/>
            <a:ext cx="4006215" cy="1948815"/>
            <a:chOff x="0" y="0"/>
            <a:chExt cx="5341620" cy="2598420"/>
          </a:xfrm>
        </p:grpSpPr>
        <p:sp>
          <p:nvSpPr>
            <p:cNvPr name="Freeform 25" id="25"/>
            <p:cNvSpPr/>
            <p:nvPr/>
          </p:nvSpPr>
          <p:spPr>
            <a:xfrm flipH="false" flipV="false" rot="0">
              <a:off x="0" y="0"/>
              <a:ext cx="5341620" cy="2598420"/>
            </a:xfrm>
            <a:custGeom>
              <a:avLst/>
              <a:gdLst/>
              <a:ahLst/>
              <a:cxnLst/>
              <a:rect r="r" b="b" t="t" l="l"/>
              <a:pathLst>
                <a:path h="2598420" w="5341620">
                  <a:moveTo>
                    <a:pt x="0" y="148463"/>
                  </a:moveTo>
                  <a:cubicBezTo>
                    <a:pt x="0" y="66421"/>
                    <a:pt x="66421" y="0"/>
                    <a:pt x="148463" y="0"/>
                  </a:cubicBezTo>
                  <a:lnTo>
                    <a:pt x="5193157" y="0"/>
                  </a:lnTo>
                  <a:cubicBezTo>
                    <a:pt x="5275199" y="0"/>
                    <a:pt x="5341620" y="66421"/>
                    <a:pt x="5341620" y="148463"/>
                  </a:cubicBezTo>
                  <a:lnTo>
                    <a:pt x="5341620" y="2449957"/>
                  </a:lnTo>
                  <a:cubicBezTo>
                    <a:pt x="5341620" y="2531999"/>
                    <a:pt x="5275199" y="2598420"/>
                    <a:pt x="5193157" y="2598420"/>
                  </a:cubicBezTo>
                  <a:lnTo>
                    <a:pt x="148463" y="2598420"/>
                  </a:lnTo>
                  <a:cubicBezTo>
                    <a:pt x="66421" y="2598420"/>
                    <a:pt x="0" y="2531999"/>
                    <a:pt x="0" y="2449957"/>
                  </a:cubicBezTo>
                  <a:close/>
                </a:path>
              </a:pathLst>
            </a:custGeom>
            <a:solidFill>
              <a:srgbClr val="BFE9FB"/>
            </a:solidFill>
            <a:ln w="28575" cap="sq">
              <a:solidFill>
                <a:srgbClr val="141414"/>
              </a:solidFill>
              <a:prstDash val="solid"/>
              <a:miter/>
            </a:ln>
          </p:spPr>
        </p:sp>
      </p:grpSp>
      <p:grpSp>
        <p:nvGrpSpPr>
          <p:cNvPr name="Group 26" id="26"/>
          <p:cNvGrpSpPr/>
          <p:nvPr/>
        </p:nvGrpSpPr>
        <p:grpSpPr>
          <a:xfrm rot="0">
            <a:off x="13770864" y="3017520"/>
            <a:ext cx="3429000" cy="1097280"/>
            <a:chOff x="0" y="0"/>
            <a:chExt cx="4572000" cy="1463040"/>
          </a:xfrm>
        </p:grpSpPr>
        <p:sp>
          <p:nvSpPr>
            <p:cNvPr name="Freeform 27" id="27"/>
            <p:cNvSpPr/>
            <p:nvPr/>
          </p:nvSpPr>
          <p:spPr>
            <a:xfrm flipH="false" flipV="false" rot="0">
              <a:off x="0" y="0"/>
              <a:ext cx="4572000" cy="1463040"/>
            </a:xfrm>
            <a:custGeom>
              <a:avLst/>
              <a:gdLst/>
              <a:ahLst/>
              <a:cxnLst/>
              <a:rect r="r" b="b" t="t" l="l"/>
              <a:pathLst>
                <a:path h="1463040" w="4572000">
                  <a:moveTo>
                    <a:pt x="0" y="0"/>
                  </a:moveTo>
                  <a:lnTo>
                    <a:pt x="4572000" y="0"/>
                  </a:lnTo>
                  <a:lnTo>
                    <a:pt x="4572000" y="1463040"/>
                  </a:lnTo>
                  <a:lnTo>
                    <a:pt x="0" y="1463040"/>
                  </a:lnTo>
                  <a:close/>
                </a:path>
              </a:pathLst>
            </a:custGeom>
            <a:blipFill>
              <a:blip r:embed="rId3">
                <a:alphaModFix amt="0"/>
              </a:blip>
              <a:stretch>
                <a:fillRect l="0" t="-10890" r="0" b="-10890"/>
              </a:stretch>
            </a:blipFill>
          </p:spPr>
        </p:sp>
        <p:sp>
          <p:nvSpPr>
            <p:cNvPr name="TextBox 28" id="28"/>
            <p:cNvSpPr txBox="true"/>
            <p:nvPr/>
          </p:nvSpPr>
          <p:spPr>
            <a:xfrm>
              <a:off x="0" y="-28575"/>
              <a:ext cx="4572000" cy="1491615"/>
            </a:xfrm>
            <a:prstGeom prst="rect">
              <a:avLst/>
            </a:prstGeom>
          </p:spPr>
          <p:txBody>
            <a:bodyPr anchor="ctr" rtlCol="false" tIns="0" lIns="0" bIns="0" rIns="0"/>
            <a:lstStyle/>
            <a:p>
              <a:pPr algn="l">
                <a:lnSpc>
                  <a:spcPts val="6480"/>
                </a:lnSpc>
              </a:pPr>
              <a:r>
                <a:rPr lang="en-US" sz="5400" b="true">
                  <a:solidFill>
                    <a:srgbClr val="141414"/>
                  </a:solidFill>
                  <a:latin typeface="Arial Bold"/>
                  <a:ea typeface="Arial Bold"/>
                  <a:cs typeface="Arial Bold"/>
                  <a:sym typeface="Arial Bold"/>
                </a:rPr>
                <a:t>92%</a:t>
              </a:r>
            </a:p>
          </p:txBody>
        </p:sp>
      </p:grpSp>
      <p:sp>
        <p:nvSpPr>
          <p:cNvPr name="TextBox 29" id="29"/>
          <p:cNvSpPr txBox="true"/>
          <p:nvPr/>
        </p:nvSpPr>
        <p:spPr>
          <a:xfrm rot="0">
            <a:off x="13770864" y="4036695"/>
            <a:ext cx="3497580" cy="83248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KYC exceptions auto-resolved (pilot target)</a:t>
            </a:r>
          </a:p>
        </p:txBody>
      </p:sp>
      <p:grpSp>
        <p:nvGrpSpPr>
          <p:cNvPr name="Group 30" id="30"/>
          <p:cNvGrpSpPr/>
          <p:nvPr/>
        </p:nvGrpSpPr>
        <p:grpSpPr>
          <a:xfrm rot="0">
            <a:off x="808672" y="5129212"/>
            <a:ext cx="5377815" cy="4074795"/>
            <a:chOff x="0" y="0"/>
            <a:chExt cx="7170420" cy="5433060"/>
          </a:xfrm>
        </p:grpSpPr>
        <p:sp>
          <p:nvSpPr>
            <p:cNvPr name="Freeform 31" id="31"/>
            <p:cNvSpPr/>
            <p:nvPr/>
          </p:nvSpPr>
          <p:spPr>
            <a:xfrm flipH="false" flipV="false" rot="0">
              <a:off x="0" y="0"/>
              <a:ext cx="7170420" cy="5433060"/>
            </a:xfrm>
            <a:custGeom>
              <a:avLst/>
              <a:gdLst/>
              <a:ahLst/>
              <a:cxnLst/>
              <a:rect r="r" b="b" t="t" l="l"/>
              <a:pathLst>
                <a:path h="5433060" w="7170420">
                  <a:moveTo>
                    <a:pt x="0" y="147320"/>
                  </a:moveTo>
                  <a:cubicBezTo>
                    <a:pt x="0" y="65913"/>
                    <a:pt x="65913" y="0"/>
                    <a:pt x="147320" y="0"/>
                  </a:cubicBezTo>
                  <a:lnTo>
                    <a:pt x="7023100" y="0"/>
                  </a:lnTo>
                  <a:cubicBezTo>
                    <a:pt x="7104507" y="0"/>
                    <a:pt x="7170420" y="65913"/>
                    <a:pt x="7170420" y="147320"/>
                  </a:cubicBezTo>
                  <a:lnTo>
                    <a:pt x="7170420" y="5285740"/>
                  </a:lnTo>
                  <a:cubicBezTo>
                    <a:pt x="7170420" y="5367147"/>
                    <a:pt x="7104507" y="5433060"/>
                    <a:pt x="7023100" y="5433060"/>
                  </a:cubicBezTo>
                  <a:lnTo>
                    <a:pt x="147320" y="5433060"/>
                  </a:lnTo>
                  <a:cubicBezTo>
                    <a:pt x="65913" y="5433060"/>
                    <a:pt x="0" y="5367147"/>
                    <a:pt x="0" y="5285740"/>
                  </a:cubicBezTo>
                  <a:close/>
                </a:path>
              </a:pathLst>
            </a:custGeom>
            <a:solidFill>
              <a:srgbClr val="FFFFFF"/>
            </a:solidFill>
            <a:ln w="28575" cap="sq">
              <a:solidFill>
                <a:srgbClr val="141414"/>
              </a:solidFill>
              <a:prstDash val="solid"/>
              <a:miter/>
            </a:ln>
          </p:spPr>
        </p:sp>
      </p:grpSp>
      <p:grpSp>
        <p:nvGrpSpPr>
          <p:cNvPr name="Group 32" id="32"/>
          <p:cNvGrpSpPr/>
          <p:nvPr/>
        </p:nvGrpSpPr>
        <p:grpSpPr>
          <a:xfrm rot="0">
            <a:off x="1153954" y="5405914"/>
            <a:ext cx="778193" cy="778193"/>
            <a:chOff x="0" y="0"/>
            <a:chExt cx="1037590" cy="1037590"/>
          </a:xfrm>
        </p:grpSpPr>
        <p:sp>
          <p:nvSpPr>
            <p:cNvPr name="Freeform 33" id="3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E4DFFC"/>
            </a:solidFill>
            <a:ln w="23812" cap="sq">
              <a:solidFill>
                <a:srgbClr val="141414"/>
              </a:solidFill>
              <a:prstDash val="solid"/>
              <a:miter/>
            </a:ln>
          </p:spPr>
        </p:sp>
      </p:grpSp>
      <p:grpSp>
        <p:nvGrpSpPr>
          <p:cNvPr name="Group 34" id="34"/>
          <p:cNvGrpSpPr/>
          <p:nvPr/>
        </p:nvGrpSpPr>
        <p:grpSpPr>
          <a:xfrm rot="0">
            <a:off x="1331824" y="5583784"/>
            <a:ext cx="422453" cy="422453"/>
            <a:chOff x="0" y="0"/>
            <a:chExt cx="563270" cy="563270"/>
          </a:xfrm>
        </p:grpSpPr>
        <p:sp>
          <p:nvSpPr>
            <p:cNvPr name="Freeform 35" id="3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4"/>
              <a:stretch>
                <a:fillRect l="0" t="0" r="-4" b="-4"/>
              </a:stretch>
            </a:blipFill>
          </p:spPr>
        </p:sp>
      </p:grpSp>
      <p:grpSp>
        <p:nvGrpSpPr>
          <p:cNvPr name="Group 36" id="36"/>
          <p:cNvGrpSpPr/>
          <p:nvPr/>
        </p:nvGrpSpPr>
        <p:grpSpPr>
          <a:xfrm rot="0">
            <a:off x="2125980" y="5417820"/>
            <a:ext cx="3840480" cy="754380"/>
            <a:chOff x="0" y="0"/>
            <a:chExt cx="5120640" cy="1005840"/>
          </a:xfrm>
        </p:grpSpPr>
        <p:sp>
          <p:nvSpPr>
            <p:cNvPr name="Freeform 37" id="37"/>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38" id="38"/>
            <p:cNvSpPr txBox="true"/>
            <p:nvPr/>
          </p:nvSpPr>
          <p:spPr>
            <a:xfrm>
              <a:off x="0" y="-19050"/>
              <a:ext cx="5120640" cy="1024890"/>
            </a:xfrm>
            <a:prstGeom prst="rect">
              <a:avLst/>
            </a:prstGeom>
          </p:spPr>
          <p:txBody>
            <a:bodyPr anchor="ctr" rtlCol="false" tIns="0" lIns="0" bIns="0" rIns="0"/>
            <a:lstStyle/>
            <a:p>
              <a:pPr algn="l">
                <a:lnSpc>
                  <a:spcPts val="2700"/>
                </a:lnSpc>
              </a:pPr>
              <a:r>
                <a:rPr lang="en-US" sz="2250" b="true">
                  <a:solidFill>
                    <a:srgbClr val="141414"/>
                  </a:solidFill>
                  <a:latin typeface="Arial Bold"/>
                  <a:ea typeface="Arial Bold"/>
                  <a:cs typeface="Arial Bold"/>
                  <a:sym typeface="Arial Bold"/>
                </a:rPr>
                <a:t>For merchants</a:t>
              </a:r>
            </a:p>
          </p:txBody>
        </p:sp>
      </p:grpSp>
      <p:sp>
        <p:nvSpPr>
          <p:cNvPr name="TextBox 39" id="39"/>
          <p:cNvSpPr txBox="true"/>
          <p:nvPr/>
        </p:nvSpPr>
        <p:spPr>
          <a:xfrm rot="0">
            <a:off x="1165860" y="6427470"/>
            <a:ext cx="4800600" cy="2625090"/>
          </a:xfrm>
          <a:prstGeom prst="rect">
            <a:avLst/>
          </a:prstGeom>
        </p:spPr>
        <p:txBody>
          <a:bodyPr anchor="t" rtlCol="false" tIns="0" lIns="0" bIns="0" rIns="0">
            <a:spAutoFit/>
          </a:bodyPr>
          <a:lstStyle/>
          <a:p>
            <a:pPr algn="l" marL="312182" indent="-156091" lvl="1">
              <a:lnSpc>
                <a:spcPts val="2070"/>
              </a:lnSpc>
              <a:buFont typeface="Arial"/>
              <a:buChar char="•"/>
            </a:pPr>
            <a:r>
              <a:rPr lang="en-US" sz="1725">
                <a:solidFill>
                  <a:srgbClr val="141414"/>
                </a:solidFill>
                <a:latin typeface="Arial"/>
                <a:ea typeface="Arial"/>
                <a:cs typeface="Arial"/>
                <a:sym typeface="Arial"/>
              </a:rPr>
              <a:t>Udhaar recovered without awkward calls</a:t>
            </a:r>
          </a:p>
          <a:p>
            <a:pPr algn="l" marL="312182" indent="-156091" lvl="1">
              <a:lnSpc>
                <a:spcPts val="2070"/>
              </a:lnSpc>
              <a:buFont typeface="Arial"/>
              <a:buChar char="•"/>
            </a:pPr>
            <a:r>
              <a:rPr lang="en-US" sz="1725">
                <a:solidFill>
                  <a:srgbClr val="141414"/>
                </a:solidFill>
                <a:latin typeface="Arial"/>
                <a:ea typeface="Arial"/>
                <a:cs typeface="Arial"/>
                <a:sym typeface="Arial"/>
              </a:rPr>
              <a:t>No stock-outs before festivals</a:t>
            </a:r>
          </a:p>
          <a:p>
            <a:pPr algn="l" marL="312182" indent="-156091" lvl="1">
              <a:lnSpc>
                <a:spcPts val="2070"/>
              </a:lnSpc>
              <a:buFont typeface="Arial"/>
              <a:buChar char="•"/>
            </a:pPr>
            <a:r>
              <a:rPr lang="en-US" sz="1725">
                <a:solidFill>
                  <a:srgbClr val="141414"/>
                </a:solidFill>
                <a:latin typeface="Arial"/>
                <a:ea typeface="Arial"/>
                <a:cs typeface="Arial"/>
                <a:sym typeface="Arial"/>
              </a:rPr>
              <a:t>Credit at the moment of need, no forms</a:t>
            </a:r>
          </a:p>
          <a:p>
            <a:pPr algn="l" marL="312182" indent="-156091" lvl="1">
              <a:lnSpc>
                <a:spcPts val="2070"/>
              </a:lnSpc>
              <a:buFont typeface="Arial"/>
              <a:buChar char="•"/>
            </a:pPr>
            <a:r>
              <a:rPr lang="en-US" sz="1725">
                <a:solidFill>
                  <a:srgbClr val="141414"/>
                </a:solidFill>
                <a:latin typeface="Arial"/>
                <a:ea typeface="Arial"/>
                <a:cs typeface="Arial"/>
                <a:sym typeface="Arial"/>
              </a:rPr>
              <a:t>A 90-second weekly brief in their language</a:t>
            </a:r>
          </a:p>
        </p:txBody>
      </p:sp>
      <p:grpSp>
        <p:nvGrpSpPr>
          <p:cNvPr name="Group 40" id="40"/>
          <p:cNvGrpSpPr/>
          <p:nvPr/>
        </p:nvGrpSpPr>
        <p:grpSpPr>
          <a:xfrm rot="0">
            <a:off x="6432232" y="5129212"/>
            <a:ext cx="5377815" cy="4074795"/>
            <a:chOff x="0" y="0"/>
            <a:chExt cx="7170420" cy="5433060"/>
          </a:xfrm>
        </p:grpSpPr>
        <p:sp>
          <p:nvSpPr>
            <p:cNvPr name="Freeform 41" id="41"/>
            <p:cNvSpPr/>
            <p:nvPr/>
          </p:nvSpPr>
          <p:spPr>
            <a:xfrm flipH="false" flipV="false" rot="0">
              <a:off x="0" y="0"/>
              <a:ext cx="7170420" cy="5433060"/>
            </a:xfrm>
            <a:custGeom>
              <a:avLst/>
              <a:gdLst/>
              <a:ahLst/>
              <a:cxnLst/>
              <a:rect r="r" b="b" t="t" l="l"/>
              <a:pathLst>
                <a:path h="5433060" w="7170420">
                  <a:moveTo>
                    <a:pt x="0" y="147320"/>
                  </a:moveTo>
                  <a:cubicBezTo>
                    <a:pt x="0" y="65913"/>
                    <a:pt x="65913" y="0"/>
                    <a:pt x="147320" y="0"/>
                  </a:cubicBezTo>
                  <a:lnTo>
                    <a:pt x="7023100" y="0"/>
                  </a:lnTo>
                  <a:cubicBezTo>
                    <a:pt x="7104507" y="0"/>
                    <a:pt x="7170420" y="65913"/>
                    <a:pt x="7170420" y="147320"/>
                  </a:cubicBezTo>
                  <a:lnTo>
                    <a:pt x="7170420" y="5285740"/>
                  </a:lnTo>
                  <a:cubicBezTo>
                    <a:pt x="7170420" y="5367147"/>
                    <a:pt x="7104507" y="5433060"/>
                    <a:pt x="7023100" y="5433060"/>
                  </a:cubicBezTo>
                  <a:lnTo>
                    <a:pt x="147320" y="5433060"/>
                  </a:lnTo>
                  <a:cubicBezTo>
                    <a:pt x="65913" y="5433060"/>
                    <a:pt x="0" y="5367147"/>
                    <a:pt x="0" y="5285740"/>
                  </a:cubicBezTo>
                  <a:close/>
                </a:path>
              </a:pathLst>
            </a:custGeom>
            <a:solidFill>
              <a:srgbClr val="FFFFFF"/>
            </a:solidFill>
            <a:ln w="28575" cap="sq">
              <a:solidFill>
                <a:srgbClr val="141414"/>
              </a:solidFill>
              <a:prstDash val="solid"/>
              <a:miter/>
            </a:ln>
          </p:spPr>
        </p:sp>
      </p:grpSp>
      <p:grpSp>
        <p:nvGrpSpPr>
          <p:cNvPr name="Group 42" id="42"/>
          <p:cNvGrpSpPr/>
          <p:nvPr/>
        </p:nvGrpSpPr>
        <p:grpSpPr>
          <a:xfrm rot="0">
            <a:off x="6777514" y="5405914"/>
            <a:ext cx="778193" cy="778193"/>
            <a:chOff x="0" y="0"/>
            <a:chExt cx="1037590" cy="1037590"/>
          </a:xfrm>
        </p:grpSpPr>
        <p:sp>
          <p:nvSpPr>
            <p:cNvPr name="Freeform 43" id="4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BFE9FB"/>
            </a:solidFill>
            <a:ln w="23812" cap="sq">
              <a:solidFill>
                <a:srgbClr val="141414"/>
              </a:solidFill>
              <a:prstDash val="solid"/>
              <a:miter/>
            </a:ln>
          </p:spPr>
        </p:sp>
      </p:grpSp>
      <p:grpSp>
        <p:nvGrpSpPr>
          <p:cNvPr name="Group 44" id="44"/>
          <p:cNvGrpSpPr/>
          <p:nvPr/>
        </p:nvGrpSpPr>
        <p:grpSpPr>
          <a:xfrm rot="0">
            <a:off x="6955384" y="5583784"/>
            <a:ext cx="422453" cy="422453"/>
            <a:chOff x="0" y="0"/>
            <a:chExt cx="563270" cy="563270"/>
          </a:xfrm>
        </p:grpSpPr>
        <p:sp>
          <p:nvSpPr>
            <p:cNvPr name="Freeform 45" id="4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5"/>
              <a:stretch>
                <a:fillRect l="0" t="0" r="-4" b="-4"/>
              </a:stretch>
            </a:blipFill>
          </p:spPr>
        </p:sp>
      </p:grpSp>
      <p:grpSp>
        <p:nvGrpSpPr>
          <p:cNvPr name="Group 46" id="46"/>
          <p:cNvGrpSpPr/>
          <p:nvPr/>
        </p:nvGrpSpPr>
        <p:grpSpPr>
          <a:xfrm rot="0">
            <a:off x="7749540" y="5417820"/>
            <a:ext cx="3840480" cy="754380"/>
            <a:chOff x="0" y="0"/>
            <a:chExt cx="5120640" cy="1005840"/>
          </a:xfrm>
        </p:grpSpPr>
        <p:sp>
          <p:nvSpPr>
            <p:cNvPr name="Freeform 47" id="47"/>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48" id="48"/>
            <p:cNvSpPr txBox="true"/>
            <p:nvPr/>
          </p:nvSpPr>
          <p:spPr>
            <a:xfrm>
              <a:off x="0" y="-19050"/>
              <a:ext cx="5120640" cy="1024890"/>
            </a:xfrm>
            <a:prstGeom prst="rect">
              <a:avLst/>
            </a:prstGeom>
          </p:spPr>
          <p:txBody>
            <a:bodyPr anchor="ctr" rtlCol="false" tIns="0" lIns="0" bIns="0" rIns="0"/>
            <a:lstStyle/>
            <a:p>
              <a:pPr algn="l">
                <a:lnSpc>
                  <a:spcPts val="2700"/>
                </a:lnSpc>
              </a:pPr>
              <a:r>
                <a:rPr lang="en-US" sz="2250" b="true">
                  <a:solidFill>
                    <a:srgbClr val="141414"/>
                  </a:solidFill>
                  <a:latin typeface="Arial Bold"/>
                  <a:ea typeface="Arial Bold"/>
                  <a:cs typeface="Arial Bold"/>
                  <a:sym typeface="Arial Bold"/>
                </a:rPr>
                <a:t>For their customers</a:t>
              </a:r>
            </a:p>
          </p:txBody>
        </p:sp>
      </p:grpSp>
      <p:sp>
        <p:nvSpPr>
          <p:cNvPr name="TextBox 49" id="49"/>
          <p:cNvSpPr txBox="true"/>
          <p:nvPr/>
        </p:nvSpPr>
        <p:spPr>
          <a:xfrm rot="0">
            <a:off x="6789420" y="6427470"/>
            <a:ext cx="4800600" cy="2625090"/>
          </a:xfrm>
          <a:prstGeom prst="rect">
            <a:avLst/>
          </a:prstGeom>
        </p:spPr>
        <p:txBody>
          <a:bodyPr anchor="t" rtlCol="false" tIns="0" lIns="0" bIns="0" rIns="0">
            <a:spAutoFit/>
          </a:bodyPr>
          <a:lstStyle/>
          <a:p>
            <a:pPr algn="l" marL="312182" indent="-156091" lvl="1">
              <a:lnSpc>
                <a:spcPts val="2070"/>
              </a:lnSpc>
              <a:buFont typeface="Arial"/>
              <a:buChar char="•"/>
            </a:pPr>
            <a:r>
              <a:rPr lang="en-US" sz="1725">
                <a:solidFill>
                  <a:srgbClr val="141414"/>
                </a:solidFill>
                <a:latin typeface="Arial"/>
                <a:ea typeface="Arial"/>
                <a:cs typeface="Arial"/>
                <a:sym typeface="Arial"/>
              </a:rPr>
              <a:t>Instant answers on WhatsApp: stock, dues, pre-orders</a:t>
            </a:r>
          </a:p>
          <a:p>
            <a:pPr algn="l" marL="312182" indent="-156091" lvl="1">
              <a:lnSpc>
                <a:spcPts val="2070"/>
              </a:lnSpc>
              <a:buFont typeface="Arial"/>
              <a:buChar char="•"/>
            </a:pPr>
            <a:r>
              <a:rPr lang="en-US" sz="1725">
                <a:solidFill>
                  <a:srgbClr val="141414"/>
                </a:solidFill>
                <a:latin typeface="Arial"/>
                <a:ea typeface="Arial"/>
                <a:cs typeface="Arial"/>
                <a:sym typeface="Arial"/>
              </a:rPr>
              <a:t>Failed payments recovered in the moment</a:t>
            </a:r>
          </a:p>
          <a:p>
            <a:pPr algn="l" marL="312182" indent="-156091" lvl="1">
              <a:lnSpc>
                <a:spcPts val="2070"/>
              </a:lnSpc>
              <a:buFont typeface="Arial"/>
              <a:buChar char="•"/>
            </a:pPr>
            <a:r>
              <a:rPr lang="en-US" sz="1725">
                <a:solidFill>
                  <a:srgbClr val="141414"/>
                </a:solidFill>
                <a:latin typeface="Arial"/>
                <a:ea typeface="Arial"/>
                <a:cs typeface="Arial"/>
                <a:sym typeface="Arial"/>
              </a:rPr>
              <a:t>Offers that fit their household, not spam</a:t>
            </a:r>
          </a:p>
        </p:txBody>
      </p:sp>
      <p:grpSp>
        <p:nvGrpSpPr>
          <p:cNvPr name="Group 50" id="50"/>
          <p:cNvGrpSpPr/>
          <p:nvPr/>
        </p:nvGrpSpPr>
        <p:grpSpPr>
          <a:xfrm rot="0">
            <a:off x="12055793" y="5129212"/>
            <a:ext cx="5377815" cy="4074795"/>
            <a:chOff x="0" y="0"/>
            <a:chExt cx="7170420" cy="5433060"/>
          </a:xfrm>
        </p:grpSpPr>
        <p:sp>
          <p:nvSpPr>
            <p:cNvPr name="Freeform 51" id="51"/>
            <p:cNvSpPr/>
            <p:nvPr/>
          </p:nvSpPr>
          <p:spPr>
            <a:xfrm flipH="false" flipV="false" rot="0">
              <a:off x="0" y="0"/>
              <a:ext cx="7170420" cy="5433060"/>
            </a:xfrm>
            <a:custGeom>
              <a:avLst/>
              <a:gdLst/>
              <a:ahLst/>
              <a:cxnLst/>
              <a:rect r="r" b="b" t="t" l="l"/>
              <a:pathLst>
                <a:path h="5433060" w="7170420">
                  <a:moveTo>
                    <a:pt x="0" y="147320"/>
                  </a:moveTo>
                  <a:cubicBezTo>
                    <a:pt x="0" y="65913"/>
                    <a:pt x="65913" y="0"/>
                    <a:pt x="147320" y="0"/>
                  </a:cubicBezTo>
                  <a:lnTo>
                    <a:pt x="7023100" y="0"/>
                  </a:lnTo>
                  <a:cubicBezTo>
                    <a:pt x="7104507" y="0"/>
                    <a:pt x="7170420" y="65913"/>
                    <a:pt x="7170420" y="147320"/>
                  </a:cubicBezTo>
                  <a:lnTo>
                    <a:pt x="7170420" y="5285740"/>
                  </a:lnTo>
                  <a:cubicBezTo>
                    <a:pt x="7170420" y="5367147"/>
                    <a:pt x="7104507" y="5433060"/>
                    <a:pt x="7023100" y="5433060"/>
                  </a:cubicBezTo>
                  <a:lnTo>
                    <a:pt x="147320" y="5433060"/>
                  </a:lnTo>
                  <a:cubicBezTo>
                    <a:pt x="65913" y="5433060"/>
                    <a:pt x="0" y="5367147"/>
                    <a:pt x="0" y="5285740"/>
                  </a:cubicBezTo>
                  <a:close/>
                </a:path>
              </a:pathLst>
            </a:custGeom>
            <a:solidFill>
              <a:srgbClr val="FFFFFF"/>
            </a:solidFill>
            <a:ln w="28575" cap="sq">
              <a:solidFill>
                <a:srgbClr val="141414"/>
              </a:solidFill>
              <a:prstDash val="solid"/>
              <a:miter/>
            </a:ln>
          </p:spPr>
        </p:sp>
      </p:grpSp>
      <p:grpSp>
        <p:nvGrpSpPr>
          <p:cNvPr name="Group 52" id="52"/>
          <p:cNvGrpSpPr/>
          <p:nvPr/>
        </p:nvGrpSpPr>
        <p:grpSpPr>
          <a:xfrm rot="0">
            <a:off x="12401074" y="5405914"/>
            <a:ext cx="778193" cy="778193"/>
            <a:chOff x="0" y="0"/>
            <a:chExt cx="1037590" cy="1037590"/>
          </a:xfrm>
        </p:grpSpPr>
        <p:sp>
          <p:nvSpPr>
            <p:cNvPr name="Freeform 53" id="53"/>
            <p:cNvSpPr/>
            <p:nvPr/>
          </p:nvSpPr>
          <p:spPr>
            <a:xfrm flipH="false" flipV="false" rot="0">
              <a:off x="0" y="0"/>
              <a:ext cx="1037590" cy="1037590"/>
            </a:xfrm>
            <a:custGeom>
              <a:avLst/>
              <a:gdLst/>
              <a:ahLst/>
              <a:cxnLst/>
              <a:rect r="r" b="b" t="t" l="l"/>
              <a:pathLst>
                <a:path h="1037590" w="1037590">
                  <a:moveTo>
                    <a:pt x="0" y="188595"/>
                  </a:moveTo>
                  <a:cubicBezTo>
                    <a:pt x="0" y="84455"/>
                    <a:pt x="84455" y="0"/>
                    <a:pt x="188595" y="0"/>
                  </a:cubicBezTo>
                  <a:lnTo>
                    <a:pt x="848995" y="0"/>
                  </a:lnTo>
                  <a:cubicBezTo>
                    <a:pt x="953135" y="0"/>
                    <a:pt x="1037590" y="84455"/>
                    <a:pt x="1037590" y="188595"/>
                  </a:cubicBezTo>
                  <a:lnTo>
                    <a:pt x="1037590" y="848995"/>
                  </a:lnTo>
                  <a:cubicBezTo>
                    <a:pt x="1037590" y="953135"/>
                    <a:pt x="953135" y="1037590"/>
                    <a:pt x="848995" y="1037590"/>
                  </a:cubicBezTo>
                  <a:lnTo>
                    <a:pt x="188595" y="1037590"/>
                  </a:lnTo>
                  <a:cubicBezTo>
                    <a:pt x="84455" y="1037590"/>
                    <a:pt x="0" y="953135"/>
                    <a:pt x="0" y="848995"/>
                  </a:cubicBezTo>
                  <a:close/>
                </a:path>
              </a:pathLst>
            </a:custGeom>
            <a:solidFill>
              <a:srgbClr val="FFF1A8"/>
            </a:solidFill>
            <a:ln w="23812" cap="sq">
              <a:solidFill>
                <a:srgbClr val="141414"/>
              </a:solidFill>
              <a:prstDash val="solid"/>
              <a:miter/>
            </a:ln>
          </p:spPr>
        </p:sp>
      </p:grpSp>
      <p:grpSp>
        <p:nvGrpSpPr>
          <p:cNvPr name="Group 54" id="54"/>
          <p:cNvGrpSpPr/>
          <p:nvPr/>
        </p:nvGrpSpPr>
        <p:grpSpPr>
          <a:xfrm rot="0">
            <a:off x="12578944" y="5583784"/>
            <a:ext cx="422453" cy="422453"/>
            <a:chOff x="0" y="0"/>
            <a:chExt cx="563270" cy="563270"/>
          </a:xfrm>
        </p:grpSpPr>
        <p:sp>
          <p:nvSpPr>
            <p:cNvPr name="Freeform 55" id="55" descr="preencoded.png"/>
            <p:cNvSpPr/>
            <p:nvPr/>
          </p:nvSpPr>
          <p:spPr>
            <a:xfrm flipH="false" flipV="false" rot="0">
              <a:off x="0" y="0"/>
              <a:ext cx="563245" cy="563245"/>
            </a:xfrm>
            <a:custGeom>
              <a:avLst/>
              <a:gdLst/>
              <a:ahLst/>
              <a:cxnLst/>
              <a:rect r="r" b="b" t="t" l="l"/>
              <a:pathLst>
                <a:path h="563245" w="563245">
                  <a:moveTo>
                    <a:pt x="0" y="0"/>
                  </a:moveTo>
                  <a:lnTo>
                    <a:pt x="563245" y="0"/>
                  </a:lnTo>
                  <a:lnTo>
                    <a:pt x="563245" y="563245"/>
                  </a:lnTo>
                  <a:lnTo>
                    <a:pt x="0" y="563245"/>
                  </a:lnTo>
                  <a:lnTo>
                    <a:pt x="0" y="0"/>
                  </a:lnTo>
                  <a:close/>
                </a:path>
              </a:pathLst>
            </a:custGeom>
            <a:blipFill>
              <a:blip r:embed="rId6"/>
              <a:stretch>
                <a:fillRect l="0" t="0" r="-4" b="-4"/>
              </a:stretch>
            </a:blipFill>
          </p:spPr>
        </p:sp>
      </p:grpSp>
      <p:grpSp>
        <p:nvGrpSpPr>
          <p:cNvPr name="Group 56" id="56"/>
          <p:cNvGrpSpPr/>
          <p:nvPr/>
        </p:nvGrpSpPr>
        <p:grpSpPr>
          <a:xfrm rot="0">
            <a:off x="13373100" y="5417820"/>
            <a:ext cx="3840480" cy="754380"/>
            <a:chOff x="0" y="0"/>
            <a:chExt cx="5120640" cy="1005840"/>
          </a:xfrm>
        </p:grpSpPr>
        <p:sp>
          <p:nvSpPr>
            <p:cNvPr name="Freeform 57" id="57"/>
            <p:cNvSpPr/>
            <p:nvPr/>
          </p:nvSpPr>
          <p:spPr>
            <a:xfrm flipH="false" flipV="false" rot="0">
              <a:off x="0" y="0"/>
              <a:ext cx="5120640" cy="1005840"/>
            </a:xfrm>
            <a:custGeom>
              <a:avLst/>
              <a:gdLst/>
              <a:ahLst/>
              <a:cxnLst/>
              <a:rect r="r" b="b" t="t" l="l"/>
              <a:pathLst>
                <a:path h="1005840" w="5120640">
                  <a:moveTo>
                    <a:pt x="0" y="0"/>
                  </a:moveTo>
                  <a:lnTo>
                    <a:pt x="5120640" y="0"/>
                  </a:lnTo>
                  <a:lnTo>
                    <a:pt x="5120640" y="1005840"/>
                  </a:lnTo>
                  <a:lnTo>
                    <a:pt x="0" y="1005840"/>
                  </a:lnTo>
                  <a:close/>
                </a:path>
              </a:pathLst>
            </a:custGeom>
            <a:blipFill>
              <a:blip r:embed="rId3">
                <a:alphaModFix amt="0"/>
              </a:blip>
              <a:stretch>
                <a:fillRect l="0" t="-49196" r="0" b="-49196"/>
              </a:stretch>
            </a:blipFill>
          </p:spPr>
        </p:sp>
        <p:sp>
          <p:nvSpPr>
            <p:cNvPr name="TextBox 58" id="58"/>
            <p:cNvSpPr txBox="true"/>
            <p:nvPr/>
          </p:nvSpPr>
          <p:spPr>
            <a:xfrm>
              <a:off x="0" y="-19050"/>
              <a:ext cx="5120640" cy="1024890"/>
            </a:xfrm>
            <a:prstGeom prst="rect">
              <a:avLst/>
            </a:prstGeom>
          </p:spPr>
          <p:txBody>
            <a:bodyPr anchor="ctr" rtlCol="false" tIns="0" lIns="0" bIns="0" rIns="0"/>
            <a:lstStyle/>
            <a:p>
              <a:pPr algn="l">
                <a:lnSpc>
                  <a:spcPts val="2700"/>
                </a:lnSpc>
              </a:pPr>
              <a:r>
                <a:rPr lang="en-US" sz="2250" b="true">
                  <a:solidFill>
                    <a:srgbClr val="141414"/>
                  </a:solidFill>
                  <a:latin typeface="Arial Bold"/>
                  <a:ea typeface="Arial Bold"/>
                  <a:cs typeface="Arial Bold"/>
                  <a:sym typeface="Arial Bold"/>
                </a:rPr>
                <a:t>For Paytm</a:t>
              </a:r>
            </a:p>
          </p:txBody>
        </p:sp>
      </p:grpSp>
      <p:sp>
        <p:nvSpPr>
          <p:cNvPr name="TextBox 59" id="59"/>
          <p:cNvSpPr txBox="true"/>
          <p:nvPr/>
        </p:nvSpPr>
        <p:spPr>
          <a:xfrm rot="0">
            <a:off x="12412980" y="6427470"/>
            <a:ext cx="4800600" cy="2625090"/>
          </a:xfrm>
          <a:prstGeom prst="rect">
            <a:avLst/>
          </a:prstGeom>
        </p:spPr>
        <p:txBody>
          <a:bodyPr anchor="t" rtlCol="false" tIns="0" lIns="0" bIns="0" rIns="0">
            <a:spAutoFit/>
          </a:bodyPr>
          <a:lstStyle/>
          <a:p>
            <a:pPr algn="l" marL="312182" indent="-156091" lvl="1">
              <a:lnSpc>
                <a:spcPts val="2070"/>
              </a:lnSpc>
              <a:buFont typeface="Arial"/>
              <a:buChar char="•"/>
            </a:pPr>
            <a:r>
              <a:rPr lang="en-US" sz="1725">
                <a:solidFill>
                  <a:srgbClr val="141414"/>
                </a:solidFill>
                <a:latin typeface="Arial"/>
                <a:ea typeface="Arial"/>
                <a:cs typeface="Arial"/>
                <a:sym typeface="Arial"/>
              </a:rPr>
              <a:t>Lower CAC and faster time-to-first-txn</a:t>
            </a:r>
          </a:p>
          <a:p>
            <a:pPr algn="l" marL="312182" indent="-156091" lvl="1">
              <a:lnSpc>
                <a:spcPts val="2070"/>
              </a:lnSpc>
              <a:buFont typeface="Arial"/>
              <a:buChar char="•"/>
            </a:pPr>
            <a:r>
              <a:rPr lang="en-US" sz="1725">
                <a:solidFill>
                  <a:srgbClr val="141414"/>
                </a:solidFill>
                <a:latin typeface="Arial"/>
                <a:ea typeface="Arial"/>
                <a:cs typeface="Arial"/>
                <a:sym typeface="Arial"/>
              </a:rPr>
              <a:t>Fewer human touches per merchant</a:t>
            </a:r>
          </a:p>
          <a:p>
            <a:pPr algn="l" marL="312182" indent="-156091" lvl="1">
              <a:lnSpc>
                <a:spcPts val="2070"/>
              </a:lnSpc>
              <a:buFont typeface="Arial"/>
              <a:buChar char="•"/>
            </a:pPr>
            <a:r>
              <a:rPr lang="en-US" sz="1725">
                <a:solidFill>
                  <a:srgbClr val="141414"/>
                </a:solidFill>
                <a:latin typeface="Arial"/>
                <a:ea typeface="Arial"/>
                <a:cs typeface="Arial"/>
                <a:sym typeface="Arial"/>
              </a:rPr>
              <a:t>Higher GMV, device retention and loan book</a:t>
            </a:r>
          </a:p>
          <a:p>
            <a:pPr algn="l" marL="312182" indent="-156091" lvl="1">
              <a:lnSpc>
                <a:spcPts val="2070"/>
              </a:lnSpc>
              <a:buFont typeface="Arial"/>
              <a:buChar char="•"/>
            </a:pPr>
            <a:r>
              <a:rPr lang="en-US" sz="1725">
                <a:solidFill>
                  <a:srgbClr val="141414"/>
                </a:solidFill>
                <a:latin typeface="Arial"/>
                <a:ea typeface="Arial"/>
                <a:cs typeface="Arial"/>
                <a:sym typeface="Arial"/>
              </a:rPr>
              <a:t>Every outcome feeds one learning memory</a:t>
            </a:r>
          </a:p>
        </p:txBody>
      </p:sp>
      <p:grpSp>
        <p:nvGrpSpPr>
          <p:cNvPr name="Group 60" id="60"/>
          <p:cNvGrpSpPr/>
          <p:nvPr/>
        </p:nvGrpSpPr>
        <p:grpSpPr>
          <a:xfrm rot="0">
            <a:off x="822960" y="9272016"/>
            <a:ext cx="12344400" cy="274320"/>
            <a:chOff x="0" y="0"/>
            <a:chExt cx="16459200" cy="365760"/>
          </a:xfrm>
        </p:grpSpPr>
        <p:sp>
          <p:nvSpPr>
            <p:cNvPr name="Freeform 61" id="61"/>
            <p:cNvSpPr/>
            <p:nvPr/>
          </p:nvSpPr>
          <p:spPr>
            <a:xfrm flipH="false" flipV="false" rot="0">
              <a:off x="0" y="0"/>
              <a:ext cx="16459200" cy="365760"/>
            </a:xfrm>
            <a:custGeom>
              <a:avLst/>
              <a:gdLst/>
              <a:ahLst/>
              <a:cxnLst/>
              <a:rect r="r" b="b" t="t" l="l"/>
              <a:pathLst>
                <a:path h="365760" w="16459200">
                  <a:moveTo>
                    <a:pt x="0" y="0"/>
                  </a:moveTo>
                  <a:lnTo>
                    <a:pt x="16459200" y="0"/>
                  </a:lnTo>
                  <a:lnTo>
                    <a:pt x="16459200" y="365760"/>
                  </a:lnTo>
                  <a:lnTo>
                    <a:pt x="0" y="365760"/>
                  </a:lnTo>
                  <a:close/>
                </a:path>
              </a:pathLst>
            </a:custGeom>
            <a:blipFill>
              <a:blip r:embed="rId3">
                <a:alphaModFix amt="0"/>
              </a:blip>
              <a:stretch>
                <a:fillRect l="0" t="-826826" r="0" b="-826826"/>
              </a:stretch>
            </a:blipFill>
          </p:spPr>
        </p:sp>
        <p:sp>
          <p:nvSpPr>
            <p:cNvPr name="TextBox 62" id="62"/>
            <p:cNvSpPr txBox="true"/>
            <p:nvPr/>
          </p:nvSpPr>
          <p:spPr>
            <a:xfrm>
              <a:off x="0" y="-19050"/>
              <a:ext cx="16459200" cy="384810"/>
            </a:xfrm>
            <a:prstGeom prst="rect">
              <a:avLst/>
            </a:prstGeom>
          </p:spPr>
          <p:txBody>
            <a:bodyPr anchor="ctr" rtlCol="false" tIns="0" lIns="0" bIns="0" rIns="0"/>
            <a:lstStyle/>
            <a:p>
              <a:pPr algn="l">
                <a:lnSpc>
                  <a:spcPts val="1530"/>
                </a:lnSpc>
              </a:pPr>
              <a:r>
                <a:rPr lang="en-US" sz="1275" i="true">
                  <a:solidFill>
                    <a:srgbClr val="4A4A4A"/>
                  </a:solidFill>
                  <a:latin typeface="Arial Italics"/>
                  <a:ea typeface="Arial Italics"/>
                  <a:cs typeface="Arial Italics"/>
                  <a:sym typeface="Arial Italics"/>
                </a:rPr>
                <a:t>Prototype figures come from our working demo. The 92% is a design target to validate in a pilot.</a:t>
              </a:r>
            </a:p>
          </p:txBody>
        </p:sp>
      </p:grpSp>
      <p:grpSp>
        <p:nvGrpSpPr>
          <p:cNvPr name="Group 63" id="63"/>
          <p:cNvGrpSpPr/>
          <p:nvPr/>
        </p:nvGrpSpPr>
        <p:grpSpPr>
          <a:xfrm rot="0">
            <a:off x="15518292" y="427006"/>
            <a:ext cx="2232517" cy="874205"/>
            <a:chOff x="0" y="0"/>
            <a:chExt cx="2976690" cy="1165606"/>
          </a:xfrm>
        </p:grpSpPr>
        <p:sp>
          <p:nvSpPr>
            <p:cNvPr name="Freeform 64" id="64"/>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65" id="65"/>
          <p:cNvGrpSpPr/>
          <p:nvPr/>
        </p:nvGrpSpPr>
        <p:grpSpPr>
          <a:xfrm rot="0">
            <a:off x="15804518" y="603504"/>
            <a:ext cx="1660065" cy="521208"/>
            <a:chOff x="0" y="0"/>
            <a:chExt cx="2213420" cy="694944"/>
          </a:xfrm>
        </p:grpSpPr>
        <p:sp>
          <p:nvSpPr>
            <p:cNvPr name="Freeform 66" id="66"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7"/>
              <a:stretch>
                <a:fillRect l="0" t="0" r="-2" b="0"/>
              </a:stretch>
            </a:blipFill>
          </p:spPr>
        </p:sp>
      </p:grpSp>
      <p:grpSp>
        <p:nvGrpSpPr>
          <p:cNvPr name="Group 67" id="67"/>
          <p:cNvGrpSpPr/>
          <p:nvPr/>
        </p:nvGrpSpPr>
        <p:grpSpPr>
          <a:xfrm rot="0">
            <a:off x="822960" y="9628632"/>
            <a:ext cx="9601200" cy="384048"/>
            <a:chOff x="0" y="0"/>
            <a:chExt cx="12801600" cy="512064"/>
          </a:xfrm>
        </p:grpSpPr>
        <p:sp>
          <p:nvSpPr>
            <p:cNvPr name="Freeform 68" id="68"/>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69" id="69"/>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70" id="70"/>
          <p:cNvGrpSpPr/>
          <p:nvPr/>
        </p:nvGrpSpPr>
        <p:grpSpPr>
          <a:xfrm rot="0">
            <a:off x="16733520" y="9628632"/>
            <a:ext cx="754380" cy="384048"/>
            <a:chOff x="0" y="0"/>
            <a:chExt cx="1005840" cy="512064"/>
          </a:xfrm>
        </p:grpSpPr>
        <p:sp>
          <p:nvSpPr>
            <p:cNvPr name="Freeform 71" id="71"/>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72" id="72"/>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07</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822960" y="576072"/>
            <a:ext cx="10972800" cy="411480"/>
            <a:chOff x="0" y="0"/>
            <a:chExt cx="14630400" cy="548640"/>
          </a:xfrm>
        </p:grpSpPr>
        <p:sp>
          <p:nvSpPr>
            <p:cNvPr name="Freeform 3" id="3"/>
            <p:cNvSpPr/>
            <p:nvPr/>
          </p:nvSpPr>
          <p:spPr>
            <a:xfrm flipH="false" flipV="false" rot="0">
              <a:off x="0" y="0"/>
              <a:ext cx="14630400" cy="548640"/>
            </a:xfrm>
            <a:custGeom>
              <a:avLst/>
              <a:gdLst/>
              <a:ahLst/>
              <a:cxnLst/>
              <a:rect r="r" b="b" t="t" l="l"/>
              <a:pathLst>
                <a:path h="548640" w="14630400">
                  <a:moveTo>
                    <a:pt x="0" y="0"/>
                  </a:moveTo>
                  <a:lnTo>
                    <a:pt x="14630400" y="0"/>
                  </a:lnTo>
                  <a:lnTo>
                    <a:pt x="14630400" y="548640"/>
                  </a:lnTo>
                  <a:lnTo>
                    <a:pt x="0" y="548640"/>
                  </a:lnTo>
                  <a:close/>
                </a:path>
              </a:pathLst>
            </a:custGeom>
            <a:blipFill>
              <a:blip r:embed="rId3">
                <a:alphaModFix amt="0"/>
              </a:blip>
              <a:stretch>
                <a:fillRect l="0" t="-469601" r="0" b="-469601"/>
              </a:stretch>
            </a:blipFill>
          </p:spPr>
        </p:sp>
        <p:sp>
          <p:nvSpPr>
            <p:cNvPr name="TextBox 4" id="4"/>
            <p:cNvSpPr txBox="true"/>
            <p:nvPr/>
          </p:nvSpPr>
          <p:spPr>
            <a:xfrm>
              <a:off x="0" y="-19050"/>
              <a:ext cx="14630400" cy="567690"/>
            </a:xfrm>
            <a:prstGeom prst="rect">
              <a:avLst/>
            </a:prstGeom>
          </p:spPr>
          <p:txBody>
            <a:bodyPr anchor="ctr" rtlCol="false" tIns="0" lIns="0" bIns="0" rIns="0"/>
            <a:lstStyle/>
            <a:p>
              <a:pPr algn="l">
                <a:lnSpc>
                  <a:spcPts val="1980"/>
                </a:lnSpc>
              </a:pPr>
              <a:r>
                <a:rPr lang="en-US" b="true" sz="1650" spc="449">
                  <a:solidFill>
                    <a:srgbClr val="141414"/>
                  </a:solidFill>
                  <a:latin typeface="Arial Bold"/>
                  <a:ea typeface="Arial Bold"/>
                  <a:cs typeface="Arial Bold"/>
                  <a:sym typeface="Arial Bold"/>
                </a:rPr>
                <a:t>06 · BUSINESS MODEL</a:t>
              </a:r>
            </a:p>
          </p:txBody>
        </p:sp>
      </p:grpSp>
      <p:sp>
        <p:nvSpPr>
          <p:cNvPr name="TextBox 5" id="5"/>
          <p:cNvSpPr txBox="true"/>
          <p:nvPr/>
        </p:nvSpPr>
        <p:spPr>
          <a:xfrm rot="0">
            <a:off x="822960" y="958977"/>
            <a:ext cx="16733520" cy="1263015"/>
          </a:xfrm>
          <a:prstGeom prst="rect">
            <a:avLst/>
          </a:prstGeom>
        </p:spPr>
        <p:txBody>
          <a:bodyPr anchor="t" rtlCol="false" tIns="0" lIns="0" bIns="0" rIns="0">
            <a:spAutoFit/>
          </a:bodyPr>
          <a:lstStyle/>
          <a:p>
            <a:pPr algn="l">
              <a:lnSpc>
                <a:spcPts val="5400"/>
              </a:lnSpc>
            </a:pPr>
            <a:r>
              <a:rPr lang="en-US" sz="4500" b="true">
                <a:solidFill>
                  <a:srgbClr val="141414"/>
                </a:solidFill>
                <a:latin typeface="Arial Bold"/>
                <a:ea typeface="Arial Bold"/>
                <a:cs typeface="Arial Bold"/>
                <a:sym typeface="Arial Bold"/>
              </a:rPr>
              <a:t>RIDES ON PAYTM'S 1.57 CR MERCHANTS</a:t>
            </a:r>
          </a:p>
        </p:txBody>
      </p:sp>
      <p:grpSp>
        <p:nvGrpSpPr>
          <p:cNvPr name="Group 6" id="6"/>
          <p:cNvGrpSpPr/>
          <p:nvPr/>
        </p:nvGrpSpPr>
        <p:grpSpPr>
          <a:xfrm rot="0">
            <a:off x="808672" y="2317433"/>
            <a:ext cx="8121015" cy="1400175"/>
            <a:chOff x="0" y="0"/>
            <a:chExt cx="10828020" cy="1866900"/>
          </a:xfrm>
        </p:grpSpPr>
        <p:sp>
          <p:nvSpPr>
            <p:cNvPr name="Freeform 7" id="7"/>
            <p:cNvSpPr/>
            <p:nvPr/>
          </p:nvSpPr>
          <p:spPr>
            <a:xfrm flipH="false" flipV="false" rot="0">
              <a:off x="0" y="0"/>
              <a:ext cx="10828020" cy="1866900"/>
            </a:xfrm>
            <a:custGeom>
              <a:avLst/>
              <a:gdLst/>
              <a:ahLst/>
              <a:cxnLst/>
              <a:rect r="r" b="b" t="t" l="l"/>
              <a:pathLst>
                <a:path h="1866900" w="10828020">
                  <a:moveTo>
                    <a:pt x="0" y="149352"/>
                  </a:moveTo>
                  <a:cubicBezTo>
                    <a:pt x="0" y="66929"/>
                    <a:pt x="66929" y="0"/>
                    <a:pt x="149352" y="0"/>
                  </a:cubicBezTo>
                  <a:lnTo>
                    <a:pt x="10678668" y="0"/>
                  </a:lnTo>
                  <a:cubicBezTo>
                    <a:pt x="10761091" y="0"/>
                    <a:pt x="10828020" y="66929"/>
                    <a:pt x="10828020" y="149352"/>
                  </a:cubicBezTo>
                  <a:lnTo>
                    <a:pt x="10828020" y="1717548"/>
                  </a:lnTo>
                  <a:cubicBezTo>
                    <a:pt x="10828020" y="1799971"/>
                    <a:pt x="10761091" y="1866900"/>
                    <a:pt x="10678668" y="1866900"/>
                  </a:cubicBezTo>
                  <a:lnTo>
                    <a:pt x="149352" y="1866900"/>
                  </a:lnTo>
                  <a:cubicBezTo>
                    <a:pt x="66929" y="1866900"/>
                    <a:pt x="0" y="1799971"/>
                    <a:pt x="0" y="1717548"/>
                  </a:cubicBezTo>
                  <a:close/>
                </a:path>
              </a:pathLst>
            </a:custGeom>
            <a:solidFill>
              <a:srgbClr val="E4DFFC"/>
            </a:solidFill>
            <a:ln w="28575" cap="sq">
              <a:solidFill>
                <a:srgbClr val="141414"/>
              </a:solidFill>
              <a:prstDash val="solid"/>
              <a:miter/>
            </a:ln>
          </p:spPr>
        </p:sp>
      </p:grpSp>
      <p:grpSp>
        <p:nvGrpSpPr>
          <p:cNvPr name="Group 8" id="8"/>
          <p:cNvGrpSpPr/>
          <p:nvPr/>
        </p:nvGrpSpPr>
        <p:grpSpPr>
          <a:xfrm rot="0">
            <a:off x="1124712" y="2743200"/>
            <a:ext cx="548640" cy="548640"/>
            <a:chOff x="0" y="0"/>
            <a:chExt cx="731520" cy="731520"/>
          </a:xfrm>
        </p:grpSpPr>
        <p:sp>
          <p:nvSpPr>
            <p:cNvPr name="Freeform 9" id="9"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4"/>
              <a:stretch>
                <a:fillRect l="0" t="0" r="0" b="0"/>
              </a:stretch>
            </a:blipFill>
          </p:spPr>
        </p:sp>
      </p:grpSp>
      <p:grpSp>
        <p:nvGrpSpPr>
          <p:cNvPr name="Group 10" id="10"/>
          <p:cNvGrpSpPr/>
          <p:nvPr/>
        </p:nvGrpSpPr>
        <p:grpSpPr>
          <a:xfrm rot="0">
            <a:off x="1947672" y="2468880"/>
            <a:ext cx="6720840" cy="480060"/>
            <a:chOff x="0" y="0"/>
            <a:chExt cx="8961120" cy="640080"/>
          </a:xfrm>
        </p:grpSpPr>
        <p:sp>
          <p:nvSpPr>
            <p:cNvPr name="Freeform 11" id="11"/>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12" id="12"/>
            <p:cNvSpPr txBox="true"/>
            <p:nvPr/>
          </p:nvSpPr>
          <p:spPr>
            <a:xfrm>
              <a:off x="0" y="-9525"/>
              <a:ext cx="8961120" cy="649605"/>
            </a:xfrm>
            <a:prstGeom prst="rect">
              <a:avLst/>
            </a:prstGeom>
          </p:spPr>
          <p:txBody>
            <a:bodyPr anchor="ctr" rtlCol="false" tIns="0" lIns="0" bIns="0" rIns="0"/>
            <a:lstStyle/>
            <a:p>
              <a:pPr algn="l">
                <a:lnSpc>
                  <a:spcPts val="2430"/>
                </a:lnSpc>
              </a:pPr>
              <a:r>
                <a:rPr lang="en-US" sz="2025" b="true">
                  <a:solidFill>
                    <a:srgbClr val="141414"/>
                  </a:solidFill>
                  <a:latin typeface="Arial Bold"/>
                  <a:ea typeface="Arial Bold"/>
                  <a:cs typeface="Arial Bold"/>
                  <a:sym typeface="Arial Bold"/>
                </a:rPr>
                <a:t>CommerceOS Pro</a:t>
              </a:r>
            </a:p>
          </p:txBody>
        </p:sp>
      </p:grpSp>
      <p:sp>
        <p:nvSpPr>
          <p:cNvPr name="TextBox 13" id="13"/>
          <p:cNvSpPr txBox="true"/>
          <p:nvPr/>
        </p:nvSpPr>
        <p:spPr>
          <a:xfrm rot="0">
            <a:off x="1947672" y="2939415"/>
            <a:ext cx="6789420" cy="69532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₹99/month add-on to the Soundbox subscription: Grower, Pulse and the voice brief</a:t>
            </a:r>
          </a:p>
        </p:txBody>
      </p:sp>
      <p:grpSp>
        <p:nvGrpSpPr>
          <p:cNvPr name="Group 14" id="14"/>
          <p:cNvGrpSpPr/>
          <p:nvPr/>
        </p:nvGrpSpPr>
        <p:grpSpPr>
          <a:xfrm rot="0">
            <a:off x="808672" y="3853624"/>
            <a:ext cx="8121015" cy="1400175"/>
            <a:chOff x="0" y="0"/>
            <a:chExt cx="10828020" cy="1866900"/>
          </a:xfrm>
        </p:grpSpPr>
        <p:sp>
          <p:nvSpPr>
            <p:cNvPr name="Freeform 15" id="15"/>
            <p:cNvSpPr/>
            <p:nvPr/>
          </p:nvSpPr>
          <p:spPr>
            <a:xfrm flipH="false" flipV="false" rot="0">
              <a:off x="0" y="0"/>
              <a:ext cx="10828020" cy="1866900"/>
            </a:xfrm>
            <a:custGeom>
              <a:avLst/>
              <a:gdLst/>
              <a:ahLst/>
              <a:cxnLst/>
              <a:rect r="r" b="b" t="t" l="l"/>
              <a:pathLst>
                <a:path h="1866900" w="10828020">
                  <a:moveTo>
                    <a:pt x="0" y="149352"/>
                  </a:moveTo>
                  <a:cubicBezTo>
                    <a:pt x="0" y="66929"/>
                    <a:pt x="66929" y="0"/>
                    <a:pt x="149352" y="0"/>
                  </a:cubicBezTo>
                  <a:lnTo>
                    <a:pt x="10678668" y="0"/>
                  </a:lnTo>
                  <a:cubicBezTo>
                    <a:pt x="10761091" y="0"/>
                    <a:pt x="10828020" y="66929"/>
                    <a:pt x="10828020" y="149352"/>
                  </a:cubicBezTo>
                  <a:lnTo>
                    <a:pt x="10828020" y="1717548"/>
                  </a:lnTo>
                  <a:cubicBezTo>
                    <a:pt x="10828020" y="1799971"/>
                    <a:pt x="10761091" y="1866900"/>
                    <a:pt x="10678668" y="1866900"/>
                  </a:cubicBezTo>
                  <a:lnTo>
                    <a:pt x="149352" y="1866900"/>
                  </a:lnTo>
                  <a:cubicBezTo>
                    <a:pt x="66929" y="1866900"/>
                    <a:pt x="0" y="1799971"/>
                    <a:pt x="0" y="1717548"/>
                  </a:cubicBezTo>
                  <a:close/>
                </a:path>
              </a:pathLst>
            </a:custGeom>
            <a:solidFill>
              <a:srgbClr val="FFF1A8"/>
            </a:solidFill>
            <a:ln w="28575" cap="sq">
              <a:solidFill>
                <a:srgbClr val="141414"/>
              </a:solidFill>
              <a:prstDash val="solid"/>
              <a:miter/>
            </a:ln>
          </p:spPr>
        </p:sp>
      </p:grpSp>
      <p:grpSp>
        <p:nvGrpSpPr>
          <p:cNvPr name="Group 16" id="16"/>
          <p:cNvGrpSpPr/>
          <p:nvPr/>
        </p:nvGrpSpPr>
        <p:grpSpPr>
          <a:xfrm rot="0">
            <a:off x="1124712" y="4279392"/>
            <a:ext cx="548640" cy="548640"/>
            <a:chOff x="0" y="0"/>
            <a:chExt cx="731520" cy="731520"/>
          </a:xfrm>
        </p:grpSpPr>
        <p:sp>
          <p:nvSpPr>
            <p:cNvPr name="Freeform 17" id="17"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5"/>
              <a:stretch>
                <a:fillRect l="0" t="0" r="0" b="0"/>
              </a:stretch>
            </a:blipFill>
          </p:spPr>
        </p:sp>
      </p:grpSp>
      <p:grpSp>
        <p:nvGrpSpPr>
          <p:cNvPr name="Group 18" id="18"/>
          <p:cNvGrpSpPr/>
          <p:nvPr/>
        </p:nvGrpSpPr>
        <p:grpSpPr>
          <a:xfrm rot="0">
            <a:off x="1947672" y="4005072"/>
            <a:ext cx="6720840" cy="480060"/>
            <a:chOff x="0" y="0"/>
            <a:chExt cx="8961120" cy="640080"/>
          </a:xfrm>
        </p:grpSpPr>
        <p:sp>
          <p:nvSpPr>
            <p:cNvPr name="Freeform 19" id="19"/>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20" id="20"/>
            <p:cNvSpPr txBox="true"/>
            <p:nvPr/>
          </p:nvSpPr>
          <p:spPr>
            <a:xfrm>
              <a:off x="0" y="-9525"/>
              <a:ext cx="8961120" cy="649605"/>
            </a:xfrm>
            <a:prstGeom prst="rect">
              <a:avLst/>
            </a:prstGeom>
          </p:spPr>
          <p:txBody>
            <a:bodyPr anchor="ctr" rtlCol="false" tIns="0" lIns="0" bIns="0" rIns="0"/>
            <a:lstStyle/>
            <a:p>
              <a:pPr algn="l">
                <a:lnSpc>
                  <a:spcPts val="2430"/>
                </a:lnSpc>
              </a:pPr>
              <a:r>
                <a:rPr lang="en-US" sz="2025" b="true">
                  <a:solidFill>
                    <a:srgbClr val="141414"/>
                  </a:solidFill>
                  <a:latin typeface="Arial Bold"/>
                  <a:ea typeface="Arial Bold"/>
                  <a:cs typeface="Arial Bold"/>
                  <a:sym typeface="Arial Bold"/>
                </a:rPr>
                <a:t>Credit distribution</a:t>
              </a:r>
            </a:p>
          </p:txBody>
        </p:sp>
      </p:grpSp>
      <p:sp>
        <p:nvSpPr>
          <p:cNvPr name="TextBox 21" id="21"/>
          <p:cNvSpPr txBox="true"/>
          <p:nvPr/>
        </p:nvSpPr>
        <p:spPr>
          <a:xfrm rot="0">
            <a:off x="1947672" y="4475607"/>
            <a:ext cx="6789420" cy="69532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Distribution fee on proactive working-capital loans from lending partners</a:t>
            </a:r>
          </a:p>
        </p:txBody>
      </p:sp>
      <p:grpSp>
        <p:nvGrpSpPr>
          <p:cNvPr name="Group 22" id="22"/>
          <p:cNvGrpSpPr/>
          <p:nvPr/>
        </p:nvGrpSpPr>
        <p:grpSpPr>
          <a:xfrm rot="0">
            <a:off x="808672" y="5389816"/>
            <a:ext cx="8121015" cy="1400175"/>
            <a:chOff x="0" y="0"/>
            <a:chExt cx="10828020" cy="1866900"/>
          </a:xfrm>
        </p:grpSpPr>
        <p:sp>
          <p:nvSpPr>
            <p:cNvPr name="Freeform 23" id="23"/>
            <p:cNvSpPr/>
            <p:nvPr/>
          </p:nvSpPr>
          <p:spPr>
            <a:xfrm flipH="false" flipV="false" rot="0">
              <a:off x="0" y="0"/>
              <a:ext cx="10828020" cy="1866900"/>
            </a:xfrm>
            <a:custGeom>
              <a:avLst/>
              <a:gdLst/>
              <a:ahLst/>
              <a:cxnLst/>
              <a:rect r="r" b="b" t="t" l="l"/>
              <a:pathLst>
                <a:path h="1866900" w="10828020">
                  <a:moveTo>
                    <a:pt x="0" y="149352"/>
                  </a:moveTo>
                  <a:cubicBezTo>
                    <a:pt x="0" y="66929"/>
                    <a:pt x="66929" y="0"/>
                    <a:pt x="149352" y="0"/>
                  </a:cubicBezTo>
                  <a:lnTo>
                    <a:pt x="10678668" y="0"/>
                  </a:lnTo>
                  <a:cubicBezTo>
                    <a:pt x="10761091" y="0"/>
                    <a:pt x="10828020" y="66929"/>
                    <a:pt x="10828020" y="149352"/>
                  </a:cubicBezTo>
                  <a:lnTo>
                    <a:pt x="10828020" y="1717548"/>
                  </a:lnTo>
                  <a:cubicBezTo>
                    <a:pt x="10828020" y="1799971"/>
                    <a:pt x="10761091" y="1866900"/>
                    <a:pt x="10678668" y="1866900"/>
                  </a:cubicBezTo>
                  <a:lnTo>
                    <a:pt x="149352" y="1866900"/>
                  </a:lnTo>
                  <a:cubicBezTo>
                    <a:pt x="66929" y="1866900"/>
                    <a:pt x="0" y="1799971"/>
                    <a:pt x="0" y="1717548"/>
                  </a:cubicBezTo>
                  <a:close/>
                </a:path>
              </a:pathLst>
            </a:custGeom>
            <a:solidFill>
              <a:srgbClr val="BFEBD3"/>
            </a:solidFill>
            <a:ln w="28575" cap="sq">
              <a:solidFill>
                <a:srgbClr val="141414"/>
              </a:solidFill>
              <a:prstDash val="solid"/>
              <a:miter/>
            </a:ln>
          </p:spPr>
        </p:sp>
      </p:grpSp>
      <p:grpSp>
        <p:nvGrpSpPr>
          <p:cNvPr name="Group 24" id="24"/>
          <p:cNvGrpSpPr/>
          <p:nvPr/>
        </p:nvGrpSpPr>
        <p:grpSpPr>
          <a:xfrm rot="0">
            <a:off x="1124712" y="5815584"/>
            <a:ext cx="548640" cy="548640"/>
            <a:chOff x="0" y="0"/>
            <a:chExt cx="731520" cy="731520"/>
          </a:xfrm>
        </p:grpSpPr>
        <p:sp>
          <p:nvSpPr>
            <p:cNvPr name="Freeform 25" id="25"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6"/>
              <a:stretch>
                <a:fillRect l="0" t="0" r="0" b="0"/>
              </a:stretch>
            </a:blipFill>
          </p:spPr>
        </p:sp>
      </p:grpSp>
      <p:grpSp>
        <p:nvGrpSpPr>
          <p:cNvPr name="Group 26" id="26"/>
          <p:cNvGrpSpPr/>
          <p:nvPr/>
        </p:nvGrpSpPr>
        <p:grpSpPr>
          <a:xfrm rot="0">
            <a:off x="1947672" y="5541264"/>
            <a:ext cx="6720840" cy="480060"/>
            <a:chOff x="0" y="0"/>
            <a:chExt cx="8961120" cy="640080"/>
          </a:xfrm>
        </p:grpSpPr>
        <p:sp>
          <p:nvSpPr>
            <p:cNvPr name="Freeform 27" id="27"/>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28" id="28"/>
            <p:cNvSpPr txBox="true"/>
            <p:nvPr/>
          </p:nvSpPr>
          <p:spPr>
            <a:xfrm>
              <a:off x="0" y="-9525"/>
              <a:ext cx="8961120" cy="649605"/>
            </a:xfrm>
            <a:prstGeom prst="rect">
              <a:avLst/>
            </a:prstGeom>
          </p:spPr>
          <p:txBody>
            <a:bodyPr anchor="ctr" rtlCol="false" tIns="0" lIns="0" bIns="0" rIns="0"/>
            <a:lstStyle/>
            <a:p>
              <a:pPr algn="l">
                <a:lnSpc>
                  <a:spcPts val="2430"/>
                </a:lnSpc>
              </a:pPr>
              <a:r>
                <a:rPr lang="en-US" sz="2025" b="true">
                  <a:solidFill>
                    <a:srgbClr val="141414"/>
                  </a:solidFill>
                  <a:latin typeface="Arial Bold"/>
                  <a:ea typeface="Arial Bold"/>
                  <a:cs typeface="Arial Bold"/>
                  <a:sym typeface="Arial Bold"/>
                </a:rPr>
                <a:t>Bazaar commerce</a:t>
              </a:r>
            </a:p>
          </p:txBody>
        </p:sp>
      </p:grpSp>
      <p:sp>
        <p:nvSpPr>
          <p:cNvPr name="TextBox 29" id="29"/>
          <p:cNvSpPr txBox="true"/>
          <p:nvPr/>
        </p:nvSpPr>
        <p:spPr>
          <a:xfrm rot="0">
            <a:off x="1947672" y="6011799"/>
            <a:ext cx="6789420" cy="69532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~1% take on supplier orders placed through Bazaar / ONDC</a:t>
            </a:r>
          </a:p>
        </p:txBody>
      </p:sp>
      <p:grpSp>
        <p:nvGrpSpPr>
          <p:cNvPr name="Group 30" id="30"/>
          <p:cNvGrpSpPr/>
          <p:nvPr/>
        </p:nvGrpSpPr>
        <p:grpSpPr>
          <a:xfrm rot="0">
            <a:off x="808672" y="6926008"/>
            <a:ext cx="8121015" cy="1400175"/>
            <a:chOff x="0" y="0"/>
            <a:chExt cx="10828020" cy="1866900"/>
          </a:xfrm>
        </p:grpSpPr>
        <p:sp>
          <p:nvSpPr>
            <p:cNvPr name="Freeform 31" id="31"/>
            <p:cNvSpPr/>
            <p:nvPr/>
          </p:nvSpPr>
          <p:spPr>
            <a:xfrm flipH="false" flipV="false" rot="0">
              <a:off x="0" y="0"/>
              <a:ext cx="10828020" cy="1866900"/>
            </a:xfrm>
            <a:custGeom>
              <a:avLst/>
              <a:gdLst/>
              <a:ahLst/>
              <a:cxnLst/>
              <a:rect r="r" b="b" t="t" l="l"/>
              <a:pathLst>
                <a:path h="1866900" w="10828020">
                  <a:moveTo>
                    <a:pt x="0" y="149352"/>
                  </a:moveTo>
                  <a:cubicBezTo>
                    <a:pt x="0" y="66929"/>
                    <a:pt x="66929" y="0"/>
                    <a:pt x="149352" y="0"/>
                  </a:cubicBezTo>
                  <a:lnTo>
                    <a:pt x="10678668" y="0"/>
                  </a:lnTo>
                  <a:cubicBezTo>
                    <a:pt x="10761091" y="0"/>
                    <a:pt x="10828020" y="66929"/>
                    <a:pt x="10828020" y="149352"/>
                  </a:cubicBezTo>
                  <a:lnTo>
                    <a:pt x="10828020" y="1717548"/>
                  </a:lnTo>
                  <a:cubicBezTo>
                    <a:pt x="10828020" y="1799971"/>
                    <a:pt x="10761091" y="1866900"/>
                    <a:pt x="10678668" y="1866900"/>
                  </a:cubicBezTo>
                  <a:lnTo>
                    <a:pt x="149352" y="1866900"/>
                  </a:lnTo>
                  <a:cubicBezTo>
                    <a:pt x="66929" y="1866900"/>
                    <a:pt x="0" y="1799971"/>
                    <a:pt x="0" y="1717548"/>
                  </a:cubicBezTo>
                  <a:close/>
                </a:path>
              </a:pathLst>
            </a:custGeom>
            <a:solidFill>
              <a:srgbClr val="F6ADA3"/>
            </a:solidFill>
            <a:ln w="28575" cap="sq">
              <a:solidFill>
                <a:srgbClr val="141414"/>
              </a:solidFill>
              <a:prstDash val="solid"/>
              <a:miter/>
            </a:ln>
          </p:spPr>
        </p:sp>
      </p:grpSp>
      <p:grpSp>
        <p:nvGrpSpPr>
          <p:cNvPr name="Group 32" id="32"/>
          <p:cNvGrpSpPr/>
          <p:nvPr/>
        </p:nvGrpSpPr>
        <p:grpSpPr>
          <a:xfrm rot="0">
            <a:off x="1124712" y="7351776"/>
            <a:ext cx="548640" cy="548640"/>
            <a:chOff x="0" y="0"/>
            <a:chExt cx="731520" cy="731520"/>
          </a:xfrm>
        </p:grpSpPr>
        <p:sp>
          <p:nvSpPr>
            <p:cNvPr name="Freeform 33" id="33" descr="preencoded.png"/>
            <p:cNvSpPr/>
            <p:nvPr/>
          </p:nvSpPr>
          <p:spPr>
            <a:xfrm flipH="false" flipV="false" rot="0">
              <a:off x="0" y="0"/>
              <a:ext cx="731520" cy="731520"/>
            </a:xfrm>
            <a:custGeom>
              <a:avLst/>
              <a:gdLst/>
              <a:ahLst/>
              <a:cxnLst/>
              <a:rect r="r" b="b" t="t" l="l"/>
              <a:pathLst>
                <a:path h="731520" w="731520">
                  <a:moveTo>
                    <a:pt x="0" y="0"/>
                  </a:moveTo>
                  <a:lnTo>
                    <a:pt x="731520" y="0"/>
                  </a:lnTo>
                  <a:lnTo>
                    <a:pt x="731520" y="731520"/>
                  </a:lnTo>
                  <a:lnTo>
                    <a:pt x="0" y="731520"/>
                  </a:lnTo>
                  <a:lnTo>
                    <a:pt x="0" y="0"/>
                  </a:lnTo>
                  <a:close/>
                </a:path>
              </a:pathLst>
            </a:custGeom>
            <a:blipFill>
              <a:blip r:embed="rId7"/>
              <a:stretch>
                <a:fillRect l="0" t="0" r="0" b="0"/>
              </a:stretch>
            </a:blipFill>
          </p:spPr>
        </p:sp>
      </p:grpSp>
      <p:grpSp>
        <p:nvGrpSpPr>
          <p:cNvPr name="Group 34" id="34"/>
          <p:cNvGrpSpPr/>
          <p:nvPr/>
        </p:nvGrpSpPr>
        <p:grpSpPr>
          <a:xfrm rot="0">
            <a:off x="1947672" y="7077456"/>
            <a:ext cx="6720840" cy="480060"/>
            <a:chOff x="0" y="0"/>
            <a:chExt cx="8961120" cy="640080"/>
          </a:xfrm>
        </p:grpSpPr>
        <p:sp>
          <p:nvSpPr>
            <p:cNvPr name="Freeform 35" id="35"/>
            <p:cNvSpPr/>
            <p:nvPr/>
          </p:nvSpPr>
          <p:spPr>
            <a:xfrm flipH="false" flipV="false" rot="0">
              <a:off x="0" y="0"/>
              <a:ext cx="8961120" cy="640080"/>
            </a:xfrm>
            <a:custGeom>
              <a:avLst/>
              <a:gdLst/>
              <a:ahLst/>
              <a:cxnLst/>
              <a:rect r="r" b="b" t="t" l="l"/>
              <a:pathLst>
                <a:path h="640080" w="8961120">
                  <a:moveTo>
                    <a:pt x="0" y="0"/>
                  </a:moveTo>
                  <a:lnTo>
                    <a:pt x="8961120" y="0"/>
                  </a:lnTo>
                  <a:lnTo>
                    <a:pt x="8961120" y="640080"/>
                  </a:lnTo>
                  <a:lnTo>
                    <a:pt x="0" y="640080"/>
                  </a:lnTo>
                  <a:close/>
                </a:path>
              </a:pathLst>
            </a:custGeom>
            <a:blipFill>
              <a:blip r:embed="rId3">
                <a:alphaModFix amt="0"/>
              </a:blip>
              <a:stretch>
                <a:fillRect l="0" t="-222790" r="0" b="-222790"/>
              </a:stretch>
            </a:blipFill>
          </p:spPr>
        </p:sp>
        <p:sp>
          <p:nvSpPr>
            <p:cNvPr name="TextBox 36" id="36"/>
            <p:cNvSpPr txBox="true"/>
            <p:nvPr/>
          </p:nvSpPr>
          <p:spPr>
            <a:xfrm>
              <a:off x="0" y="-9525"/>
              <a:ext cx="8961120" cy="649605"/>
            </a:xfrm>
            <a:prstGeom prst="rect">
              <a:avLst/>
            </a:prstGeom>
          </p:spPr>
          <p:txBody>
            <a:bodyPr anchor="ctr" rtlCol="false" tIns="0" lIns="0" bIns="0" rIns="0"/>
            <a:lstStyle/>
            <a:p>
              <a:pPr algn="l">
                <a:lnSpc>
                  <a:spcPts val="2430"/>
                </a:lnSpc>
              </a:pPr>
              <a:r>
                <a:rPr lang="en-US" sz="2025" b="true">
                  <a:solidFill>
                    <a:srgbClr val="141414"/>
                  </a:solidFill>
                  <a:latin typeface="Arial Bold"/>
                  <a:ea typeface="Arial Bold"/>
                  <a:cs typeface="Arial Bold"/>
                  <a:sym typeface="Arial Bold"/>
                </a:rPr>
                <a:t>Cost savings</a:t>
              </a:r>
            </a:p>
          </p:txBody>
        </p:sp>
      </p:grpSp>
      <p:sp>
        <p:nvSpPr>
          <p:cNvPr name="TextBox 37" id="37"/>
          <p:cNvSpPr txBox="true"/>
          <p:nvPr/>
        </p:nvSpPr>
        <p:spPr>
          <a:xfrm rot="0">
            <a:off x="1947672" y="7547991"/>
            <a:ext cx="6789420" cy="695325"/>
          </a:xfrm>
          <a:prstGeom prst="rect">
            <a:avLst/>
          </a:prstGeom>
        </p:spPr>
        <p:txBody>
          <a:bodyPr anchor="t" rtlCol="false" tIns="0" lIns="0" bIns="0" rIns="0">
            <a:spAutoFit/>
          </a:bodyPr>
          <a:lstStyle/>
          <a:p>
            <a:pPr algn="l">
              <a:lnSpc>
                <a:spcPts val="1889"/>
              </a:lnSpc>
            </a:pPr>
            <a:r>
              <a:rPr lang="en-US" sz="1575">
                <a:solidFill>
                  <a:srgbClr val="141414"/>
                </a:solidFill>
                <a:latin typeface="Arial"/>
                <a:ea typeface="Arial"/>
                <a:cs typeface="Arial"/>
                <a:sym typeface="Arial"/>
              </a:rPr>
              <a:t>Lower CAC and field-ops cost: agents do the busywork, people handle exceptions</a:t>
            </a:r>
          </a:p>
        </p:txBody>
      </p:sp>
      <p:grpSp>
        <p:nvGrpSpPr>
          <p:cNvPr name="Group 38" id="38"/>
          <p:cNvGrpSpPr/>
          <p:nvPr/>
        </p:nvGrpSpPr>
        <p:grpSpPr>
          <a:xfrm rot="0">
            <a:off x="9381172" y="2317433"/>
            <a:ext cx="8093583" cy="5995035"/>
            <a:chOff x="0" y="0"/>
            <a:chExt cx="10791444" cy="7993380"/>
          </a:xfrm>
        </p:grpSpPr>
        <p:sp>
          <p:nvSpPr>
            <p:cNvPr name="Freeform 39" id="39"/>
            <p:cNvSpPr/>
            <p:nvPr/>
          </p:nvSpPr>
          <p:spPr>
            <a:xfrm flipH="false" flipV="false" rot="0">
              <a:off x="0" y="0"/>
              <a:ext cx="10791444" cy="7993380"/>
            </a:xfrm>
            <a:custGeom>
              <a:avLst/>
              <a:gdLst/>
              <a:ahLst/>
              <a:cxnLst/>
              <a:rect r="r" b="b" t="t" l="l"/>
              <a:pathLst>
                <a:path h="7993380" w="10791444">
                  <a:moveTo>
                    <a:pt x="0" y="146939"/>
                  </a:moveTo>
                  <a:cubicBezTo>
                    <a:pt x="0" y="65786"/>
                    <a:pt x="65786" y="0"/>
                    <a:pt x="146939" y="0"/>
                  </a:cubicBezTo>
                  <a:lnTo>
                    <a:pt x="10644505" y="0"/>
                  </a:lnTo>
                  <a:cubicBezTo>
                    <a:pt x="10725658" y="0"/>
                    <a:pt x="10791444" y="65786"/>
                    <a:pt x="10791444" y="146939"/>
                  </a:cubicBezTo>
                  <a:lnTo>
                    <a:pt x="10791444" y="7846441"/>
                  </a:lnTo>
                  <a:cubicBezTo>
                    <a:pt x="10791444" y="7927594"/>
                    <a:pt x="10725658" y="7993380"/>
                    <a:pt x="10644505" y="7993380"/>
                  </a:cubicBezTo>
                  <a:lnTo>
                    <a:pt x="146939" y="7993380"/>
                  </a:lnTo>
                  <a:cubicBezTo>
                    <a:pt x="65786" y="7993380"/>
                    <a:pt x="0" y="7927594"/>
                    <a:pt x="0" y="7846441"/>
                  </a:cubicBezTo>
                  <a:close/>
                </a:path>
              </a:pathLst>
            </a:custGeom>
            <a:solidFill>
              <a:srgbClr val="FFFFFF"/>
            </a:solidFill>
            <a:ln w="28575" cap="sq">
              <a:solidFill>
                <a:srgbClr val="141414"/>
              </a:solidFill>
              <a:prstDash val="solid"/>
              <a:miter/>
            </a:ln>
          </p:spPr>
        </p:sp>
      </p:grpSp>
      <p:pic>
        <p:nvPicPr>
          <p:cNvPr name="Picture 40" id="40"/>
          <p:cNvPicPr>
            <a:picLocks noChangeAspect="true"/>
          </p:cNvPicPr>
          <p:nvPr/>
        </p:nvPicPr>
        <p:blipFill>
          <a:blip r:embed="rId8"/>
          <a:stretch>
            <a:fillRect/>
          </a:stretch>
        </p:blipFill>
        <p:spPr>
          <a:xfrm rot="0">
            <a:off x="8833104" y="1700784"/>
            <a:ext cx="9217152" cy="6199632"/>
          </a:xfrm>
          <a:prstGeom prst="rect">
            <a:avLst/>
          </a:prstGeom>
        </p:spPr>
      </p:pic>
      <p:sp>
        <p:nvSpPr>
          <p:cNvPr name="TextBox 41" id="41"/>
          <p:cNvSpPr txBox="true"/>
          <p:nvPr/>
        </p:nvSpPr>
        <p:spPr>
          <a:xfrm rot="0">
            <a:off x="9669780" y="7113270"/>
            <a:ext cx="7543800" cy="1047750"/>
          </a:xfrm>
          <a:prstGeom prst="rect">
            <a:avLst/>
          </a:prstGeom>
        </p:spPr>
        <p:txBody>
          <a:bodyPr anchor="t" rtlCol="false" tIns="0" lIns="0" bIns="0" rIns="0">
            <a:spAutoFit/>
          </a:bodyPr>
          <a:lstStyle/>
          <a:p>
            <a:pPr algn="l">
              <a:lnSpc>
                <a:spcPts val="1620"/>
              </a:lnSpc>
            </a:pPr>
            <a:r>
              <a:rPr lang="en-US" sz="1350">
                <a:solidFill>
                  <a:srgbClr val="4A4A4A"/>
                </a:solidFill>
                <a:latin typeface="Arial"/>
                <a:ea typeface="Arial"/>
                <a:cs typeface="Arial"/>
                <a:sym typeface="Arial"/>
              </a:rPr>
              <a:t>≈ ₹507 Cr/yr at modest adoption. Assumptions: 10% of 1.57 Cr merchants on Pro at ₹99/mo; 5% take one ₹40k loan/yr at a 3% fee; 3% buy ₹40k/mo via Bazaar at a 1% take.</a:t>
            </a:r>
          </a:p>
        </p:txBody>
      </p:sp>
      <p:grpSp>
        <p:nvGrpSpPr>
          <p:cNvPr name="Group 42" id="42"/>
          <p:cNvGrpSpPr/>
          <p:nvPr/>
        </p:nvGrpSpPr>
        <p:grpSpPr>
          <a:xfrm rot="0">
            <a:off x="811054" y="8492014"/>
            <a:ext cx="2561272" cy="874205"/>
            <a:chOff x="0" y="0"/>
            <a:chExt cx="3415030" cy="1165606"/>
          </a:xfrm>
        </p:grpSpPr>
        <p:sp>
          <p:nvSpPr>
            <p:cNvPr name="Freeform 43" id="43"/>
            <p:cNvSpPr/>
            <p:nvPr/>
          </p:nvSpPr>
          <p:spPr>
            <a:xfrm flipH="false" flipV="false" rot="0">
              <a:off x="0" y="0"/>
              <a:ext cx="3415030" cy="1165606"/>
            </a:xfrm>
            <a:custGeom>
              <a:avLst/>
              <a:gdLst/>
              <a:ahLst/>
              <a:cxnLst/>
              <a:rect r="r" b="b" t="t" l="l"/>
              <a:pathLst>
                <a:path h="1165606" w="3415030">
                  <a:moveTo>
                    <a:pt x="0" y="582803"/>
                  </a:moveTo>
                  <a:cubicBezTo>
                    <a:pt x="0" y="260985"/>
                    <a:pt x="260985" y="0"/>
                    <a:pt x="582803" y="0"/>
                  </a:cubicBezTo>
                  <a:lnTo>
                    <a:pt x="2832227" y="0"/>
                  </a:lnTo>
                  <a:cubicBezTo>
                    <a:pt x="3154045" y="0"/>
                    <a:pt x="3415030" y="260985"/>
                    <a:pt x="3415030" y="582803"/>
                  </a:cubicBezTo>
                  <a:cubicBezTo>
                    <a:pt x="3415030" y="904621"/>
                    <a:pt x="3154045" y="1165606"/>
                    <a:pt x="2832227" y="1165606"/>
                  </a:cubicBezTo>
                  <a:lnTo>
                    <a:pt x="582803" y="1165606"/>
                  </a:lnTo>
                  <a:cubicBezTo>
                    <a:pt x="260985" y="1165606"/>
                    <a:pt x="0" y="904621"/>
                    <a:pt x="0" y="582803"/>
                  </a:cubicBezTo>
                  <a:close/>
                </a:path>
              </a:pathLst>
            </a:custGeom>
            <a:solidFill>
              <a:srgbClr val="FFFFFF"/>
            </a:solidFill>
            <a:ln w="23812" cap="sq">
              <a:solidFill>
                <a:srgbClr val="141414"/>
              </a:solidFill>
              <a:prstDash val="solid"/>
              <a:miter/>
            </a:ln>
          </p:spPr>
        </p:sp>
      </p:grpSp>
      <p:grpSp>
        <p:nvGrpSpPr>
          <p:cNvPr name="Group 44" id="44"/>
          <p:cNvGrpSpPr/>
          <p:nvPr/>
        </p:nvGrpSpPr>
        <p:grpSpPr>
          <a:xfrm rot="0">
            <a:off x="1097280" y="8503920"/>
            <a:ext cx="2263140" cy="850392"/>
            <a:chOff x="0" y="0"/>
            <a:chExt cx="3017520" cy="1133856"/>
          </a:xfrm>
        </p:grpSpPr>
        <p:sp>
          <p:nvSpPr>
            <p:cNvPr name="Freeform 45" id="45"/>
            <p:cNvSpPr/>
            <p:nvPr/>
          </p:nvSpPr>
          <p:spPr>
            <a:xfrm flipH="false" flipV="false" rot="0">
              <a:off x="0" y="0"/>
              <a:ext cx="3017520" cy="1133856"/>
            </a:xfrm>
            <a:custGeom>
              <a:avLst/>
              <a:gdLst/>
              <a:ahLst/>
              <a:cxnLst/>
              <a:rect r="r" b="b" t="t" l="l"/>
              <a:pathLst>
                <a:path h="1133856" w="3017520">
                  <a:moveTo>
                    <a:pt x="0" y="0"/>
                  </a:moveTo>
                  <a:lnTo>
                    <a:pt x="3017520" y="0"/>
                  </a:lnTo>
                  <a:lnTo>
                    <a:pt x="3017520" y="1133856"/>
                  </a:lnTo>
                  <a:lnTo>
                    <a:pt x="0" y="1133856"/>
                  </a:lnTo>
                  <a:close/>
                </a:path>
              </a:pathLst>
            </a:custGeom>
            <a:blipFill>
              <a:blip r:embed="rId3">
                <a:alphaModFix amt="0"/>
              </a:blip>
              <a:stretch>
                <a:fillRect l="0" t="-1855" r="0" b="-1855"/>
              </a:stretch>
            </a:blipFill>
          </p:spPr>
        </p:sp>
        <p:sp>
          <p:nvSpPr>
            <p:cNvPr name="TextBox 46" id="46"/>
            <p:cNvSpPr txBox="true"/>
            <p:nvPr/>
          </p:nvSpPr>
          <p:spPr>
            <a:xfrm>
              <a:off x="0" y="-19050"/>
              <a:ext cx="3017520" cy="1152906"/>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Pilot</a:t>
              </a:r>
            </a:p>
            <a:p>
              <a:pPr algn="l">
                <a:lnSpc>
                  <a:spcPts val="1530"/>
                </a:lnSpc>
              </a:pPr>
              <a:r>
                <a:rPr lang="en-US" sz="1275">
                  <a:solidFill>
                    <a:srgbClr val="141414"/>
                  </a:solidFill>
                  <a:latin typeface="Arial"/>
                  <a:ea typeface="Arial"/>
                  <a:cs typeface="Arial"/>
                  <a:sym typeface="Arial"/>
                </a:rPr>
                <a:t>1,000 kiranas · Mumbai</a:t>
              </a:r>
            </a:p>
          </p:txBody>
        </p:sp>
      </p:grpSp>
      <p:sp>
        <p:nvSpPr>
          <p:cNvPr name="AutoShape 47" id="47"/>
          <p:cNvSpPr/>
          <p:nvPr/>
        </p:nvSpPr>
        <p:spPr>
          <a:xfrm rot="471840">
            <a:off x="3358867" y="8919591"/>
            <a:ext cx="208845" cy="0"/>
          </a:xfrm>
          <a:prstGeom prst="line">
            <a:avLst/>
          </a:prstGeom>
          <a:ln cap="rnd" w="19050">
            <a:solidFill>
              <a:srgbClr val="141414"/>
            </a:solidFill>
            <a:prstDash val="solid"/>
            <a:headEnd type="none" len="sm" w="sm"/>
            <a:tailEnd type="triangle" len="med" w="lg"/>
          </a:ln>
        </p:spPr>
      </p:sp>
      <p:grpSp>
        <p:nvGrpSpPr>
          <p:cNvPr name="Group 48" id="48"/>
          <p:cNvGrpSpPr/>
          <p:nvPr/>
        </p:nvGrpSpPr>
        <p:grpSpPr>
          <a:xfrm rot="0">
            <a:off x="3554254" y="8492014"/>
            <a:ext cx="2561272" cy="874205"/>
            <a:chOff x="0" y="0"/>
            <a:chExt cx="3415030" cy="1165606"/>
          </a:xfrm>
        </p:grpSpPr>
        <p:sp>
          <p:nvSpPr>
            <p:cNvPr name="Freeform 49" id="49"/>
            <p:cNvSpPr/>
            <p:nvPr/>
          </p:nvSpPr>
          <p:spPr>
            <a:xfrm flipH="false" flipV="false" rot="0">
              <a:off x="0" y="0"/>
              <a:ext cx="3415030" cy="1165606"/>
            </a:xfrm>
            <a:custGeom>
              <a:avLst/>
              <a:gdLst/>
              <a:ahLst/>
              <a:cxnLst/>
              <a:rect r="r" b="b" t="t" l="l"/>
              <a:pathLst>
                <a:path h="1165606" w="3415030">
                  <a:moveTo>
                    <a:pt x="0" y="582803"/>
                  </a:moveTo>
                  <a:cubicBezTo>
                    <a:pt x="0" y="260985"/>
                    <a:pt x="260985" y="0"/>
                    <a:pt x="582803" y="0"/>
                  </a:cubicBezTo>
                  <a:lnTo>
                    <a:pt x="2832227" y="0"/>
                  </a:lnTo>
                  <a:cubicBezTo>
                    <a:pt x="3154045" y="0"/>
                    <a:pt x="3415030" y="260985"/>
                    <a:pt x="3415030" y="582803"/>
                  </a:cubicBezTo>
                  <a:cubicBezTo>
                    <a:pt x="3415030" y="904621"/>
                    <a:pt x="3154045" y="1165606"/>
                    <a:pt x="2832227" y="1165606"/>
                  </a:cubicBezTo>
                  <a:lnTo>
                    <a:pt x="582803" y="1165606"/>
                  </a:lnTo>
                  <a:cubicBezTo>
                    <a:pt x="260985" y="1165606"/>
                    <a:pt x="0" y="904621"/>
                    <a:pt x="0" y="582803"/>
                  </a:cubicBezTo>
                  <a:close/>
                </a:path>
              </a:pathLst>
            </a:custGeom>
            <a:solidFill>
              <a:srgbClr val="FFFFFF"/>
            </a:solidFill>
            <a:ln w="23812" cap="sq">
              <a:solidFill>
                <a:srgbClr val="141414"/>
              </a:solidFill>
              <a:prstDash val="solid"/>
              <a:miter/>
            </a:ln>
          </p:spPr>
        </p:sp>
      </p:grpSp>
      <p:grpSp>
        <p:nvGrpSpPr>
          <p:cNvPr name="Group 50" id="50"/>
          <p:cNvGrpSpPr/>
          <p:nvPr/>
        </p:nvGrpSpPr>
        <p:grpSpPr>
          <a:xfrm rot="0">
            <a:off x="3840480" y="8503920"/>
            <a:ext cx="2263140" cy="850392"/>
            <a:chOff x="0" y="0"/>
            <a:chExt cx="3017520" cy="1133856"/>
          </a:xfrm>
        </p:grpSpPr>
        <p:sp>
          <p:nvSpPr>
            <p:cNvPr name="Freeform 51" id="51"/>
            <p:cNvSpPr/>
            <p:nvPr/>
          </p:nvSpPr>
          <p:spPr>
            <a:xfrm flipH="false" flipV="false" rot="0">
              <a:off x="0" y="0"/>
              <a:ext cx="3017520" cy="1133856"/>
            </a:xfrm>
            <a:custGeom>
              <a:avLst/>
              <a:gdLst/>
              <a:ahLst/>
              <a:cxnLst/>
              <a:rect r="r" b="b" t="t" l="l"/>
              <a:pathLst>
                <a:path h="1133856" w="3017520">
                  <a:moveTo>
                    <a:pt x="0" y="0"/>
                  </a:moveTo>
                  <a:lnTo>
                    <a:pt x="3017520" y="0"/>
                  </a:lnTo>
                  <a:lnTo>
                    <a:pt x="3017520" y="1133856"/>
                  </a:lnTo>
                  <a:lnTo>
                    <a:pt x="0" y="1133856"/>
                  </a:lnTo>
                  <a:close/>
                </a:path>
              </a:pathLst>
            </a:custGeom>
            <a:blipFill>
              <a:blip r:embed="rId3">
                <a:alphaModFix amt="0"/>
              </a:blip>
              <a:stretch>
                <a:fillRect l="0" t="-1855" r="0" b="-1855"/>
              </a:stretch>
            </a:blipFill>
          </p:spPr>
        </p:sp>
        <p:sp>
          <p:nvSpPr>
            <p:cNvPr name="TextBox 52" id="52"/>
            <p:cNvSpPr txBox="true"/>
            <p:nvPr/>
          </p:nvSpPr>
          <p:spPr>
            <a:xfrm>
              <a:off x="0" y="-19050"/>
              <a:ext cx="3017520" cy="1152906"/>
            </a:xfrm>
            <a:prstGeom prst="rect">
              <a:avLst/>
            </a:prstGeom>
          </p:spPr>
          <p:txBody>
            <a:bodyPr anchor="ctr" rtlCol="false" tIns="0" lIns="0" bIns="0" rIns="0"/>
            <a:lstStyle/>
            <a:p>
              <a:pPr algn="l">
                <a:lnSpc>
                  <a:spcPts val="1980"/>
                </a:lnSpc>
              </a:pPr>
              <a:r>
                <a:rPr lang="en-US" sz="1650" b="true">
                  <a:solidFill>
                    <a:srgbClr val="141414"/>
                  </a:solidFill>
                  <a:latin typeface="Arial Bold"/>
                  <a:ea typeface="Arial Bold"/>
                  <a:cs typeface="Arial Bold"/>
                  <a:sym typeface="Arial Bold"/>
                </a:rPr>
                <a:t>City</a:t>
              </a:r>
            </a:p>
            <a:p>
              <a:pPr algn="l">
                <a:lnSpc>
                  <a:spcPts val="1530"/>
                </a:lnSpc>
              </a:pPr>
              <a:r>
                <a:rPr lang="en-US" sz="1275">
                  <a:solidFill>
                    <a:srgbClr val="141414"/>
                  </a:solidFill>
                  <a:latin typeface="Arial"/>
                  <a:ea typeface="Arial"/>
                  <a:cs typeface="Arial"/>
                  <a:sym typeface="Arial"/>
                </a:rPr>
                <a:t>Top 10 metros</a:t>
              </a:r>
            </a:p>
          </p:txBody>
        </p:sp>
      </p:grpSp>
      <p:sp>
        <p:nvSpPr>
          <p:cNvPr name="AutoShape 53" id="53"/>
          <p:cNvSpPr/>
          <p:nvPr/>
        </p:nvSpPr>
        <p:spPr>
          <a:xfrm rot="471840">
            <a:off x="6102067" y="8919591"/>
            <a:ext cx="208845" cy="0"/>
          </a:xfrm>
          <a:prstGeom prst="line">
            <a:avLst/>
          </a:prstGeom>
          <a:ln cap="rnd" w="19050">
            <a:solidFill>
              <a:srgbClr val="141414"/>
            </a:solidFill>
            <a:prstDash val="solid"/>
            <a:headEnd type="none" len="sm" w="sm"/>
            <a:tailEnd type="triangle" len="med" w="lg"/>
          </a:ln>
        </p:spPr>
      </p:sp>
      <p:grpSp>
        <p:nvGrpSpPr>
          <p:cNvPr name="Group 54" id="54"/>
          <p:cNvGrpSpPr/>
          <p:nvPr/>
        </p:nvGrpSpPr>
        <p:grpSpPr>
          <a:xfrm rot="0">
            <a:off x="6297454" y="8492014"/>
            <a:ext cx="2561272" cy="874205"/>
            <a:chOff x="0" y="0"/>
            <a:chExt cx="3415030" cy="1165606"/>
          </a:xfrm>
        </p:grpSpPr>
        <p:sp>
          <p:nvSpPr>
            <p:cNvPr name="Freeform 55" id="55"/>
            <p:cNvSpPr/>
            <p:nvPr/>
          </p:nvSpPr>
          <p:spPr>
            <a:xfrm flipH="false" flipV="false" rot="0">
              <a:off x="0" y="0"/>
              <a:ext cx="3415030" cy="1165606"/>
            </a:xfrm>
            <a:custGeom>
              <a:avLst/>
              <a:gdLst/>
              <a:ahLst/>
              <a:cxnLst/>
              <a:rect r="r" b="b" t="t" l="l"/>
              <a:pathLst>
                <a:path h="1165606" w="3415030">
                  <a:moveTo>
                    <a:pt x="0" y="582803"/>
                  </a:moveTo>
                  <a:cubicBezTo>
                    <a:pt x="0" y="260985"/>
                    <a:pt x="260985" y="0"/>
                    <a:pt x="582803" y="0"/>
                  </a:cubicBezTo>
                  <a:lnTo>
                    <a:pt x="2832227" y="0"/>
                  </a:lnTo>
                  <a:cubicBezTo>
                    <a:pt x="3154045" y="0"/>
                    <a:pt x="3415030" y="260985"/>
                    <a:pt x="3415030" y="582803"/>
                  </a:cubicBezTo>
                  <a:cubicBezTo>
                    <a:pt x="3415030" y="904621"/>
                    <a:pt x="3154045" y="1165606"/>
                    <a:pt x="2832227" y="1165606"/>
                  </a:cubicBezTo>
                  <a:lnTo>
                    <a:pt x="582803" y="1165606"/>
                  </a:lnTo>
                  <a:cubicBezTo>
                    <a:pt x="260985" y="1165606"/>
                    <a:pt x="0" y="904621"/>
                    <a:pt x="0" y="582803"/>
                  </a:cubicBezTo>
                  <a:close/>
                </a:path>
              </a:pathLst>
            </a:custGeom>
            <a:solidFill>
              <a:srgbClr val="141414"/>
            </a:solidFill>
            <a:ln w="23812" cap="sq">
              <a:solidFill>
                <a:srgbClr val="141414"/>
              </a:solidFill>
              <a:prstDash val="solid"/>
              <a:miter/>
            </a:ln>
          </p:spPr>
        </p:sp>
      </p:grpSp>
      <p:grpSp>
        <p:nvGrpSpPr>
          <p:cNvPr name="Group 56" id="56"/>
          <p:cNvGrpSpPr/>
          <p:nvPr/>
        </p:nvGrpSpPr>
        <p:grpSpPr>
          <a:xfrm rot="0">
            <a:off x="6583680" y="8503920"/>
            <a:ext cx="2263140" cy="850392"/>
            <a:chOff x="0" y="0"/>
            <a:chExt cx="3017520" cy="1133856"/>
          </a:xfrm>
        </p:grpSpPr>
        <p:sp>
          <p:nvSpPr>
            <p:cNvPr name="Freeform 57" id="57"/>
            <p:cNvSpPr/>
            <p:nvPr/>
          </p:nvSpPr>
          <p:spPr>
            <a:xfrm flipH="false" flipV="false" rot="0">
              <a:off x="0" y="0"/>
              <a:ext cx="3017520" cy="1133856"/>
            </a:xfrm>
            <a:custGeom>
              <a:avLst/>
              <a:gdLst/>
              <a:ahLst/>
              <a:cxnLst/>
              <a:rect r="r" b="b" t="t" l="l"/>
              <a:pathLst>
                <a:path h="1133856" w="3017520">
                  <a:moveTo>
                    <a:pt x="0" y="0"/>
                  </a:moveTo>
                  <a:lnTo>
                    <a:pt x="3017520" y="0"/>
                  </a:lnTo>
                  <a:lnTo>
                    <a:pt x="3017520" y="1133856"/>
                  </a:lnTo>
                  <a:lnTo>
                    <a:pt x="0" y="1133856"/>
                  </a:lnTo>
                  <a:close/>
                </a:path>
              </a:pathLst>
            </a:custGeom>
            <a:blipFill>
              <a:blip r:embed="rId3">
                <a:alphaModFix amt="0"/>
              </a:blip>
              <a:stretch>
                <a:fillRect l="0" t="-1855" r="0" b="-1855"/>
              </a:stretch>
            </a:blipFill>
          </p:spPr>
        </p:sp>
        <p:sp>
          <p:nvSpPr>
            <p:cNvPr name="TextBox 58" id="58"/>
            <p:cNvSpPr txBox="true"/>
            <p:nvPr/>
          </p:nvSpPr>
          <p:spPr>
            <a:xfrm>
              <a:off x="0" y="-19050"/>
              <a:ext cx="3017520" cy="1152906"/>
            </a:xfrm>
            <a:prstGeom prst="rect">
              <a:avLst/>
            </a:prstGeom>
          </p:spPr>
          <p:txBody>
            <a:bodyPr anchor="ctr" rtlCol="false" tIns="0" lIns="0" bIns="0" rIns="0"/>
            <a:lstStyle/>
            <a:p>
              <a:pPr algn="l">
                <a:lnSpc>
                  <a:spcPts val="1980"/>
                </a:lnSpc>
              </a:pPr>
              <a:r>
                <a:rPr lang="en-US" sz="1650" b="true">
                  <a:solidFill>
                    <a:srgbClr val="FFFFFF"/>
                  </a:solidFill>
                  <a:latin typeface="Arial Bold"/>
                  <a:ea typeface="Arial Bold"/>
                  <a:cs typeface="Arial Bold"/>
                  <a:sym typeface="Arial Bold"/>
                </a:rPr>
                <a:t>Bharat</a:t>
              </a:r>
            </a:p>
            <a:p>
              <a:pPr algn="l">
                <a:lnSpc>
                  <a:spcPts val="1530"/>
                </a:lnSpc>
              </a:pPr>
              <a:r>
                <a:rPr lang="en-US" sz="1275">
                  <a:solidFill>
                    <a:srgbClr val="FFFFFF"/>
                  </a:solidFill>
                  <a:latin typeface="Arial"/>
                  <a:ea typeface="Arial"/>
                  <a:cs typeface="Arial"/>
                  <a:sym typeface="Arial"/>
                </a:rPr>
                <a:t>All Soundbox merchants</a:t>
              </a:r>
            </a:p>
          </p:txBody>
        </p:sp>
      </p:grpSp>
      <p:grpSp>
        <p:nvGrpSpPr>
          <p:cNvPr name="Group 59" id="59"/>
          <p:cNvGrpSpPr/>
          <p:nvPr/>
        </p:nvGrpSpPr>
        <p:grpSpPr>
          <a:xfrm rot="0">
            <a:off x="9395460" y="8503920"/>
            <a:ext cx="8092440" cy="822960"/>
            <a:chOff x="0" y="0"/>
            <a:chExt cx="10789920" cy="1097280"/>
          </a:xfrm>
        </p:grpSpPr>
        <p:sp>
          <p:nvSpPr>
            <p:cNvPr name="Freeform 60" id="60"/>
            <p:cNvSpPr/>
            <p:nvPr/>
          </p:nvSpPr>
          <p:spPr>
            <a:xfrm flipH="false" flipV="false" rot="0">
              <a:off x="0" y="0"/>
              <a:ext cx="10789920" cy="1097280"/>
            </a:xfrm>
            <a:custGeom>
              <a:avLst/>
              <a:gdLst/>
              <a:ahLst/>
              <a:cxnLst/>
              <a:rect r="r" b="b" t="t" l="l"/>
              <a:pathLst>
                <a:path h="1097280" w="10789920">
                  <a:moveTo>
                    <a:pt x="0" y="0"/>
                  </a:moveTo>
                  <a:lnTo>
                    <a:pt x="10789920" y="0"/>
                  </a:lnTo>
                  <a:lnTo>
                    <a:pt x="10789920" y="1097280"/>
                  </a:lnTo>
                  <a:lnTo>
                    <a:pt x="0" y="1097280"/>
                  </a:lnTo>
                  <a:close/>
                </a:path>
              </a:pathLst>
            </a:custGeom>
            <a:blipFill>
              <a:blip r:embed="rId3">
                <a:alphaModFix amt="0"/>
              </a:blip>
              <a:stretch>
                <a:fillRect l="0" t="-141602" r="0" b="-141602"/>
              </a:stretch>
            </a:blipFill>
          </p:spPr>
        </p:sp>
        <p:sp>
          <p:nvSpPr>
            <p:cNvPr name="TextBox 61" id="61"/>
            <p:cNvSpPr txBox="true"/>
            <p:nvPr/>
          </p:nvSpPr>
          <p:spPr>
            <a:xfrm>
              <a:off x="0" y="-19050"/>
              <a:ext cx="10789920" cy="1116330"/>
            </a:xfrm>
            <a:prstGeom prst="rect">
              <a:avLst/>
            </a:prstGeom>
          </p:spPr>
          <p:txBody>
            <a:bodyPr anchor="ctr" rtlCol="false" tIns="0" lIns="0" bIns="0" rIns="0"/>
            <a:lstStyle/>
            <a:p>
              <a:pPr algn="l">
                <a:lnSpc>
                  <a:spcPts val="1620"/>
                </a:lnSpc>
              </a:pPr>
              <a:r>
                <a:rPr lang="en-US" sz="1350" i="true">
                  <a:solidFill>
                    <a:srgbClr val="4A4A4A"/>
                  </a:solidFill>
                  <a:latin typeface="Arial Italics"/>
                  <a:ea typeface="Arial Italics"/>
                  <a:cs typeface="Arial Italics"/>
                  <a:sym typeface="Arial Italics"/>
                </a:rPr>
                <a:t>Base: Paytm Q1 FY27 earnings release (1.57 Cr subscription merchants, 5.0 Cr registered).</a:t>
              </a:r>
            </a:p>
          </p:txBody>
        </p:sp>
      </p:grpSp>
      <p:grpSp>
        <p:nvGrpSpPr>
          <p:cNvPr name="Group 62" id="62"/>
          <p:cNvGrpSpPr/>
          <p:nvPr/>
        </p:nvGrpSpPr>
        <p:grpSpPr>
          <a:xfrm rot="0">
            <a:off x="15518292" y="427006"/>
            <a:ext cx="2232517" cy="874205"/>
            <a:chOff x="0" y="0"/>
            <a:chExt cx="2976690" cy="1165606"/>
          </a:xfrm>
        </p:grpSpPr>
        <p:sp>
          <p:nvSpPr>
            <p:cNvPr name="Freeform 63" id="63"/>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64" id="64"/>
          <p:cNvGrpSpPr/>
          <p:nvPr/>
        </p:nvGrpSpPr>
        <p:grpSpPr>
          <a:xfrm rot="0">
            <a:off x="15804518" y="603504"/>
            <a:ext cx="1660065" cy="521208"/>
            <a:chOff x="0" y="0"/>
            <a:chExt cx="2213420" cy="694944"/>
          </a:xfrm>
        </p:grpSpPr>
        <p:sp>
          <p:nvSpPr>
            <p:cNvPr name="Freeform 65" id="65"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9"/>
              <a:stretch>
                <a:fillRect l="0" t="0" r="-2" b="0"/>
              </a:stretch>
            </a:blipFill>
          </p:spPr>
        </p:sp>
      </p:grpSp>
      <p:grpSp>
        <p:nvGrpSpPr>
          <p:cNvPr name="Group 66" id="66"/>
          <p:cNvGrpSpPr/>
          <p:nvPr/>
        </p:nvGrpSpPr>
        <p:grpSpPr>
          <a:xfrm rot="0">
            <a:off x="822960" y="9628632"/>
            <a:ext cx="9601200" cy="384048"/>
            <a:chOff x="0" y="0"/>
            <a:chExt cx="12801600" cy="512064"/>
          </a:xfrm>
        </p:grpSpPr>
        <p:sp>
          <p:nvSpPr>
            <p:cNvPr name="Freeform 67" id="67"/>
            <p:cNvSpPr/>
            <p:nvPr/>
          </p:nvSpPr>
          <p:spPr>
            <a:xfrm flipH="false" flipV="false" rot="0">
              <a:off x="0" y="0"/>
              <a:ext cx="12801600" cy="512064"/>
            </a:xfrm>
            <a:custGeom>
              <a:avLst/>
              <a:gdLst/>
              <a:ahLst/>
              <a:cxnLst/>
              <a:rect r="r" b="b" t="t" l="l"/>
              <a:pathLst>
                <a:path h="512064" w="12801600">
                  <a:moveTo>
                    <a:pt x="0" y="0"/>
                  </a:moveTo>
                  <a:lnTo>
                    <a:pt x="12801600" y="0"/>
                  </a:lnTo>
                  <a:lnTo>
                    <a:pt x="12801600" y="512064"/>
                  </a:lnTo>
                  <a:lnTo>
                    <a:pt x="0" y="512064"/>
                  </a:lnTo>
                  <a:close/>
                </a:path>
              </a:pathLst>
            </a:custGeom>
            <a:blipFill>
              <a:blip r:embed="rId3">
                <a:alphaModFix amt="0"/>
              </a:blip>
              <a:stretch>
                <a:fillRect l="0" t="-437125" r="0" b="-437125"/>
              </a:stretch>
            </a:blipFill>
          </p:spPr>
        </p:sp>
        <p:sp>
          <p:nvSpPr>
            <p:cNvPr name="TextBox 68" id="68"/>
            <p:cNvSpPr txBox="true"/>
            <p:nvPr/>
          </p:nvSpPr>
          <p:spPr>
            <a:xfrm>
              <a:off x="0" y="-19050"/>
              <a:ext cx="12801600" cy="531114"/>
            </a:xfrm>
            <a:prstGeom prst="rect">
              <a:avLst/>
            </a:prstGeom>
          </p:spPr>
          <p:txBody>
            <a:bodyPr anchor="ctr" rtlCol="false" tIns="0" lIns="0" bIns="0" rIns="0"/>
            <a:lstStyle/>
            <a:p>
              <a:pPr algn="l">
                <a:lnSpc>
                  <a:spcPts val="1620"/>
                </a:lnSpc>
              </a:pPr>
              <a:r>
                <a:rPr lang="en-US" sz="1350" b="true">
                  <a:solidFill>
                    <a:srgbClr val="4A4A4A"/>
                  </a:solidFill>
                  <a:latin typeface="Arial Bold"/>
                  <a:ea typeface="Arial Bold"/>
                  <a:cs typeface="Arial Bold"/>
                  <a:sym typeface="Arial Bold"/>
                </a:rPr>
                <a:t>CommerceOS</a:t>
              </a:r>
              <a:r>
                <a:rPr lang="en-US" sz="1350">
                  <a:solidFill>
                    <a:srgbClr val="4A4A4A"/>
                  </a:solidFill>
                  <a:latin typeface="Arial"/>
                  <a:ea typeface="Arial"/>
                  <a:cs typeface="Arial"/>
                  <a:sym typeface="Arial"/>
                </a:rPr>
                <a:t>  ·  Paytm Build for India · Track 3</a:t>
              </a:r>
            </a:p>
          </p:txBody>
        </p:sp>
      </p:grpSp>
      <p:grpSp>
        <p:nvGrpSpPr>
          <p:cNvPr name="Group 69" id="69"/>
          <p:cNvGrpSpPr/>
          <p:nvPr/>
        </p:nvGrpSpPr>
        <p:grpSpPr>
          <a:xfrm rot="0">
            <a:off x="16733520" y="9628632"/>
            <a:ext cx="754380" cy="384048"/>
            <a:chOff x="0" y="0"/>
            <a:chExt cx="1005840" cy="512064"/>
          </a:xfrm>
        </p:grpSpPr>
        <p:sp>
          <p:nvSpPr>
            <p:cNvPr name="Freeform 70" id="70"/>
            <p:cNvSpPr/>
            <p:nvPr/>
          </p:nvSpPr>
          <p:spPr>
            <a:xfrm flipH="false" flipV="false" rot="0">
              <a:off x="0" y="0"/>
              <a:ext cx="1005840" cy="512064"/>
            </a:xfrm>
            <a:custGeom>
              <a:avLst/>
              <a:gdLst/>
              <a:ahLst/>
              <a:cxnLst/>
              <a:rect r="r" b="b" t="t" l="l"/>
              <a:pathLst>
                <a:path h="512064" w="1005840">
                  <a:moveTo>
                    <a:pt x="0" y="0"/>
                  </a:moveTo>
                  <a:lnTo>
                    <a:pt x="1005840" y="0"/>
                  </a:lnTo>
                  <a:lnTo>
                    <a:pt x="1005840" y="512064"/>
                  </a:lnTo>
                  <a:lnTo>
                    <a:pt x="0" y="512064"/>
                  </a:lnTo>
                  <a:close/>
                </a:path>
              </a:pathLst>
            </a:custGeom>
            <a:blipFill>
              <a:blip r:embed="rId3">
                <a:alphaModFix amt="0"/>
              </a:blip>
              <a:stretch>
                <a:fillRect l="-15318" t="0" r="-15318" b="0"/>
              </a:stretch>
            </a:blipFill>
          </p:spPr>
        </p:sp>
        <p:sp>
          <p:nvSpPr>
            <p:cNvPr name="TextBox 71" id="71"/>
            <p:cNvSpPr txBox="true"/>
            <p:nvPr/>
          </p:nvSpPr>
          <p:spPr>
            <a:xfrm>
              <a:off x="0" y="-19050"/>
              <a:ext cx="1005840" cy="531114"/>
            </a:xfrm>
            <a:prstGeom prst="rect">
              <a:avLst/>
            </a:prstGeom>
          </p:spPr>
          <p:txBody>
            <a:bodyPr anchor="ctr" rtlCol="false" tIns="0" lIns="0" bIns="0" rIns="0"/>
            <a:lstStyle/>
            <a:p>
              <a:pPr algn="r">
                <a:lnSpc>
                  <a:spcPts val="1620"/>
                </a:lnSpc>
              </a:pPr>
              <a:r>
                <a:rPr lang="en-US" sz="1350" b="true">
                  <a:solidFill>
                    <a:srgbClr val="4A4A4A"/>
                  </a:solidFill>
                  <a:latin typeface="Arial Bold"/>
                  <a:ea typeface="Arial Bold"/>
                  <a:cs typeface="Arial Bold"/>
                  <a:sym typeface="Arial Bold"/>
                </a:rPr>
                <a:t>08</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004AAD"/>
        </a:solidFill>
      </p:bgPr>
    </p:bg>
    <p:spTree>
      <p:nvGrpSpPr>
        <p:cNvPr id="1" name=""/>
        <p:cNvGrpSpPr/>
        <p:nvPr/>
      </p:nvGrpSpPr>
      <p:grpSpPr>
        <a:xfrm>
          <a:off x="0" y="0"/>
          <a:ext cx="0" cy="0"/>
          <a:chOff x="0" y="0"/>
          <a:chExt cx="0" cy="0"/>
        </a:xfrm>
      </p:grpSpPr>
      <p:grpSp>
        <p:nvGrpSpPr>
          <p:cNvPr name="Group 2" id="2"/>
          <p:cNvGrpSpPr/>
          <p:nvPr/>
        </p:nvGrpSpPr>
        <p:grpSpPr>
          <a:xfrm rot="0">
            <a:off x="15518292" y="427006"/>
            <a:ext cx="2232517" cy="874205"/>
            <a:chOff x="0" y="0"/>
            <a:chExt cx="2976690" cy="1165606"/>
          </a:xfrm>
        </p:grpSpPr>
        <p:sp>
          <p:nvSpPr>
            <p:cNvPr name="Freeform 3" id="3"/>
            <p:cNvSpPr/>
            <p:nvPr/>
          </p:nvSpPr>
          <p:spPr>
            <a:xfrm flipH="false" flipV="false" rot="0">
              <a:off x="0" y="0"/>
              <a:ext cx="2976626" cy="1165606"/>
            </a:xfrm>
            <a:custGeom>
              <a:avLst/>
              <a:gdLst/>
              <a:ahLst/>
              <a:cxnLst/>
              <a:rect r="r" b="b" t="t" l="l"/>
              <a:pathLst>
                <a:path h="1165606" w="2976626">
                  <a:moveTo>
                    <a:pt x="0" y="187960"/>
                  </a:moveTo>
                  <a:cubicBezTo>
                    <a:pt x="0" y="84201"/>
                    <a:pt x="84201" y="0"/>
                    <a:pt x="187960" y="0"/>
                  </a:cubicBezTo>
                  <a:lnTo>
                    <a:pt x="2788666" y="0"/>
                  </a:lnTo>
                  <a:cubicBezTo>
                    <a:pt x="2892552" y="0"/>
                    <a:pt x="2976626" y="84201"/>
                    <a:pt x="2976626" y="187960"/>
                  </a:cubicBezTo>
                  <a:lnTo>
                    <a:pt x="2976626" y="977646"/>
                  </a:lnTo>
                  <a:cubicBezTo>
                    <a:pt x="2976626" y="1081532"/>
                    <a:pt x="2892425" y="1165606"/>
                    <a:pt x="2788666" y="1165606"/>
                  </a:cubicBezTo>
                  <a:lnTo>
                    <a:pt x="187960" y="1165606"/>
                  </a:lnTo>
                  <a:cubicBezTo>
                    <a:pt x="84201" y="1165606"/>
                    <a:pt x="0" y="1081405"/>
                    <a:pt x="0" y="977646"/>
                  </a:cubicBezTo>
                  <a:close/>
                </a:path>
              </a:pathLst>
            </a:custGeom>
            <a:solidFill>
              <a:srgbClr val="FFFFFF"/>
            </a:solidFill>
            <a:ln w="23812" cap="sq">
              <a:solidFill>
                <a:srgbClr val="141414"/>
              </a:solidFill>
              <a:prstDash val="solid"/>
              <a:miter/>
            </a:ln>
          </p:spPr>
        </p:sp>
      </p:grpSp>
      <p:grpSp>
        <p:nvGrpSpPr>
          <p:cNvPr name="Group 4" id="4"/>
          <p:cNvGrpSpPr/>
          <p:nvPr/>
        </p:nvGrpSpPr>
        <p:grpSpPr>
          <a:xfrm rot="0">
            <a:off x="15804518" y="603504"/>
            <a:ext cx="1660065" cy="521208"/>
            <a:chOff x="0" y="0"/>
            <a:chExt cx="2213420" cy="694944"/>
          </a:xfrm>
        </p:grpSpPr>
        <p:sp>
          <p:nvSpPr>
            <p:cNvPr name="Freeform 5" id="5" descr="paytm_logo.png"/>
            <p:cNvSpPr/>
            <p:nvPr/>
          </p:nvSpPr>
          <p:spPr>
            <a:xfrm flipH="false" flipV="false" rot="0">
              <a:off x="0" y="0"/>
              <a:ext cx="2213356" cy="694944"/>
            </a:xfrm>
            <a:custGeom>
              <a:avLst/>
              <a:gdLst/>
              <a:ahLst/>
              <a:cxnLst/>
              <a:rect r="r" b="b" t="t" l="l"/>
              <a:pathLst>
                <a:path h="694944" w="2213356">
                  <a:moveTo>
                    <a:pt x="0" y="0"/>
                  </a:moveTo>
                  <a:lnTo>
                    <a:pt x="2213356" y="0"/>
                  </a:lnTo>
                  <a:lnTo>
                    <a:pt x="2213356" y="694944"/>
                  </a:lnTo>
                  <a:lnTo>
                    <a:pt x="0" y="694944"/>
                  </a:lnTo>
                  <a:lnTo>
                    <a:pt x="0" y="0"/>
                  </a:lnTo>
                  <a:close/>
                </a:path>
              </a:pathLst>
            </a:custGeom>
            <a:blipFill>
              <a:blip r:embed="rId3"/>
              <a:stretch>
                <a:fillRect l="0" t="0" r="-2" b="0"/>
              </a:stretch>
            </a:blipFill>
          </p:spPr>
        </p:sp>
      </p:grpSp>
      <p:sp>
        <p:nvSpPr>
          <p:cNvPr name="TextBox 6" id="6"/>
          <p:cNvSpPr txBox="true"/>
          <p:nvPr/>
        </p:nvSpPr>
        <p:spPr>
          <a:xfrm rot="0">
            <a:off x="960120" y="1135380"/>
            <a:ext cx="10424160" cy="5722620"/>
          </a:xfrm>
          <a:prstGeom prst="rect">
            <a:avLst/>
          </a:prstGeom>
        </p:spPr>
        <p:txBody>
          <a:bodyPr anchor="t" rtlCol="false" tIns="0" lIns="0" bIns="0" rIns="0">
            <a:spAutoFit/>
          </a:bodyPr>
          <a:lstStyle/>
          <a:p>
            <a:pPr algn="l">
              <a:lnSpc>
                <a:spcPts val="8100"/>
              </a:lnSpc>
            </a:pPr>
            <a:r>
              <a:rPr lang="en-US" b="true" sz="7500">
                <a:solidFill>
                  <a:srgbClr val="FFFFFF"/>
                </a:solidFill>
                <a:latin typeface="Arial Bold"/>
                <a:ea typeface="Arial Bold"/>
                <a:cs typeface="Arial Bold"/>
                <a:sym typeface="Arial Bold"/>
              </a:rPr>
              <a:t>EVERY KIRANA,</a:t>
            </a:r>
          </a:p>
          <a:p>
            <a:pPr algn="l">
              <a:lnSpc>
                <a:spcPts val="8100"/>
              </a:lnSpc>
            </a:pPr>
            <a:r>
              <a:rPr lang="en-US" b="true" sz="7500">
                <a:solidFill>
                  <a:srgbClr val="FFFFFF"/>
                </a:solidFill>
                <a:latin typeface="Arial Bold"/>
                <a:ea typeface="Arial Bold"/>
                <a:cs typeface="Arial Bold"/>
                <a:sym typeface="Arial Bold"/>
              </a:rPr>
              <a:t>A GROWING,</a:t>
            </a:r>
          </a:p>
          <a:p>
            <a:pPr algn="l">
              <a:lnSpc>
                <a:spcPts val="8100"/>
              </a:lnSpc>
            </a:pPr>
            <a:r>
              <a:rPr lang="en-US" b="true" sz="7500">
                <a:solidFill>
                  <a:srgbClr val="FFFFFF"/>
                </a:solidFill>
                <a:latin typeface="Arial Bold"/>
                <a:ea typeface="Arial Bold"/>
                <a:cs typeface="Arial Bold"/>
                <a:sym typeface="Arial Bold"/>
              </a:rPr>
              <a:t>CREDIT-BACKED</a:t>
            </a:r>
          </a:p>
          <a:p>
            <a:pPr algn="l">
              <a:lnSpc>
                <a:spcPts val="8100"/>
              </a:lnSpc>
            </a:pPr>
            <a:r>
              <a:rPr lang="en-US" b="true" sz="7500">
                <a:solidFill>
                  <a:srgbClr val="FFFFFF"/>
                </a:solidFill>
                <a:latin typeface="Arial Bold"/>
                <a:ea typeface="Arial Bold"/>
                <a:cs typeface="Arial Bold"/>
                <a:sym typeface="Arial Bold"/>
              </a:rPr>
              <a:t>BUSINESS.</a:t>
            </a:r>
          </a:p>
        </p:txBody>
      </p:sp>
      <p:grpSp>
        <p:nvGrpSpPr>
          <p:cNvPr name="Group 7" id="7"/>
          <p:cNvGrpSpPr/>
          <p:nvPr/>
        </p:nvGrpSpPr>
        <p:grpSpPr>
          <a:xfrm rot="0">
            <a:off x="960120" y="5966460"/>
            <a:ext cx="10149840" cy="685800"/>
            <a:chOff x="0" y="0"/>
            <a:chExt cx="13533120" cy="914400"/>
          </a:xfrm>
        </p:grpSpPr>
        <p:sp>
          <p:nvSpPr>
            <p:cNvPr name="Freeform 8" id="8"/>
            <p:cNvSpPr/>
            <p:nvPr/>
          </p:nvSpPr>
          <p:spPr>
            <a:xfrm flipH="false" flipV="false" rot="0">
              <a:off x="0" y="0"/>
              <a:ext cx="13533120" cy="914400"/>
            </a:xfrm>
            <a:custGeom>
              <a:avLst/>
              <a:gdLst/>
              <a:ahLst/>
              <a:cxnLst/>
              <a:rect r="r" b="b" t="t" l="l"/>
              <a:pathLst>
                <a:path h="914400" w="13533120">
                  <a:moveTo>
                    <a:pt x="0" y="0"/>
                  </a:moveTo>
                  <a:lnTo>
                    <a:pt x="13533120" y="0"/>
                  </a:lnTo>
                  <a:lnTo>
                    <a:pt x="13533120" y="914400"/>
                  </a:lnTo>
                  <a:lnTo>
                    <a:pt x="0" y="914400"/>
                  </a:lnTo>
                  <a:close/>
                </a:path>
              </a:pathLst>
            </a:custGeom>
            <a:blipFill>
              <a:blip r:embed="rId4">
                <a:alphaModFix amt="0"/>
              </a:blip>
              <a:stretch>
                <a:fillRect l="0" t="-238378" r="0" b="-238378"/>
              </a:stretch>
            </a:blipFill>
          </p:spPr>
        </p:sp>
        <p:sp>
          <p:nvSpPr>
            <p:cNvPr name="TextBox 9" id="9"/>
            <p:cNvSpPr txBox="true"/>
            <p:nvPr/>
          </p:nvSpPr>
          <p:spPr>
            <a:xfrm>
              <a:off x="0" y="-19050"/>
              <a:ext cx="13533120" cy="933450"/>
            </a:xfrm>
            <a:prstGeom prst="rect">
              <a:avLst/>
            </a:prstGeom>
          </p:spPr>
          <p:txBody>
            <a:bodyPr anchor="ctr" rtlCol="false" tIns="0" lIns="0" bIns="0" rIns="0"/>
            <a:lstStyle/>
            <a:p>
              <a:pPr algn="l">
                <a:lnSpc>
                  <a:spcPts val="3240"/>
                </a:lnSpc>
              </a:pPr>
              <a:r>
                <a:rPr lang="en-US" sz="2700">
                  <a:solidFill>
                    <a:srgbClr val="FFFFFF"/>
                  </a:solidFill>
                  <a:latin typeface="Arial"/>
                  <a:ea typeface="Arial"/>
                  <a:cs typeface="Arial"/>
                  <a:sym typeface="Arial"/>
                </a:rPr>
                <a:t>Run by AI teammates. On WhatsApp. In their language.</a:t>
              </a:r>
            </a:p>
          </p:txBody>
        </p:sp>
      </p:grpSp>
      <p:grpSp>
        <p:nvGrpSpPr>
          <p:cNvPr name="Group 10" id="10"/>
          <p:cNvGrpSpPr/>
          <p:nvPr/>
        </p:nvGrpSpPr>
        <p:grpSpPr>
          <a:xfrm rot="0">
            <a:off x="945832" y="7118032"/>
            <a:ext cx="8806815" cy="1263015"/>
            <a:chOff x="0" y="0"/>
            <a:chExt cx="11742420" cy="1684020"/>
          </a:xfrm>
        </p:grpSpPr>
        <p:sp>
          <p:nvSpPr>
            <p:cNvPr name="Freeform 11" id="11"/>
            <p:cNvSpPr/>
            <p:nvPr/>
          </p:nvSpPr>
          <p:spPr>
            <a:xfrm flipH="false" flipV="false" rot="0">
              <a:off x="0" y="0"/>
              <a:ext cx="11742420" cy="1684020"/>
            </a:xfrm>
            <a:custGeom>
              <a:avLst/>
              <a:gdLst/>
              <a:ahLst/>
              <a:cxnLst/>
              <a:rect r="r" b="b" t="t" l="l"/>
              <a:pathLst>
                <a:path h="1684020" w="11742420">
                  <a:moveTo>
                    <a:pt x="0" y="187071"/>
                  </a:moveTo>
                  <a:cubicBezTo>
                    <a:pt x="0" y="83820"/>
                    <a:pt x="83820" y="0"/>
                    <a:pt x="187071" y="0"/>
                  </a:cubicBezTo>
                  <a:lnTo>
                    <a:pt x="11555349" y="0"/>
                  </a:lnTo>
                  <a:cubicBezTo>
                    <a:pt x="11658600" y="0"/>
                    <a:pt x="11742420" y="83820"/>
                    <a:pt x="11742420" y="187071"/>
                  </a:cubicBezTo>
                  <a:lnTo>
                    <a:pt x="11742420" y="1496949"/>
                  </a:lnTo>
                  <a:cubicBezTo>
                    <a:pt x="11742420" y="1600327"/>
                    <a:pt x="11658600" y="1684020"/>
                    <a:pt x="11555349" y="1684020"/>
                  </a:cubicBezTo>
                  <a:lnTo>
                    <a:pt x="187071" y="1684020"/>
                  </a:lnTo>
                  <a:cubicBezTo>
                    <a:pt x="83820" y="1684020"/>
                    <a:pt x="0" y="1600200"/>
                    <a:pt x="0" y="1496949"/>
                  </a:cubicBezTo>
                  <a:close/>
                </a:path>
              </a:pathLst>
            </a:custGeom>
            <a:solidFill>
              <a:srgbClr val="FFFFFF"/>
            </a:solidFill>
            <a:ln w="28575" cap="sq">
              <a:solidFill>
                <a:srgbClr val="141414"/>
              </a:solidFill>
              <a:prstDash val="solid"/>
              <a:miter/>
            </a:ln>
          </p:spPr>
        </p:sp>
      </p:grpSp>
      <p:grpSp>
        <p:nvGrpSpPr>
          <p:cNvPr name="Group 12" id="12"/>
          <p:cNvGrpSpPr/>
          <p:nvPr/>
        </p:nvGrpSpPr>
        <p:grpSpPr>
          <a:xfrm rot="0">
            <a:off x="1303020" y="7447788"/>
            <a:ext cx="603504" cy="603504"/>
            <a:chOff x="0" y="0"/>
            <a:chExt cx="804672" cy="804672"/>
          </a:xfrm>
        </p:grpSpPr>
        <p:sp>
          <p:nvSpPr>
            <p:cNvPr name="Freeform 13" id="13" descr="preencoded.png"/>
            <p:cNvSpPr/>
            <p:nvPr/>
          </p:nvSpPr>
          <p:spPr>
            <a:xfrm flipH="false" flipV="false" rot="0">
              <a:off x="0" y="0"/>
              <a:ext cx="804672" cy="804672"/>
            </a:xfrm>
            <a:custGeom>
              <a:avLst/>
              <a:gdLst/>
              <a:ahLst/>
              <a:cxnLst/>
              <a:rect r="r" b="b" t="t" l="l"/>
              <a:pathLst>
                <a:path h="804672" w="804672">
                  <a:moveTo>
                    <a:pt x="0" y="0"/>
                  </a:moveTo>
                  <a:lnTo>
                    <a:pt x="804672" y="0"/>
                  </a:lnTo>
                  <a:lnTo>
                    <a:pt x="804672" y="804672"/>
                  </a:lnTo>
                  <a:lnTo>
                    <a:pt x="0" y="804672"/>
                  </a:lnTo>
                  <a:lnTo>
                    <a:pt x="0" y="0"/>
                  </a:lnTo>
                  <a:close/>
                </a:path>
              </a:pathLst>
            </a:custGeom>
            <a:blipFill>
              <a:blip r:embed="rId5"/>
              <a:stretch>
                <a:fillRect l="0" t="0" r="0" b="0"/>
              </a:stretch>
            </a:blipFill>
          </p:spPr>
        </p:sp>
      </p:grpSp>
      <p:grpSp>
        <p:nvGrpSpPr>
          <p:cNvPr name="Group 14" id="14"/>
          <p:cNvGrpSpPr/>
          <p:nvPr/>
        </p:nvGrpSpPr>
        <p:grpSpPr>
          <a:xfrm rot="0">
            <a:off x="2125980" y="7132320"/>
            <a:ext cx="7406640" cy="1234440"/>
            <a:chOff x="0" y="0"/>
            <a:chExt cx="9875520" cy="1645920"/>
          </a:xfrm>
        </p:grpSpPr>
        <p:sp>
          <p:nvSpPr>
            <p:cNvPr name="Freeform 15" id="15"/>
            <p:cNvSpPr/>
            <p:nvPr/>
          </p:nvSpPr>
          <p:spPr>
            <a:xfrm flipH="false" flipV="false" rot="0">
              <a:off x="0" y="0"/>
              <a:ext cx="9875520" cy="1645920"/>
            </a:xfrm>
            <a:custGeom>
              <a:avLst/>
              <a:gdLst/>
              <a:ahLst/>
              <a:cxnLst/>
              <a:rect r="r" b="b" t="t" l="l"/>
              <a:pathLst>
                <a:path h="1645920" w="9875520">
                  <a:moveTo>
                    <a:pt x="0" y="0"/>
                  </a:moveTo>
                  <a:lnTo>
                    <a:pt x="9875520" y="0"/>
                  </a:lnTo>
                  <a:lnTo>
                    <a:pt x="9875520" y="1645920"/>
                  </a:lnTo>
                  <a:lnTo>
                    <a:pt x="0" y="1645920"/>
                  </a:lnTo>
                  <a:close/>
                </a:path>
              </a:pathLst>
            </a:custGeom>
            <a:blipFill>
              <a:blip r:embed="rId4">
                <a:alphaModFix amt="0"/>
              </a:blip>
              <a:stretch>
                <a:fillRect l="0" t="-66910" r="0" b="-66910"/>
              </a:stretch>
            </a:blipFill>
          </p:spPr>
        </p:sp>
        <p:sp>
          <p:nvSpPr>
            <p:cNvPr name="TextBox 16" id="16"/>
            <p:cNvSpPr txBox="true"/>
            <p:nvPr/>
          </p:nvSpPr>
          <p:spPr>
            <a:xfrm>
              <a:off x="0" y="-9525"/>
              <a:ext cx="9875520" cy="1655445"/>
            </a:xfrm>
            <a:prstGeom prst="rect">
              <a:avLst/>
            </a:prstGeom>
          </p:spPr>
          <p:txBody>
            <a:bodyPr anchor="ctr" rtlCol="false" tIns="0" lIns="0" bIns="0" rIns="0"/>
            <a:lstStyle/>
            <a:p>
              <a:pPr algn="l">
                <a:lnSpc>
                  <a:spcPts val="2520"/>
                </a:lnSpc>
              </a:pPr>
              <a:r>
                <a:rPr lang="en-US" b="true" sz="2100" u="sng">
                  <a:solidFill>
                    <a:srgbClr val="141414"/>
                  </a:solidFill>
                  <a:latin typeface="Arial Bold"/>
                  <a:ea typeface="Arial Bold"/>
                  <a:cs typeface="Arial Bold"/>
                  <a:sym typeface="Arial Bold"/>
                  <a:hlinkClick r:id="rId6" tooltip="https://github.com/AryanPandey17/paytm-ai-hackathon"/>
                </a:rPr>
                <a:t>github.com/AryanPandey17/paytm-ai-hackathon</a:t>
              </a:r>
            </a:p>
          </p:txBody>
        </p:sp>
      </p:grpSp>
      <p:grpSp>
        <p:nvGrpSpPr>
          <p:cNvPr name="Group 17" id="17"/>
          <p:cNvGrpSpPr/>
          <p:nvPr/>
        </p:nvGrpSpPr>
        <p:grpSpPr>
          <a:xfrm rot="0">
            <a:off x="11918632" y="1700212"/>
            <a:ext cx="5446395" cy="4143375"/>
            <a:chOff x="0" y="0"/>
            <a:chExt cx="7261860" cy="5524500"/>
          </a:xfrm>
        </p:grpSpPr>
        <p:sp>
          <p:nvSpPr>
            <p:cNvPr name="Freeform 18" id="18"/>
            <p:cNvSpPr/>
            <p:nvPr/>
          </p:nvSpPr>
          <p:spPr>
            <a:xfrm flipH="false" flipV="false" rot="0">
              <a:off x="0" y="0"/>
              <a:ext cx="7261860" cy="5524500"/>
            </a:xfrm>
            <a:custGeom>
              <a:avLst/>
              <a:gdLst/>
              <a:ahLst/>
              <a:cxnLst/>
              <a:rect r="r" b="b" t="t" l="l"/>
              <a:pathLst>
                <a:path h="5524500" w="7261860">
                  <a:moveTo>
                    <a:pt x="0" y="0"/>
                  </a:moveTo>
                  <a:lnTo>
                    <a:pt x="7261860" y="0"/>
                  </a:lnTo>
                  <a:lnTo>
                    <a:pt x="7261860" y="5524500"/>
                  </a:lnTo>
                  <a:lnTo>
                    <a:pt x="0" y="5524500"/>
                  </a:lnTo>
                  <a:close/>
                </a:path>
              </a:pathLst>
            </a:custGeom>
            <a:solidFill>
              <a:srgbClr val="FFFFFF"/>
            </a:solidFill>
            <a:ln w="28575" cap="sq">
              <a:solidFill>
                <a:srgbClr val="141414"/>
              </a:solidFill>
              <a:prstDash val="solid"/>
              <a:miter/>
            </a:ln>
          </p:spPr>
        </p:sp>
      </p:grpSp>
      <p:grpSp>
        <p:nvGrpSpPr>
          <p:cNvPr name="Group 19" id="19"/>
          <p:cNvGrpSpPr/>
          <p:nvPr/>
        </p:nvGrpSpPr>
        <p:grpSpPr>
          <a:xfrm rot="0">
            <a:off x="12207240" y="1783080"/>
            <a:ext cx="4869180" cy="3977640"/>
            <a:chOff x="0" y="0"/>
            <a:chExt cx="6492240" cy="5303520"/>
          </a:xfrm>
        </p:grpSpPr>
        <p:sp>
          <p:nvSpPr>
            <p:cNvPr name="Freeform 20" id="20"/>
            <p:cNvSpPr/>
            <p:nvPr/>
          </p:nvSpPr>
          <p:spPr>
            <a:xfrm flipH="false" flipV="false" rot="0">
              <a:off x="0" y="0"/>
              <a:ext cx="6492240" cy="5303520"/>
            </a:xfrm>
            <a:custGeom>
              <a:avLst/>
              <a:gdLst/>
              <a:ahLst/>
              <a:cxnLst/>
              <a:rect r="r" b="b" t="t" l="l"/>
              <a:pathLst>
                <a:path h="5303520" w="6492240">
                  <a:moveTo>
                    <a:pt x="0" y="0"/>
                  </a:moveTo>
                  <a:lnTo>
                    <a:pt x="6492240" y="0"/>
                  </a:lnTo>
                  <a:lnTo>
                    <a:pt x="6492240" y="5303520"/>
                  </a:lnTo>
                  <a:lnTo>
                    <a:pt x="0" y="5303520"/>
                  </a:lnTo>
                  <a:close/>
                </a:path>
              </a:pathLst>
            </a:custGeom>
            <a:blipFill>
              <a:blip r:embed="rId4">
                <a:alphaModFix amt="0"/>
              </a:blip>
              <a:stretch>
                <a:fillRect l="-54811" t="0" r="-54811" b="0"/>
              </a:stretch>
            </a:blipFill>
          </p:spPr>
        </p:sp>
        <p:sp>
          <p:nvSpPr>
            <p:cNvPr name="TextBox 21" id="21"/>
            <p:cNvSpPr txBox="true"/>
            <p:nvPr/>
          </p:nvSpPr>
          <p:spPr>
            <a:xfrm>
              <a:off x="0" y="66675"/>
              <a:ext cx="6492240" cy="5236845"/>
            </a:xfrm>
            <a:prstGeom prst="rect">
              <a:avLst/>
            </a:prstGeom>
          </p:spPr>
          <p:txBody>
            <a:bodyPr anchor="ctr" rtlCol="false" tIns="0" lIns="0" bIns="0" rIns="0"/>
            <a:lstStyle/>
            <a:p>
              <a:pPr algn="ctr">
                <a:lnSpc>
                  <a:spcPts val="8748"/>
                </a:lnSpc>
              </a:pPr>
              <a:r>
                <a:rPr lang="en-US" sz="8100" b="true">
                  <a:solidFill>
                    <a:srgbClr val="141414"/>
                  </a:solidFill>
                  <a:latin typeface="Arial Bold"/>
                  <a:ea typeface="Arial Bold"/>
                  <a:cs typeface="Arial Bold"/>
                  <a:sym typeface="Arial Bold"/>
                </a:rPr>
                <a:t>THANK</a:t>
              </a:r>
            </a:p>
            <a:p>
              <a:pPr algn="ctr">
                <a:lnSpc>
                  <a:spcPts val="8748"/>
                </a:lnSpc>
              </a:pPr>
              <a:r>
                <a:rPr lang="en-US" sz="8100" b="true">
                  <a:solidFill>
                    <a:srgbClr val="141414"/>
                  </a:solidFill>
                  <a:latin typeface="Arial Bold"/>
                  <a:ea typeface="Arial Bold"/>
                  <a:cs typeface="Arial Bold"/>
                  <a:sym typeface="Arial Bold"/>
                </a:rPr>
                <a:t>YOU</a:t>
              </a:r>
            </a:p>
          </p:txBody>
        </p:sp>
      </p:grpSp>
      <p:grpSp>
        <p:nvGrpSpPr>
          <p:cNvPr name="Group 22" id="22"/>
          <p:cNvGrpSpPr/>
          <p:nvPr/>
        </p:nvGrpSpPr>
        <p:grpSpPr>
          <a:xfrm rot="0">
            <a:off x="11918632" y="6020753"/>
            <a:ext cx="2634615" cy="2634615"/>
            <a:chOff x="0" y="0"/>
            <a:chExt cx="3512820" cy="3512820"/>
          </a:xfrm>
        </p:grpSpPr>
        <p:sp>
          <p:nvSpPr>
            <p:cNvPr name="Freeform 23" id="23"/>
            <p:cNvSpPr/>
            <p:nvPr/>
          </p:nvSpPr>
          <p:spPr>
            <a:xfrm flipH="false" flipV="false" rot="0">
              <a:off x="0" y="0"/>
              <a:ext cx="3512820" cy="3512820"/>
            </a:xfrm>
            <a:custGeom>
              <a:avLst/>
              <a:gdLst/>
              <a:ahLst/>
              <a:cxnLst/>
              <a:rect r="r" b="b" t="t" l="l"/>
              <a:pathLst>
                <a:path h="3512820" w="3512820">
                  <a:moveTo>
                    <a:pt x="0" y="0"/>
                  </a:moveTo>
                  <a:lnTo>
                    <a:pt x="3512820" y="0"/>
                  </a:lnTo>
                  <a:lnTo>
                    <a:pt x="3512820" y="3512820"/>
                  </a:lnTo>
                  <a:lnTo>
                    <a:pt x="0" y="3512820"/>
                  </a:lnTo>
                  <a:close/>
                </a:path>
              </a:pathLst>
            </a:custGeom>
            <a:solidFill>
              <a:srgbClr val="FFF1A8"/>
            </a:solidFill>
            <a:ln w="28575" cap="sq">
              <a:solidFill>
                <a:srgbClr val="141414"/>
              </a:solidFill>
              <a:prstDash val="solid"/>
              <a:miter/>
            </a:ln>
          </p:spPr>
        </p:sp>
      </p:grpSp>
      <p:grpSp>
        <p:nvGrpSpPr>
          <p:cNvPr name="Group 24" id="24"/>
          <p:cNvGrpSpPr/>
          <p:nvPr/>
        </p:nvGrpSpPr>
        <p:grpSpPr>
          <a:xfrm rot="0">
            <a:off x="11932920" y="6035040"/>
            <a:ext cx="2606040" cy="2606040"/>
            <a:chOff x="0" y="0"/>
            <a:chExt cx="3474720" cy="3474720"/>
          </a:xfrm>
        </p:grpSpPr>
        <p:sp>
          <p:nvSpPr>
            <p:cNvPr name="Freeform 25" id="25"/>
            <p:cNvSpPr/>
            <p:nvPr/>
          </p:nvSpPr>
          <p:spPr>
            <a:xfrm flipH="false" flipV="false" rot="0">
              <a:off x="0" y="0"/>
              <a:ext cx="3474720" cy="3474720"/>
            </a:xfrm>
            <a:custGeom>
              <a:avLst/>
              <a:gdLst/>
              <a:ahLst/>
              <a:cxnLst/>
              <a:rect r="r" b="b" t="t" l="l"/>
              <a:pathLst>
                <a:path h="3474720" w="3474720">
                  <a:moveTo>
                    <a:pt x="0" y="0"/>
                  </a:moveTo>
                  <a:lnTo>
                    <a:pt x="3474720" y="0"/>
                  </a:lnTo>
                  <a:lnTo>
                    <a:pt x="3474720" y="3474720"/>
                  </a:lnTo>
                  <a:lnTo>
                    <a:pt x="0" y="3474720"/>
                  </a:lnTo>
                  <a:close/>
                </a:path>
              </a:pathLst>
            </a:custGeom>
            <a:blipFill>
              <a:blip r:embed="rId4">
                <a:alphaModFix amt="0"/>
              </a:blip>
              <a:stretch>
                <a:fillRect l="-78303" t="0" r="-78303" b="0"/>
              </a:stretch>
            </a:blipFill>
          </p:spPr>
        </p:sp>
        <p:sp>
          <p:nvSpPr>
            <p:cNvPr name="TextBox 26" id="26"/>
            <p:cNvSpPr txBox="true"/>
            <p:nvPr/>
          </p:nvSpPr>
          <p:spPr>
            <a:xfrm>
              <a:off x="0" y="-19050"/>
              <a:ext cx="3474720" cy="3493770"/>
            </a:xfrm>
            <a:prstGeom prst="rect">
              <a:avLst/>
            </a:prstGeom>
          </p:spPr>
          <p:txBody>
            <a:bodyPr anchor="ctr" rtlCol="false" tIns="0" lIns="0" bIns="0" rIns="0"/>
            <a:lstStyle/>
            <a:p>
              <a:pPr algn="ctr">
                <a:lnSpc>
                  <a:spcPts val="3600"/>
                </a:lnSpc>
              </a:pPr>
              <a:r>
                <a:rPr lang="en-US" sz="3000" b="true">
                  <a:solidFill>
                    <a:srgbClr val="141414"/>
                  </a:solidFill>
                  <a:latin typeface="Arial Bold"/>
                  <a:ea typeface="Arial Bold"/>
                  <a:cs typeface="Arial Bold"/>
                  <a:sym typeface="Arial Bold"/>
                </a:rPr>
                <a:t>धन्यवाद</a:t>
              </a:r>
            </a:p>
          </p:txBody>
        </p:sp>
      </p:grpSp>
      <p:grpSp>
        <p:nvGrpSpPr>
          <p:cNvPr name="Group 27" id="27"/>
          <p:cNvGrpSpPr/>
          <p:nvPr/>
        </p:nvGrpSpPr>
        <p:grpSpPr>
          <a:xfrm rot="0">
            <a:off x="14730412" y="6020753"/>
            <a:ext cx="2634615" cy="2634615"/>
            <a:chOff x="0" y="0"/>
            <a:chExt cx="3512820" cy="3512820"/>
          </a:xfrm>
        </p:grpSpPr>
        <p:sp>
          <p:nvSpPr>
            <p:cNvPr name="Freeform 28" id="28"/>
            <p:cNvSpPr/>
            <p:nvPr/>
          </p:nvSpPr>
          <p:spPr>
            <a:xfrm flipH="false" flipV="false" rot="0">
              <a:off x="0" y="0"/>
              <a:ext cx="3512820" cy="3512820"/>
            </a:xfrm>
            <a:custGeom>
              <a:avLst/>
              <a:gdLst/>
              <a:ahLst/>
              <a:cxnLst/>
              <a:rect r="r" b="b" t="t" l="l"/>
              <a:pathLst>
                <a:path h="3512820" w="3512820">
                  <a:moveTo>
                    <a:pt x="0" y="0"/>
                  </a:moveTo>
                  <a:lnTo>
                    <a:pt x="3512820" y="0"/>
                  </a:lnTo>
                  <a:lnTo>
                    <a:pt x="3512820" y="3512820"/>
                  </a:lnTo>
                  <a:lnTo>
                    <a:pt x="0" y="3512820"/>
                  </a:lnTo>
                  <a:close/>
                </a:path>
              </a:pathLst>
            </a:custGeom>
            <a:solidFill>
              <a:srgbClr val="F6ADA3"/>
            </a:solidFill>
            <a:ln w="28575" cap="sq">
              <a:solidFill>
                <a:srgbClr val="141414"/>
              </a:solidFill>
              <a:prstDash val="solid"/>
              <a:miter/>
            </a:ln>
          </p:spPr>
        </p:sp>
      </p:grpSp>
      <p:grpSp>
        <p:nvGrpSpPr>
          <p:cNvPr name="Group 29" id="29"/>
          <p:cNvGrpSpPr/>
          <p:nvPr/>
        </p:nvGrpSpPr>
        <p:grpSpPr>
          <a:xfrm rot="0">
            <a:off x="14744700" y="6035040"/>
            <a:ext cx="2606040" cy="2606040"/>
            <a:chOff x="0" y="0"/>
            <a:chExt cx="3474720" cy="3474720"/>
          </a:xfrm>
        </p:grpSpPr>
        <p:sp>
          <p:nvSpPr>
            <p:cNvPr name="Freeform 30" id="30"/>
            <p:cNvSpPr/>
            <p:nvPr/>
          </p:nvSpPr>
          <p:spPr>
            <a:xfrm flipH="false" flipV="false" rot="0">
              <a:off x="0" y="0"/>
              <a:ext cx="3474720" cy="3474720"/>
            </a:xfrm>
            <a:custGeom>
              <a:avLst/>
              <a:gdLst/>
              <a:ahLst/>
              <a:cxnLst/>
              <a:rect r="r" b="b" t="t" l="l"/>
              <a:pathLst>
                <a:path h="3474720" w="3474720">
                  <a:moveTo>
                    <a:pt x="0" y="0"/>
                  </a:moveTo>
                  <a:lnTo>
                    <a:pt x="3474720" y="0"/>
                  </a:lnTo>
                  <a:lnTo>
                    <a:pt x="3474720" y="3474720"/>
                  </a:lnTo>
                  <a:lnTo>
                    <a:pt x="0" y="3474720"/>
                  </a:lnTo>
                  <a:close/>
                </a:path>
              </a:pathLst>
            </a:custGeom>
            <a:blipFill>
              <a:blip r:embed="rId4">
                <a:alphaModFix amt="0"/>
              </a:blip>
              <a:stretch>
                <a:fillRect l="-78303" t="0" r="-78303" b="0"/>
              </a:stretch>
            </a:blipFill>
          </p:spPr>
        </p:sp>
        <p:sp>
          <p:nvSpPr>
            <p:cNvPr name="TextBox 31" id="31"/>
            <p:cNvSpPr txBox="true"/>
            <p:nvPr/>
          </p:nvSpPr>
          <p:spPr>
            <a:xfrm>
              <a:off x="0" y="-9525"/>
              <a:ext cx="3474720" cy="3484245"/>
            </a:xfrm>
            <a:prstGeom prst="rect">
              <a:avLst/>
            </a:prstGeom>
          </p:spPr>
          <p:txBody>
            <a:bodyPr anchor="ctr" rtlCol="false" tIns="0" lIns="0" bIns="0" rIns="0"/>
            <a:lstStyle/>
            <a:p>
              <a:pPr algn="ctr">
                <a:lnSpc>
                  <a:spcPts val="2520"/>
                </a:lnSpc>
              </a:pPr>
              <a:r>
                <a:rPr lang="en-US" sz="2100" b="true">
                  <a:solidFill>
                    <a:srgbClr val="141414"/>
                  </a:solidFill>
                  <a:latin typeface="Arial Bold"/>
                  <a:ea typeface="Arial Bold"/>
                  <a:cs typeface="Arial Bold"/>
                  <a:sym typeface="Arial Bold"/>
                </a:rPr>
                <a:t>Ask us for</a:t>
              </a:r>
            </a:p>
            <a:p>
              <a:pPr algn="ctr">
                <a:lnSpc>
                  <a:spcPts val="2520"/>
                </a:lnSpc>
              </a:pPr>
              <a:r>
                <a:rPr lang="en-US" sz="2100" b="true">
                  <a:solidFill>
                    <a:srgbClr val="141414"/>
                  </a:solidFill>
                  <a:latin typeface="Arial Bold"/>
                  <a:ea typeface="Arial Bold"/>
                  <a:cs typeface="Arial Bold"/>
                  <a:sym typeface="Arial Bold"/>
                </a:rPr>
                <a:t>the live</a:t>
              </a:r>
            </a:p>
            <a:p>
              <a:pPr algn="ctr">
                <a:lnSpc>
                  <a:spcPts val="2520"/>
                </a:lnSpc>
              </a:pPr>
              <a:r>
                <a:rPr lang="en-US" sz="2100" b="true">
                  <a:solidFill>
                    <a:srgbClr val="141414"/>
                  </a:solidFill>
                  <a:latin typeface="Arial Bold"/>
                  <a:ea typeface="Arial Bold"/>
                  <a:cs typeface="Arial Bold"/>
                  <a:sym typeface="Arial Bold"/>
                </a:rPr>
                <a:t>demo →</a:t>
              </a:r>
            </a:p>
          </p:txBody>
        </p:sp>
      </p:grpSp>
      <p:grpSp>
        <p:nvGrpSpPr>
          <p:cNvPr name="Group 32" id="32"/>
          <p:cNvGrpSpPr/>
          <p:nvPr/>
        </p:nvGrpSpPr>
        <p:grpSpPr>
          <a:xfrm rot="0">
            <a:off x="960120" y="8846820"/>
            <a:ext cx="9601200" cy="411480"/>
            <a:chOff x="0" y="0"/>
            <a:chExt cx="12801600" cy="548640"/>
          </a:xfrm>
        </p:grpSpPr>
        <p:sp>
          <p:nvSpPr>
            <p:cNvPr name="Freeform 33" id="33"/>
            <p:cNvSpPr/>
            <p:nvPr/>
          </p:nvSpPr>
          <p:spPr>
            <a:xfrm flipH="false" flipV="false" rot="0">
              <a:off x="0" y="0"/>
              <a:ext cx="12801600" cy="548640"/>
            </a:xfrm>
            <a:custGeom>
              <a:avLst/>
              <a:gdLst/>
              <a:ahLst/>
              <a:cxnLst/>
              <a:rect r="r" b="b" t="t" l="l"/>
              <a:pathLst>
                <a:path h="548640" w="12801600">
                  <a:moveTo>
                    <a:pt x="0" y="0"/>
                  </a:moveTo>
                  <a:lnTo>
                    <a:pt x="12801600" y="0"/>
                  </a:lnTo>
                  <a:lnTo>
                    <a:pt x="12801600" y="548640"/>
                  </a:lnTo>
                  <a:lnTo>
                    <a:pt x="0" y="548640"/>
                  </a:lnTo>
                  <a:close/>
                </a:path>
              </a:pathLst>
            </a:custGeom>
            <a:blipFill>
              <a:blip r:embed="rId4">
                <a:alphaModFix amt="0"/>
              </a:blip>
              <a:stretch>
                <a:fillRect l="0" t="-404650" r="0" b="-404650"/>
              </a:stretch>
            </a:blipFill>
          </p:spPr>
        </p:sp>
        <p:sp>
          <p:nvSpPr>
            <p:cNvPr name="TextBox 34" id="34"/>
            <p:cNvSpPr txBox="true"/>
            <p:nvPr/>
          </p:nvSpPr>
          <p:spPr>
            <a:xfrm>
              <a:off x="0" y="-19050"/>
              <a:ext cx="12801600" cy="567690"/>
            </a:xfrm>
            <a:prstGeom prst="rect">
              <a:avLst/>
            </a:prstGeom>
          </p:spPr>
          <p:txBody>
            <a:bodyPr anchor="ctr" rtlCol="false" tIns="0" lIns="0" bIns="0" rIns="0"/>
            <a:lstStyle/>
            <a:p>
              <a:pPr algn="l">
                <a:lnSpc>
                  <a:spcPts val="2160"/>
                </a:lnSpc>
              </a:pPr>
              <a:r>
                <a:rPr lang="en-US" b="true" sz="1800">
                  <a:solidFill>
                    <a:srgbClr val="FFFFFF"/>
                  </a:solidFill>
                  <a:latin typeface="Arial Bold"/>
                  <a:ea typeface="Arial Bold"/>
                  <a:cs typeface="Arial Bold"/>
                  <a:sym typeface="Arial Bold"/>
                </a:rPr>
                <a:t>Team Paytm Premi · Aryan Pandey · Shiwansh Singh</a:t>
              </a: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DAHWMAmZUaA</dc:identifier>
  <dcterms:modified xsi:type="dcterms:W3CDTF">2011-08-01T06:04:30Z</dcterms:modified>
  <cp:revision>1</cp:revision>
  <dc:title>CommerceOS</dc:title>
</cp:coreProperties>
</file>